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doc" ContentType="application/msword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16"/>
  </p:notesMasterIdLst>
  <p:sldIdLst>
    <p:sldId id="274" r:id="rId2"/>
    <p:sldId id="288" r:id="rId3"/>
    <p:sldId id="275" r:id="rId4"/>
    <p:sldId id="290" r:id="rId5"/>
    <p:sldId id="289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6" r:id="rId1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  <a:srgbClr val="C0C0C0"/>
    <a:srgbClr val="EAEAEA"/>
    <a:srgbClr val="5F5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 horzBarState="maximized">
    <p:restoredLeft sz="32787"/>
    <p:restoredTop sz="90929"/>
  </p:normalViewPr>
  <p:slideViewPr>
    <p:cSldViewPr snapToGrid="0">
      <p:cViewPr varScale="1">
        <p:scale>
          <a:sx n="116" d="100"/>
          <a:sy n="116" d="100"/>
        </p:scale>
        <p:origin x="2178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smtClean="0"/>
            </a:lvl1pPr>
          </a:lstStyle>
          <a:p>
            <a:pPr>
              <a:defRPr/>
            </a:pPr>
            <a:fld id="{12AFA345-B462-4153-97E5-94FE0E266A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42695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3"/>
          <p:cNvSpPr>
            <a:spLocks noChangeArrowheads="1"/>
          </p:cNvSpPr>
          <p:nvPr/>
        </p:nvSpPr>
        <p:spPr bwMode="auto">
          <a:xfrm>
            <a:off x="685800" y="1524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 anchor="ctr"/>
          <a:lstStyle/>
          <a:p>
            <a:pPr algn="ctr">
              <a:spcBef>
                <a:spcPct val="0"/>
              </a:spcBef>
              <a:defRPr/>
            </a:pPr>
            <a:r>
              <a:rPr kumimoji="1" lang="en-US" sz="3600">
                <a:solidFill>
                  <a:schemeClr val="tx2"/>
                </a:solidFill>
              </a:rPr>
              <a:t>Embedded Systems Design: A Unified Hardware/Software Introduction</a:t>
            </a:r>
          </a:p>
        </p:txBody>
      </p:sp>
      <p:sp>
        <p:nvSpPr>
          <p:cNvPr id="3" name="Rectangle 34"/>
          <p:cNvSpPr>
            <a:spLocks noChangeArrowheads="1"/>
          </p:cNvSpPr>
          <p:nvPr/>
        </p:nvSpPr>
        <p:spPr bwMode="auto">
          <a:xfrm>
            <a:off x="228600" y="1295400"/>
            <a:ext cx="8686800" cy="152400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4" name="Rectangle 35"/>
          <p:cNvSpPr>
            <a:spLocks noChangeArrowheads="1"/>
          </p:cNvSpPr>
          <p:nvPr/>
        </p:nvSpPr>
        <p:spPr bwMode="auto">
          <a:xfrm>
            <a:off x="228600" y="6096000"/>
            <a:ext cx="8686800" cy="76200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" name="Rectangle 30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 w="12700" cap="sq">
            <a:miter lim="800000"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1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 w="12700" cap="sq">
            <a:miter lim="800000"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32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22B68C25-DE53-4FE3-8EAE-F71E8A8902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41DFB3-4A6B-428B-B379-1BE418F53E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2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1FC17E-8A83-4B53-B079-4E22325253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524000"/>
            <a:ext cx="41148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1148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2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8F0B5A-B32F-481F-874B-B016EDD1D9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2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3855A7-350A-4925-8480-C9FFC5510B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2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3E9676-D477-46A9-96A7-CFC2E99A9C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AD134A-F689-416D-9874-742859E2E7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2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1AD2E0-20F6-49D3-A85E-139FFCCDAB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2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5DA219-E25E-451E-A23B-201DA5959B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79BB80-CA1C-4FA5-BA24-2388E61BFB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152400"/>
            <a:ext cx="2095500" cy="5867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1341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FF548A-ED84-4B01-B493-4108AD92A5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8382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6038" rIns="0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7171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524000"/>
            <a:ext cx="83820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69" name="Rectangle 2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01000" y="6248400"/>
            <a:ext cx="9144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52304D55-5F42-46BE-B959-3D1C674A51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070" name="Rectangle 22"/>
          <p:cNvSpPr>
            <a:spLocks noChangeArrowheads="1"/>
          </p:cNvSpPr>
          <p:nvPr/>
        </p:nvSpPr>
        <p:spPr bwMode="auto">
          <a:xfrm>
            <a:off x="228600" y="1295400"/>
            <a:ext cx="8686800" cy="152400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071" name="Text Box 23"/>
          <p:cNvSpPr txBox="1">
            <a:spLocks noChangeArrowheads="1"/>
          </p:cNvSpPr>
          <p:nvPr/>
        </p:nvSpPr>
        <p:spPr bwMode="auto">
          <a:xfrm>
            <a:off x="381000" y="6172200"/>
            <a:ext cx="2590800" cy="3048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defRPr/>
            </a:pPr>
            <a:endParaRPr lang="en-US" sz="1400"/>
          </a:p>
        </p:txBody>
      </p:sp>
      <p:sp>
        <p:nvSpPr>
          <p:cNvPr id="2073" name="Text Box 25"/>
          <p:cNvSpPr txBox="1">
            <a:spLocks noChangeArrowheads="1"/>
          </p:cNvSpPr>
          <p:nvPr/>
        </p:nvSpPr>
        <p:spPr bwMode="auto">
          <a:xfrm>
            <a:off x="228600" y="6248400"/>
            <a:ext cx="35052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lIns="0" tIns="0" rIns="0" bIns="0"/>
          <a:lstStyle/>
          <a:p>
            <a:pPr algn="ctr">
              <a:spcBef>
                <a:spcPct val="0"/>
              </a:spcBef>
              <a:defRPr/>
            </a:pPr>
            <a:r>
              <a:rPr lang="en-US" sz="1200" i="1"/>
              <a:t>Embedded Systems Design: A Unified Hardware/Software Introduction,</a:t>
            </a:r>
            <a:r>
              <a:rPr lang="en-US" sz="1200"/>
              <a:t> </a:t>
            </a:r>
            <a:r>
              <a:rPr lang="en-US" sz="1000"/>
              <a:t>(c) 2000 Vahid/Givargis</a:t>
            </a:r>
            <a:r>
              <a:rPr lang="en-US" sz="1200"/>
              <a:t> </a:t>
            </a:r>
          </a:p>
        </p:txBody>
      </p:sp>
      <p:sp>
        <p:nvSpPr>
          <p:cNvPr id="2079" name="Rectangle 31"/>
          <p:cNvSpPr>
            <a:spLocks noChangeArrowheads="1"/>
          </p:cNvSpPr>
          <p:nvPr/>
        </p:nvSpPr>
        <p:spPr bwMode="auto">
          <a:xfrm>
            <a:off x="228600" y="6096000"/>
            <a:ext cx="8686800" cy="76200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Microsoft_Word_97_-_2003_Document1.doc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Microsoft_Word_97_-_2003_Document3.doc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5.wmf"/><Relationship Id="rId5" Type="http://schemas.openxmlformats.org/officeDocument/2006/relationships/image" Target="../media/image3.wmf"/><Relationship Id="rId10" Type="http://schemas.openxmlformats.org/officeDocument/2006/relationships/oleObject" Target="../embeddings/Microsoft_Word_97_-_2003_Document4.doc"/><Relationship Id="rId4" Type="http://schemas.openxmlformats.org/officeDocument/2006/relationships/oleObject" Target="../embeddings/Microsoft_Word_97_-_2003_Document2.doc"/><Relationship Id="rId9" Type="http://schemas.openxmlformats.org/officeDocument/2006/relationships/oleObject" Target="../embeddings/oleObject5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Microsoft_Word_97_-_2003_Document6.doc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6.wmf"/><Relationship Id="rId4" Type="http://schemas.openxmlformats.org/officeDocument/2006/relationships/oleObject" Target="../embeddings/Microsoft_Word_97_-_2003_Document5.doc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Microsoft_Word_97_-_2003_Document8.doc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10.wmf"/><Relationship Id="rId5" Type="http://schemas.openxmlformats.org/officeDocument/2006/relationships/image" Target="../media/image8.wmf"/><Relationship Id="rId10" Type="http://schemas.openxmlformats.org/officeDocument/2006/relationships/oleObject" Target="../embeddings/Microsoft_Word_97_-_2003_Document9.doc"/><Relationship Id="rId4" Type="http://schemas.openxmlformats.org/officeDocument/2006/relationships/oleObject" Target="../embeddings/Microsoft_Word_97_-_2003_Document7.doc"/><Relationship Id="rId9" Type="http://schemas.openxmlformats.org/officeDocument/2006/relationships/oleObject" Target="../embeddings/oleObject10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1.wmf"/><Relationship Id="rId4" Type="http://schemas.openxmlformats.org/officeDocument/2006/relationships/oleObject" Target="../embeddings/Microsoft_Word_97_-_2003_Document10.doc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2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5A1A0AC-FE17-4F8B-AE2B-81BFEB2E791B}" type="slidenum">
              <a:rPr lang="en-US"/>
              <a:pPr/>
              <a:t>1</a:t>
            </a:fld>
            <a:endParaRPr lang="en-US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685800" y="2286000"/>
            <a:ext cx="7772400" cy="1098550"/>
          </a:xfrm>
          <a:noFill/>
        </p:spPr>
        <p:txBody>
          <a:bodyPr tIns="0" bIns="0">
            <a:spAutoFit/>
          </a:bodyPr>
          <a:lstStyle/>
          <a:p>
            <a:r>
              <a:rPr lang="en-US" smtClean="0"/>
              <a:t>Chapter 4 Standard Single Purpose Processors: Peripherals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63718BF-5474-4CB6-BFFE-F4E454C9C2BD}" type="slidenum">
              <a:rPr lang="en-US"/>
              <a:pPr/>
              <a:t>2</a:t>
            </a:fld>
            <a:endParaRPr lang="en-US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Introduction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Single-purpose processors</a:t>
            </a:r>
          </a:p>
          <a:p>
            <a:pPr lvl="1"/>
            <a:r>
              <a:rPr lang="en-US" smtClean="0"/>
              <a:t>Performs specific computation task</a:t>
            </a:r>
          </a:p>
          <a:p>
            <a:pPr lvl="1"/>
            <a:r>
              <a:rPr lang="en-US" smtClean="0"/>
              <a:t>Custom single-purpose processors</a:t>
            </a:r>
          </a:p>
          <a:p>
            <a:pPr lvl="2"/>
            <a:r>
              <a:rPr lang="en-US" smtClean="0"/>
              <a:t>Designed by us for a unique task</a:t>
            </a:r>
          </a:p>
          <a:p>
            <a:pPr lvl="1"/>
            <a:r>
              <a:rPr lang="en-US" i="1" smtClean="0"/>
              <a:t>Standard</a:t>
            </a:r>
            <a:r>
              <a:rPr lang="en-US" smtClean="0"/>
              <a:t> single-purpose processors</a:t>
            </a:r>
          </a:p>
          <a:p>
            <a:pPr lvl="2"/>
            <a:r>
              <a:rPr lang="en-US" smtClean="0"/>
              <a:t>“Off-the-shelf” --  pre-designed for a common task</a:t>
            </a:r>
          </a:p>
          <a:p>
            <a:pPr lvl="2"/>
            <a:r>
              <a:rPr lang="en-US" smtClean="0"/>
              <a:t>a.k.a., peripherals</a:t>
            </a:r>
          </a:p>
          <a:p>
            <a:pPr lvl="2"/>
            <a:r>
              <a:rPr lang="en-US" smtClean="0"/>
              <a:t>serial transmission</a:t>
            </a:r>
          </a:p>
          <a:p>
            <a:pPr lvl="2"/>
            <a:r>
              <a:rPr lang="en-US" smtClean="0"/>
              <a:t>analog/digital conversions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AD1304A2-8C0F-447C-84B8-AF3CF1711318}" type="slidenum">
              <a:rPr lang="en-US"/>
              <a:pPr/>
              <a:t>3</a:t>
            </a:fld>
            <a:endParaRPr lang="en-US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Timers, counters, watchdog timers</a:t>
            </a:r>
          </a:p>
        </p:txBody>
      </p:sp>
      <p:sp>
        <p:nvSpPr>
          <p:cNvPr id="11268" name="Rectangle 95"/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6056313" cy="4229100"/>
          </a:xfrm>
          <a:noFill/>
        </p:spPr>
        <p:txBody>
          <a:bodyPr/>
          <a:lstStyle/>
          <a:p>
            <a:r>
              <a:rPr lang="en-US" sz="2400" smtClean="0"/>
              <a:t>Timer: measures time intervals</a:t>
            </a:r>
          </a:p>
          <a:p>
            <a:pPr lvl="1"/>
            <a:r>
              <a:rPr lang="en-US" sz="2000" smtClean="0"/>
              <a:t>To generate timed output events</a:t>
            </a:r>
          </a:p>
          <a:p>
            <a:pPr lvl="2"/>
            <a:r>
              <a:rPr lang="en-US" sz="1800" smtClean="0"/>
              <a:t>e.g., hold traffic light green for 10 s</a:t>
            </a:r>
          </a:p>
          <a:p>
            <a:pPr lvl="1"/>
            <a:r>
              <a:rPr lang="en-US" sz="2000" smtClean="0"/>
              <a:t>To measure input events</a:t>
            </a:r>
          </a:p>
          <a:p>
            <a:pPr lvl="2"/>
            <a:r>
              <a:rPr lang="en-US" sz="1800" smtClean="0"/>
              <a:t>e.g., measure a car’s speed</a:t>
            </a:r>
          </a:p>
          <a:p>
            <a:r>
              <a:rPr lang="en-US" sz="2400" smtClean="0"/>
              <a:t>Based on counting clock pulses</a:t>
            </a:r>
          </a:p>
          <a:p>
            <a:pPr lvl="2"/>
            <a:r>
              <a:rPr lang="en-US" sz="1800" smtClean="0"/>
              <a:t>E.g., let Clk period be 10 ns  </a:t>
            </a:r>
          </a:p>
          <a:p>
            <a:pPr lvl="2"/>
            <a:r>
              <a:rPr lang="en-US" sz="1800" smtClean="0"/>
              <a:t>And we count 20,000 Clk pulses</a:t>
            </a:r>
          </a:p>
          <a:p>
            <a:pPr lvl="2"/>
            <a:r>
              <a:rPr lang="en-US" sz="1800" smtClean="0"/>
              <a:t>Then 200 microseconds have passed</a:t>
            </a:r>
          </a:p>
          <a:p>
            <a:pPr lvl="2"/>
            <a:r>
              <a:rPr lang="en-US" sz="1800" smtClean="0"/>
              <a:t>16-bit counter would count up to </a:t>
            </a:r>
            <a:r>
              <a:rPr kumimoji="0" lang="en-US" sz="1800" smtClean="0"/>
              <a:t>65,535*10 ns = 655.35 microsec., resolution = 10 ns</a:t>
            </a:r>
          </a:p>
          <a:p>
            <a:pPr lvl="2"/>
            <a:r>
              <a:rPr kumimoji="0" lang="en-US" sz="1800" smtClean="0"/>
              <a:t>Top: indicates top count reached, wrap-around</a:t>
            </a:r>
          </a:p>
        </p:txBody>
      </p:sp>
      <p:grpSp>
        <p:nvGrpSpPr>
          <p:cNvPr id="11269" name="Group 98"/>
          <p:cNvGrpSpPr>
            <a:grpSpLocks/>
          </p:cNvGrpSpPr>
          <p:nvPr/>
        </p:nvGrpSpPr>
        <p:grpSpPr bwMode="auto">
          <a:xfrm>
            <a:off x="6450013" y="2768600"/>
            <a:ext cx="2366962" cy="1477963"/>
            <a:chOff x="4063" y="1744"/>
            <a:chExt cx="1491" cy="931"/>
          </a:xfrm>
        </p:grpSpPr>
        <p:sp>
          <p:nvSpPr>
            <p:cNvPr id="11270" name="Text Box 6"/>
            <p:cNvSpPr txBox="1">
              <a:spLocks noChangeArrowheads="1"/>
            </p:cNvSpPr>
            <p:nvPr/>
          </p:nvSpPr>
          <p:spPr bwMode="auto">
            <a:xfrm>
              <a:off x="4421" y="1947"/>
              <a:ext cx="657" cy="47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45720" bIns="0"/>
            <a:lstStyle/>
            <a:p>
              <a:pPr algn="ctr">
                <a:spcBef>
                  <a:spcPct val="0"/>
                </a:spcBef>
              </a:pPr>
              <a:r>
                <a:rPr lang="en-US" sz="1200"/>
                <a:t>16-bit up counter</a:t>
              </a:r>
            </a:p>
          </p:txBody>
        </p:sp>
        <p:sp>
          <p:nvSpPr>
            <p:cNvPr id="11271" name="Freeform 9"/>
            <p:cNvSpPr>
              <a:spLocks/>
            </p:cNvSpPr>
            <p:nvPr/>
          </p:nvSpPr>
          <p:spPr bwMode="auto">
            <a:xfrm>
              <a:off x="4129" y="2183"/>
              <a:ext cx="292" cy="3"/>
            </a:xfrm>
            <a:custGeom>
              <a:avLst/>
              <a:gdLst>
                <a:gd name="T0" fmla="*/ 0 w 292"/>
                <a:gd name="T1" fmla="*/ 3 h 3"/>
                <a:gd name="T2" fmla="*/ 292 w 292"/>
                <a:gd name="T3" fmla="*/ 0 h 3"/>
                <a:gd name="T4" fmla="*/ 0 60000 65536"/>
                <a:gd name="T5" fmla="*/ 0 60000 65536"/>
                <a:gd name="T6" fmla="*/ 0 w 292"/>
                <a:gd name="T7" fmla="*/ 0 h 3"/>
                <a:gd name="T8" fmla="*/ 292 w 292"/>
                <a:gd name="T9" fmla="*/ 3 h 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92" h="3">
                  <a:moveTo>
                    <a:pt x="0" y="3"/>
                  </a:moveTo>
                  <a:lnTo>
                    <a:pt x="292" y="0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72" name="Text Box 10"/>
            <p:cNvSpPr txBox="1">
              <a:spLocks noChangeArrowheads="1"/>
            </p:cNvSpPr>
            <p:nvPr/>
          </p:nvSpPr>
          <p:spPr bwMode="auto">
            <a:xfrm>
              <a:off x="4063" y="2003"/>
              <a:ext cx="328" cy="1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200"/>
                <a:t>Clk</a:t>
              </a:r>
            </a:p>
          </p:txBody>
        </p:sp>
        <p:sp>
          <p:nvSpPr>
            <p:cNvPr id="11273" name="Freeform 11"/>
            <p:cNvSpPr>
              <a:spLocks/>
            </p:cNvSpPr>
            <p:nvPr/>
          </p:nvSpPr>
          <p:spPr bwMode="auto">
            <a:xfrm>
              <a:off x="5078" y="2142"/>
              <a:ext cx="314" cy="2"/>
            </a:xfrm>
            <a:custGeom>
              <a:avLst/>
              <a:gdLst>
                <a:gd name="T0" fmla="*/ 0 w 314"/>
                <a:gd name="T1" fmla="*/ 0 h 2"/>
                <a:gd name="T2" fmla="*/ 314 w 314"/>
                <a:gd name="T3" fmla="*/ 2 h 2"/>
                <a:gd name="T4" fmla="*/ 0 60000 65536"/>
                <a:gd name="T5" fmla="*/ 0 60000 65536"/>
                <a:gd name="T6" fmla="*/ 0 w 314"/>
                <a:gd name="T7" fmla="*/ 0 h 2"/>
                <a:gd name="T8" fmla="*/ 314 w 314"/>
                <a:gd name="T9" fmla="*/ 2 h 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4" h="2">
                  <a:moveTo>
                    <a:pt x="0" y="0"/>
                  </a:moveTo>
                  <a:lnTo>
                    <a:pt x="314" y="2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74" name="Text Box 12"/>
            <p:cNvSpPr txBox="1">
              <a:spLocks noChangeArrowheads="1"/>
            </p:cNvSpPr>
            <p:nvPr/>
          </p:nvSpPr>
          <p:spPr bwMode="auto">
            <a:xfrm>
              <a:off x="5300" y="1955"/>
              <a:ext cx="254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Cnt</a:t>
              </a:r>
            </a:p>
          </p:txBody>
        </p:sp>
        <p:sp>
          <p:nvSpPr>
            <p:cNvPr id="11275" name="Text Box 53"/>
            <p:cNvSpPr txBox="1">
              <a:spLocks noChangeArrowheads="1"/>
            </p:cNvSpPr>
            <p:nvPr/>
          </p:nvSpPr>
          <p:spPr bwMode="auto">
            <a:xfrm>
              <a:off x="4400" y="1744"/>
              <a:ext cx="715" cy="2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200" b="1"/>
                <a:t>Basic timer</a:t>
              </a:r>
            </a:p>
          </p:txBody>
        </p:sp>
        <p:sp>
          <p:nvSpPr>
            <p:cNvPr id="11276" name="Freeform 57"/>
            <p:cNvSpPr>
              <a:spLocks/>
            </p:cNvSpPr>
            <p:nvPr/>
          </p:nvSpPr>
          <p:spPr bwMode="auto">
            <a:xfrm>
              <a:off x="5078" y="2252"/>
              <a:ext cx="306" cy="4"/>
            </a:xfrm>
            <a:custGeom>
              <a:avLst/>
              <a:gdLst>
                <a:gd name="T0" fmla="*/ 0 w 306"/>
                <a:gd name="T1" fmla="*/ 0 h 4"/>
                <a:gd name="T2" fmla="*/ 306 w 306"/>
                <a:gd name="T3" fmla="*/ 4 h 4"/>
                <a:gd name="T4" fmla="*/ 0 60000 65536"/>
                <a:gd name="T5" fmla="*/ 0 60000 65536"/>
                <a:gd name="T6" fmla="*/ 0 w 306"/>
                <a:gd name="T7" fmla="*/ 0 h 4"/>
                <a:gd name="T8" fmla="*/ 306 w 306"/>
                <a:gd name="T9" fmla="*/ 4 h 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06" h="4">
                  <a:moveTo>
                    <a:pt x="0" y="0"/>
                  </a:moveTo>
                  <a:lnTo>
                    <a:pt x="306" y="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77" name="Text Box 58"/>
            <p:cNvSpPr txBox="1">
              <a:spLocks noChangeArrowheads="1"/>
            </p:cNvSpPr>
            <p:nvPr/>
          </p:nvSpPr>
          <p:spPr bwMode="auto">
            <a:xfrm>
              <a:off x="5276" y="2300"/>
              <a:ext cx="238" cy="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27432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Top</a:t>
              </a:r>
            </a:p>
          </p:txBody>
        </p:sp>
        <p:sp>
          <p:nvSpPr>
            <p:cNvPr id="11278" name="Line 63"/>
            <p:cNvSpPr>
              <a:spLocks noChangeShapeType="1"/>
            </p:cNvSpPr>
            <p:nvPr/>
          </p:nvSpPr>
          <p:spPr bwMode="auto">
            <a:xfrm flipV="1">
              <a:off x="4761" y="2418"/>
              <a:ext cx="0" cy="23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79" name="Text Box 64"/>
            <p:cNvSpPr txBox="1">
              <a:spLocks noChangeArrowheads="1"/>
            </p:cNvSpPr>
            <p:nvPr/>
          </p:nvSpPr>
          <p:spPr bwMode="auto">
            <a:xfrm>
              <a:off x="4441" y="2504"/>
              <a:ext cx="438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27432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Reset</a:t>
              </a:r>
            </a:p>
          </p:txBody>
        </p:sp>
        <p:sp>
          <p:nvSpPr>
            <p:cNvPr id="11280" name="AutoShape 84"/>
            <p:cNvSpPr>
              <a:spLocks noChangeArrowheads="1"/>
            </p:cNvSpPr>
            <p:nvPr/>
          </p:nvSpPr>
          <p:spPr bwMode="auto">
            <a:xfrm rot="5400000">
              <a:off x="4413" y="2158"/>
              <a:ext cx="88" cy="64"/>
            </a:xfrm>
            <a:prstGeom prst="triangle">
              <a:avLst>
                <a:gd name="adj" fmla="val 50000"/>
              </a:avLst>
            </a:prstGeom>
            <a:noFill/>
            <a:ln w="9525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1281" name="Line 96"/>
            <p:cNvSpPr>
              <a:spLocks noChangeShapeType="1"/>
            </p:cNvSpPr>
            <p:nvPr/>
          </p:nvSpPr>
          <p:spPr bwMode="auto">
            <a:xfrm flipH="1">
              <a:off x="5144" y="2104"/>
              <a:ext cx="24" cy="96"/>
            </a:xfrm>
            <a:prstGeom prst="line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11282" name="Text Box 97"/>
            <p:cNvSpPr txBox="1">
              <a:spLocks noChangeArrowheads="1"/>
            </p:cNvSpPr>
            <p:nvPr/>
          </p:nvSpPr>
          <p:spPr bwMode="auto">
            <a:xfrm>
              <a:off x="5132" y="1979"/>
              <a:ext cx="254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16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8F2D300D-3259-424C-9F9F-F9E67C0FABCB}" type="slidenum">
              <a:rPr lang="en-US"/>
              <a:pPr/>
              <a:t>4</a:t>
            </a:fld>
            <a:endParaRPr lang="en-US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Counters</a:t>
            </a:r>
          </a:p>
        </p:txBody>
      </p:sp>
      <p:sp>
        <p:nvSpPr>
          <p:cNvPr id="12292" name="Rectangle 78"/>
          <p:cNvSpPr>
            <a:spLocks noGrp="1" noChangeArrowheads="1"/>
          </p:cNvSpPr>
          <p:nvPr>
            <p:ph type="body" idx="1"/>
          </p:nvPr>
        </p:nvSpPr>
        <p:spPr>
          <a:xfrm>
            <a:off x="381000" y="2225675"/>
            <a:ext cx="5111750" cy="3527425"/>
          </a:xfrm>
          <a:noFill/>
        </p:spPr>
        <p:txBody>
          <a:bodyPr/>
          <a:lstStyle/>
          <a:p>
            <a:r>
              <a:rPr lang="en-US" sz="2400" smtClean="0"/>
              <a:t>Counter: like a timer, but counts pulses on a general input signal rather than clock</a:t>
            </a:r>
          </a:p>
          <a:p>
            <a:pPr lvl="1"/>
            <a:r>
              <a:rPr kumimoji="0" lang="en-US" sz="2000" smtClean="0"/>
              <a:t>e.g., count cars passing over a sensor</a:t>
            </a:r>
          </a:p>
          <a:p>
            <a:pPr lvl="1"/>
            <a:r>
              <a:rPr kumimoji="0" lang="en-US" sz="2000" smtClean="0"/>
              <a:t>Can often configure device as either a timer or counter</a:t>
            </a:r>
          </a:p>
        </p:txBody>
      </p:sp>
      <p:grpSp>
        <p:nvGrpSpPr>
          <p:cNvPr id="12293" name="Group 81"/>
          <p:cNvGrpSpPr>
            <a:grpSpLocks/>
          </p:cNvGrpSpPr>
          <p:nvPr/>
        </p:nvGrpSpPr>
        <p:grpSpPr bwMode="auto">
          <a:xfrm>
            <a:off x="5608638" y="2511425"/>
            <a:ext cx="3351212" cy="1920875"/>
            <a:chOff x="3533" y="1582"/>
            <a:chExt cx="2111" cy="1210"/>
          </a:xfrm>
        </p:grpSpPr>
        <p:sp>
          <p:nvSpPr>
            <p:cNvPr id="12294" name="Text Box 48"/>
            <p:cNvSpPr txBox="1">
              <a:spLocks noChangeArrowheads="1"/>
            </p:cNvSpPr>
            <p:nvPr/>
          </p:nvSpPr>
          <p:spPr bwMode="auto">
            <a:xfrm>
              <a:off x="4519" y="1850"/>
              <a:ext cx="658" cy="47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45720" bIns="0"/>
            <a:lstStyle/>
            <a:p>
              <a:pPr algn="ctr">
                <a:spcBef>
                  <a:spcPct val="0"/>
                </a:spcBef>
              </a:pPr>
              <a:r>
                <a:rPr lang="en-US" sz="1200"/>
                <a:t>16-bit up counter</a:t>
              </a:r>
            </a:p>
          </p:txBody>
        </p:sp>
        <p:sp>
          <p:nvSpPr>
            <p:cNvPr id="12295" name="Line 49"/>
            <p:cNvSpPr>
              <a:spLocks noChangeShapeType="1"/>
            </p:cNvSpPr>
            <p:nvPr/>
          </p:nvSpPr>
          <p:spPr bwMode="auto">
            <a:xfrm>
              <a:off x="4300" y="2086"/>
              <a:ext cx="21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6" name="Text Box 50"/>
            <p:cNvSpPr txBox="1">
              <a:spLocks noChangeArrowheads="1"/>
            </p:cNvSpPr>
            <p:nvPr/>
          </p:nvSpPr>
          <p:spPr bwMode="auto">
            <a:xfrm>
              <a:off x="3613" y="1788"/>
              <a:ext cx="358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200"/>
                <a:t>Clk</a:t>
              </a:r>
            </a:p>
          </p:txBody>
        </p:sp>
        <p:sp>
          <p:nvSpPr>
            <p:cNvPr id="12297" name="Line 51"/>
            <p:cNvSpPr>
              <a:spLocks noChangeShapeType="1"/>
            </p:cNvSpPr>
            <p:nvPr/>
          </p:nvSpPr>
          <p:spPr bwMode="auto">
            <a:xfrm>
              <a:off x="5177" y="2046"/>
              <a:ext cx="32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8" name="Text Box 52"/>
            <p:cNvSpPr txBox="1">
              <a:spLocks noChangeArrowheads="1"/>
            </p:cNvSpPr>
            <p:nvPr/>
          </p:nvSpPr>
          <p:spPr bwMode="auto">
            <a:xfrm>
              <a:off x="5246" y="1898"/>
              <a:ext cx="142" cy="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16</a:t>
              </a:r>
            </a:p>
          </p:txBody>
        </p:sp>
        <p:sp>
          <p:nvSpPr>
            <p:cNvPr id="12299" name="Text Box 53"/>
            <p:cNvSpPr txBox="1">
              <a:spLocks noChangeArrowheads="1"/>
            </p:cNvSpPr>
            <p:nvPr/>
          </p:nvSpPr>
          <p:spPr bwMode="auto">
            <a:xfrm>
              <a:off x="3533" y="2204"/>
              <a:ext cx="438" cy="1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200"/>
                <a:t>Cnt_in</a:t>
              </a:r>
            </a:p>
          </p:txBody>
        </p:sp>
        <p:sp>
          <p:nvSpPr>
            <p:cNvPr id="12300" name="Line 54"/>
            <p:cNvSpPr>
              <a:spLocks noChangeShapeType="1"/>
            </p:cNvSpPr>
            <p:nvPr/>
          </p:nvSpPr>
          <p:spPr bwMode="auto">
            <a:xfrm>
              <a:off x="3643" y="2000"/>
              <a:ext cx="32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01" name="Line 55"/>
            <p:cNvSpPr>
              <a:spLocks noChangeShapeType="1"/>
            </p:cNvSpPr>
            <p:nvPr/>
          </p:nvSpPr>
          <p:spPr bwMode="auto">
            <a:xfrm>
              <a:off x="3643" y="2156"/>
              <a:ext cx="32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02" name="Rectangle 56"/>
            <p:cNvSpPr>
              <a:spLocks noChangeArrowheads="1"/>
            </p:cNvSpPr>
            <p:nvPr/>
          </p:nvSpPr>
          <p:spPr bwMode="auto">
            <a:xfrm>
              <a:off x="3971" y="1850"/>
              <a:ext cx="329" cy="47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200"/>
                <a:t>2x1 mux</a:t>
              </a:r>
            </a:p>
          </p:txBody>
        </p:sp>
        <p:sp>
          <p:nvSpPr>
            <p:cNvPr id="12303" name="Text Box 57"/>
            <p:cNvSpPr txBox="1">
              <a:spLocks noChangeArrowheads="1"/>
            </p:cNvSpPr>
            <p:nvPr/>
          </p:nvSpPr>
          <p:spPr bwMode="auto">
            <a:xfrm>
              <a:off x="3971" y="2557"/>
              <a:ext cx="658" cy="23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200"/>
                <a:t>Mode</a:t>
              </a:r>
            </a:p>
          </p:txBody>
        </p:sp>
        <p:sp>
          <p:nvSpPr>
            <p:cNvPr id="12304" name="Line 58"/>
            <p:cNvSpPr>
              <a:spLocks noChangeShapeType="1"/>
            </p:cNvSpPr>
            <p:nvPr/>
          </p:nvSpPr>
          <p:spPr bwMode="auto">
            <a:xfrm flipV="1">
              <a:off x="4190" y="2321"/>
              <a:ext cx="0" cy="23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05" name="Text Box 59"/>
            <p:cNvSpPr txBox="1">
              <a:spLocks noChangeArrowheads="1"/>
            </p:cNvSpPr>
            <p:nvPr/>
          </p:nvSpPr>
          <p:spPr bwMode="auto">
            <a:xfrm>
              <a:off x="4084" y="1582"/>
              <a:ext cx="947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200" b="1"/>
                <a:t>Timer/counter</a:t>
              </a:r>
            </a:p>
          </p:txBody>
        </p:sp>
        <p:sp>
          <p:nvSpPr>
            <p:cNvPr id="12306" name="Text Box 60"/>
            <p:cNvSpPr txBox="1">
              <a:spLocks noChangeArrowheads="1"/>
            </p:cNvSpPr>
            <p:nvPr/>
          </p:nvSpPr>
          <p:spPr bwMode="auto">
            <a:xfrm>
              <a:off x="5374" y="2196"/>
              <a:ext cx="246" cy="1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27432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Top</a:t>
              </a:r>
            </a:p>
          </p:txBody>
        </p:sp>
        <p:sp>
          <p:nvSpPr>
            <p:cNvPr id="12307" name="Line 61"/>
            <p:cNvSpPr>
              <a:spLocks noChangeShapeType="1"/>
            </p:cNvSpPr>
            <p:nvPr/>
          </p:nvSpPr>
          <p:spPr bwMode="auto">
            <a:xfrm>
              <a:off x="5177" y="2156"/>
              <a:ext cx="32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08" name="Freeform 62"/>
            <p:cNvSpPr>
              <a:spLocks/>
            </p:cNvSpPr>
            <p:nvPr/>
          </p:nvSpPr>
          <p:spPr bwMode="auto">
            <a:xfrm>
              <a:off x="4847" y="2333"/>
              <a:ext cx="4" cy="232"/>
            </a:xfrm>
            <a:custGeom>
              <a:avLst/>
              <a:gdLst>
                <a:gd name="T0" fmla="*/ 4 w 4"/>
                <a:gd name="T1" fmla="*/ 232 h 232"/>
                <a:gd name="T2" fmla="*/ 0 w 4"/>
                <a:gd name="T3" fmla="*/ 0 h 232"/>
                <a:gd name="T4" fmla="*/ 0 60000 65536"/>
                <a:gd name="T5" fmla="*/ 0 60000 65536"/>
                <a:gd name="T6" fmla="*/ 0 w 4"/>
                <a:gd name="T7" fmla="*/ 0 h 232"/>
                <a:gd name="T8" fmla="*/ 4 w 4"/>
                <a:gd name="T9" fmla="*/ 232 h 23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" h="232">
                  <a:moveTo>
                    <a:pt x="4" y="232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09" name="Text Box 63"/>
            <p:cNvSpPr txBox="1">
              <a:spLocks noChangeArrowheads="1"/>
            </p:cNvSpPr>
            <p:nvPr/>
          </p:nvSpPr>
          <p:spPr bwMode="auto">
            <a:xfrm>
              <a:off x="4891" y="2423"/>
              <a:ext cx="438" cy="1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27432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Reset</a:t>
              </a:r>
            </a:p>
          </p:txBody>
        </p:sp>
        <p:sp>
          <p:nvSpPr>
            <p:cNvPr id="12310" name="AutoShape 64"/>
            <p:cNvSpPr>
              <a:spLocks noChangeArrowheads="1"/>
            </p:cNvSpPr>
            <p:nvPr/>
          </p:nvSpPr>
          <p:spPr bwMode="auto">
            <a:xfrm rot="5400000">
              <a:off x="4507" y="2057"/>
              <a:ext cx="88" cy="64"/>
            </a:xfrm>
            <a:prstGeom prst="triangle">
              <a:avLst>
                <a:gd name="adj" fmla="val 50000"/>
              </a:avLst>
            </a:prstGeom>
            <a:noFill/>
            <a:ln w="9525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2311" name="Text Box 79"/>
            <p:cNvSpPr txBox="1">
              <a:spLocks noChangeArrowheads="1"/>
            </p:cNvSpPr>
            <p:nvPr/>
          </p:nvSpPr>
          <p:spPr bwMode="auto">
            <a:xfrm>
              <a:off x="5398" y="1874"/>
              <a:ext cx="246" cy="1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Cnt</a:t>
              </a:r>
            </a:p>
          </p:txBody>
        </p:sp>
        <p:sp>
          <p:nvSpPr>
            <p:cNvPr id="12312" name="Line 80"/>
            <p:cNvSpPr>
              <a:spLocks noChangeShapeType="1"/>
            </p:cNvSpPr>
            <p:nvPr/>
          </p:nvSpPr>
          <p:spPr bwMode="auto">
            <a:xfrm flipH="1">
              <a:off x="5256" y="2016"/>
              <a:ext cx="48" cy="72"/>
            </a:xfrm>
            <a:prstGeom prst="line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FB024863-0BCB-4785-9284-4AB25F4F27C7}" type="slidenum">
              <a:rPr lang="en-US"/>
              <a:pPr/>
              <a:t>5</a:t>
            </a:fld>
            <a:endParaRPr lang="en-US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Other timer structures</a:t>
            </a:r>
          </a:p>
        </p:txBody>
      </p:sp>
      <p:sp>
        <p:nvSpPr>
          <p:cNvPr id="13316" name="Text Box 43"/>
          <p:cNvSpPr txBox="1">
            <a:spLocks noChangeArrowheads="1"/>
          </p:cNvSpPr>
          <p:nvPr/>
        </p:nvSpPr>
        <p:spPr bwMode="auto">
          <a:xfrm>
            <a:off x="8339138" y="3519488"/>
            <a:ext cx="555625" cy="31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27432" tIns="27432" rIns="0" bIns="0"/>
          <a:lstStyle/>
          <a:p>
            <a:pPr>
              <a:spcBef>
                <a:spcPct val="0"/>
              </a:spcBef>
            </a:pPr>
            <a:r>
              <a:rPr lang="en-US" sz="1200"/>
              <a:t>Top2</a:t>
            </a:r>
          </a:p>
        </p:txBody>
      </p:sp>
      <p:grpSp>
        <p:nvGrpSpPr>
          <p:cNvPr id="13317" name="Group 65"/>
          <p:cNvGrpSpPr>
            <a:grpSpLocks/>
          </p:cNvGrpSpPr>
          <p:nvPr/>
        </p:nvGrpSpPr>
        <p:grpSpPr bwMode="auto">
          <a:xfrm>
            <a:off x="5840413" y="4048125"/>
            <a:ext cx="3028950" cy="1841500"/>
            <a:chOff x="3613" y="2348"/>
            <a:chExt cx="1908" cy="1160"/>
          </a:xfrm>
        </p:grpSpPr>
        <p:sp>
          <p:nvSpPr>
            <p:cNvPr id="13356" name="Text Box 66"/>
            <p:cNvSpPr txBox="1">
              <a:spLocks noChangeArrowheads="1"/>
            </p:cNvSpPr>
            <p:nvPr/>
          </p:nvSpPr>
          <p:spPr bwMode="auto">
            <a:xfrm>
              <a:off x="3929" y="2348"/>
              <a:ext cx="1179" cy="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200" b="1"/>
                <a:t>Time with prescaler</a:t>
              </a:r>
            </a:p>
          </p:txBody>
        </p:sp>
        <p:sp>
          <p:nvSpPr>
            <p:cNvPr id="13357" name="Text Box 67"/>
            <p:cNvSpPr txBox="1">
              <a:spLocks noChangeArrowheads="1"/>
            </p:cNvSpPr>
            <p:nvPr/>
          </p:nvSpPr>
          <p:spPr bwMode="auto">
            <a:xfrm>
              <a:off x="4644" y="2566"/>
              <a:ext cx="658" cy="47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45720" bIns="0"/>
            <a:lstStyle/>
            <a:p>
              <a:pPr algn="ctr">
                <a:spcBef>
                  <a:spcPct val="0"/>
                </a:spcBef>
              </a:pPr>
              <a:r>
                <a:rPr lang="en-US" sz="1200"/>
                <a:t>16-bit up counter</a:t>
              </a:r>
            </a:p>
          </p:txBody>
        </p:sp>
        <p:sp>
          <p:nvSpPr>
            <p:cNvPr id="13358" name="Line 68"/>
            <p:cNvSpPr>
              <a:spLocks noChangeShapeType="1"/>
            </p:cNvSpPr>
            <p:nvPr/>
          </p:nvSpPr>
          <p:spPr bwMode="auto">
            <a:xfrm>
              <a:off x="4425" y="2802"/>
              <a:ext cx="21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59" name="Text Box 69"/>
            <p:cNvSpPr txBox="1">
              <a:spLocks noChangeArrowheads="1"/>
            </p:cNvSpPr>
            <p:nvPr/>
          </p:nvSpPr>
          <p:spPr bwMode="auto">
            <a:xfrm>
              <a:off x="3613" y="2606"/>
              <a:ext cx="350" cy="1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200"/>
                <a:t>Clk</a:t>
              </a:r>
            </a:p>
          </p:txBody>
        </p:sp>
        <p:sp>
          <p:nvSpPr>
            <p:cNvPr id="13360" name="Line 70"/>
            <p:cNvSpPr>
              <a:spLocks noChangeShapeType="1"/>
            </p:cNvSpPr>
            <p:nvPr/>
          </p:nvSpPr>
          <p:spPr bwMode="auto">
            <a:xfrm>
              <a:off x="5302" y="2746"/>
              <a:ext cx="21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1" name="Line 71"/>
            <p:cNvSpPr>
              <a:spLocks noChangeShapeType="1"/>
            </p:cNvSpPr>
            <p:nvPr/>
          </p:nvSpPr>
          <p:spPr bwMode="auto">
            <a:xfrm>
              <a:off x="3658" y="2802"/>
              <a:ext cx="32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2" name="Rectangle 72"/>
            <p:cNvSpPr>
              <a:spLocks noChangeArrowheads="1"/>
            </p:cNvSpPr>
            <p:nvPr/>
          </p:nvSpPr>
          <p:spPr bwMode="auto">
            <a:xfrm>
              <a:off x="3987" y="2566"/>
              <a:ext cx="438" cy="47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200"/>
                <a:t>Prescaler</a:t>
              </a:r>
            </a:p>
          </p:txBody>
        </p:sp>
        <p:sp>
          <p:nvSpPr>
            <p:cNvPr id="13363" name="Text Box 73"/>
            <p:cNvSpPr txBox="1">
              <a:spLocks noChangeArrowheads="1"/>
            </p:cNvSpPr>
            <p:nvPr/>
          </p:nvSpPr>
          <p:spPr bwMode="auto">
            <a:xfrm>
              <a:off x="4001" y="3273"/>
              <a:ext cx="457" cy="23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200"/>
                <a:t>Mode</a:t>
              </a:r>
            </a:p>
          </p:txBody>
        </p:sp>
        <p:sp>
          <p:nvSpPr>
            <p:cNvPr id="13364" name="Line 74"/>
            <p:cNvSpPr>
              <a:spLocks noChangeShapeType="1"/>
            </p:cNvSpPr>
            <p:nvPr/>
          </p:nvSpPr>
          <p:spPr bwMode="auto">
            <a:xfrm flipV="1">
              <a:off x="4150" y="3037"/>
              <a:ext cx="0" cy="23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5" name="Line 75"/>
            <p:cNvSpPr>
              <a:spLocks noChangeShapeType="1"/>
            </p:cNvSpPr>
            <p:nvPr/>
          </p:nvSpPr>
          <p:spPr bwMode="auto">
            <a:xfrm>
              <a:off x="5302" y="2864"/>
              <a:ext cx="21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6" name="Freeform 76"/>
            <p:cNvSpPr>
              <a:spLocks/>
            </p:cNvSpPr>
            <p:nvPr/>
          </p:nvSpPr>
          <p:spPr bwMode="auto">
            <a:xfrm>
              <a:off x="4272" y="3040"/>
              <a:ext cx="1" cy="240"/>
            </a:xfrm>
            <a:custGeom>
              <a:avLst/>
              <a:gdLst>
                <a:gd name="T0" fmla="*/ 0 w 1"/>
                <a:gd name="T1" fmla="*/ 240 h 240"/>
                <a:gd name="T2" fmla="*/ 0 w 1"/>
                <a:gd name="T3" fmla="*/ 0 h 240"/>
                <a:gd name="T4" fmla="*/ 0 60000 65536"/>
                <a:gd name="T5" fmla="*/ 0 60000 65536"/>
                <a:gd name="T6" fmla="*/ 0 w 1"/>
                <a:gd name="T7" fmla="*/ 0 h 240"/>
                <a:gd name="T8" fmla="*/ 1 w 1"/>
                <a:gd name="T9" fmla="*/ 240 h 24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240">
                  <a:moveTo>
                    <a:pt x="0" y="240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7" name="AutoShape 77"/>
            <p:cNvSpPr>
              <a:spLocks noChangeArrowheads="1"/>
            </p:cNvSpPr>
            <p:nvPr/>
          </p:nvSpPr>
          <p:spPr bwMode="auto">
            <a:xfrm rot="5400000">
              <a:off x="4636" y="2772"/>
              <a:ext cx="88" cy="64"/>
            </a:xfrm>
            <a:prstGeom prst="triangle">
              <a:avLst>
                <a:gd name="adj" fmla="val 50000"/>
              </a:avLst>
            </a:prstGeom>
            <a:noFill/>
            <a:ln w="9525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13318" name="Rectangle 78"/>
          <p:cNvSpPr>
            <a:spLocks noGrp="1" noChangeArrowheads="1"/>
          </p:cNvSpPr>
          <p:nvPr>
            <p:ph type="body" idx="1"/>
          </p:nvPr>
        </p:nvSpPr>
        <p:spPr>
          <a:xfrm>
            <a:off x="238125" y="1443038"/>
            <a:ext cx="3924300" cy="4360862"/>
          </a:xfrm>
          <a:noFill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smtClean="0"/>
              <a:t>Interval timer</a:t>
            </a:r>
          </a:p>
          <a:p>
            <a:pPr lvl="1">
              <a:lnSpc>
                <a:spcPct val="90000"/>
              </a:lnSpc>
            </a:pPr>
            <a:r>
              <a:rPr lang="en-US" sz="2000" smtClean="0"/>
              <a:t>Indicates when desired time interval has passed</a:t>
            </a:r>
          </a:p>
          <a:p>
            <a:pPr lvl="1">
              <a:lnSpc>
                <a:spcPct val="90000"/>
              </a:lnSpc>
            </a:pPr>
            <a:r>
              <a:rPr lang="en-US" sz="2000" smtClean="0"/>
              <a:t>We set terminal count to desired interval</a:t>
            </a:r>
          </a:p>
          <a:p>
            <a:pPr lvl="2">
              <a:lnSpc>
                <a:spcPct val="90000"/>
              </a:lnSpc>
            </a:pPr>
            <a:r>
              <a:rPr kumimoji="0" lang="en-US" i="1" smtClean="0"/>
              <a:t>Number of clock cycles  = Desired time interval / Clock period</a:t>
            </a:r>
          </a:p>
          <a:p>
            <a:pPr>
              <a:lnSpc>
                <a:spcPct val="90000"/>
              </a:lnSpc>
            </a:pPr>
            <a:r>
              <a:rPr lang="en-US" sz="2400" smtClean="0"/>
              <a:t>Cascaded counters</a:t>
            </a:r>
          </a:p>
          <a:p>
            <a:pPr>
              <a:lnSpc>
                <a:spcPct val="90000"/>
              </a:lnSpc>
            </a:pPr>
            <a:r>
              <a:rPr lang="en-US" sz="2400" smtClean="0"/>
              <a:t>Prescaler</a:t>
            </a:r>
          </a:p>
          <a:p>
            <a:pPr lvl="1">
              <a:lnSpc>
                <a:spcPct val="90000"/>
              </a:lnSpc>
            </a:pPr>
            <a:r>
              <a:rPr lang="en-US" sz="2000" smtClean="0"/>
              <a:t>Divides clock</a:t>
            </a:r>
          </a:p>
          <a:p>
            <a:pPr lvl="1">
              <a:lnSpc>
                <a:spcPct val="90000"/>
              </a:lnSpc>
            </a:pPr>
            <a:r>
              <a:rPr lang="en-US" sz="2000" smtClean="0"/>
              <a:t>Increases range, decreases resolution</a:t>
            </a:r>
            <a:endParaRPr kumimoji="0" lang="en-US" i="1" smtClean="0"/>
          </a:p>
          <a:p>
            <a:pPr>
              <a:lnSpc>
                <a:spcPct val="90000"/>
              </a:lnSpc>
            </a:pPr>
            <a:endParaRPr kumimoji="0" lang="en-US" i="1" smtClean="0"/>
          </a:p>
          <a:p>
            <a:pPr>
              <a:lnSpc>
                <a:spcPct val="90000"/>
              </a:lnSpc>
            </a:pPr>
            <a:endParaRPr lang="en-US" sz="2400" smtClean="0"/>
          </a:p>
          <a:p>
            <a:pPr lvl="1">
              <a:lnSpc>
                <a:spcPct val="90000"/>
              </a:lnSpc>
            </a:pPr>
            <a:endParaRPr kumimoji="0" lang="en-US" sz="2000" smtClean="0"/>
          </a:p>
        </p:txBody>
      </p:sp>
      <p:grpSp>
        <p:nvGrpSpPr>
          <p:cNvPr id="13319" name="Group 81"/>
          <p:cNvGrpSpPr>
            <a:grpSpLocks/>
          </p:cNvGrpSpPr>
          <p:nvPr/>
        </p:nvGrpSpPr>
        <p:grpSpPr bwMode="auto">
          <a:xfrm>
            <a:off x="4005263" y="2116138"/>
            <a:ext cx="2355850" cy="3333750"/>
            <a:chOff x="2523" y="1333"/>
            <a:chExt cx="1484" cy="2100"/>
          </a:xfrm>
        </p:grpSpPr>
        <p:sp>
          <p:nvSpPr>
            <p:cNvPr id="13339" name="Text Box 16"/>
            <p:cNvSpPr txBox="1">
              <a:spLocks noChangeArrowheads="1"/>
            </p:cNvSpPr>
            <p:nvPr/>
          </p:nvSpPr>
          <p:spPr bwMode="auto">
            <a:xfrm>
              <a:off x="2882" y="1667"/>
              <a:ext cx="657" cy="47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200"/>
                <a:t>16-bit up counter</a:t>
              </a:r>
            </a:p>
          </p:txBody>
        </p:sp>
        <p:sp>
          <p:nvSpPr>
            <p:cNvPr id="13340" name="Line 17"/>
            <p:cNvSpPr>
              <a:spLocks noChangeShapeType="1"/>
            </p:cNvSpPr>
            <p:nvPr/>
          </p:nvSpPr>
          <p:spPr bwMode="auto">
            <a:xfrm>
              <a:off x="2553" y="1902"/>
              <a:ext cx="32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1" name="Text Box 18"/>
            <p:cNvSpPr txBox="1">
              <a:spLocks noChangeArrowheads="1"/>
            </p:cNvSpPr>
            <p:nvPr/>
          </p:nvSpPr>
          <p:spPr bwMode="auto">
            <a:xfrm>
              <a:off x="2523" y="1691"/>
              <a:ext cx="305" cy="1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200"/>
                <a:t>Clk</a:t>
              </a:r>
            </a:p>
          </p:txBody>
        </p:sp>
        <p:sp>
          <p:nvSpPr>
            <p:cNvPr id="13342" name="Line 19"/>
            <p:cNvSpPr>
              <a:spLocks noChangeShapeType="1"/>
            </p:cNvSpPr>
            <p:nvPr/>
          </p:nvSpPr>
          <p:spPr bwMode="auto">
            <a:xfrm>
              <a:off x="3539" y="1894"/>
              <a:ext cx="32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3" name="Text Box 20"/>
            <p:cNvSpPr txBox="1">
              <a:spLocks noChangeArrowheads="1"/>
            </p:cNvSpPr>
            <p:nvPr/>
          </p:nvSpPr>
          <p:spPr bwMode="auto">
            <a:xfrm>
              <a:off x="3625" y="1771"/>
              <a:ext cx="150" cy="1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16</a:t>
              </a:r>
            </a:p>
          </p:txBody>
        </p:sp>
        <p:sp>
          <p:nvSpPr>
            <p:cNvPr id="13344" name="Text Box 21"/>
            <p:cNvSpPr txBox="1">
              <a:spLocks noChangeArrowheads="1"/>
            </p:cNvSpPr>
            <p:nvPr/>
          </p:nvSpPr>
          <p:spPr bwMode="auto">
            <a:xfrm>
              <a:off x="2882" y="2962"/>
              <a:ext cx="657" cy="47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200"/>
                <a:t>Terminal count</a:t>
              </a:r>
            </a:p>
          </p:txBody>
        </p:sp>
        <p:sp>
          <p:nvSpPr>
            <p:cNvPr id="13345" name="Text Box 22"/>
            <p:cNvSpPr txBox="1">
              <a:spLocks noChangeArrowheads="1"/>
            </p:cNvSpPr>
            <p:nvPr/>
          </p:nvSpPr>
          <p:spPr bwMode="auto">
            <a:xfrm>
              <a:off x="3101" y="2373"/>
              <a:ext cx="219" cy="354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91440" rIns="0" bIns="0"/>
            <a:lstStyle/>
            <a:p>
              <a:pPr algn="ctr">
                <a:spcBef>
                  <a:spcPct val="0"/>
                </a:spcBef>
              </a:pPr>
              <a:r>
                <a:rPr lang="en-US" sz="1200"/>
                <a:t>=</a:t>
              </a:r>
            </a:p>
          </p:txBody>
        </p:sp>
        <p:sp>
          <p:nvSpPr>
            <p:cNvPr id="13346" name="Line 23"/>
            <p:cNvSpPr>
              <a:spLocks noChangeShapeType="1"/>
            </p:cNvSpPr>
            <p:nvPr/>
          </p:nvSpPr>
          <p:spPr bwMode="auto">
            <a:xfrm>
              <a:off x="3320" y="2491"/>
              <a:ext cx="54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7" name="Text Box 24"/>
            <p:cNvSpPr txBox="1">
              <a:spLocks noChangeArrowheads="1"/>
            </p:cNvSpPr>
            <p:nvPr/>
          </p:nvSpPr>
          <p:spPr bwMode="auto">
            <a:xfrm>
              <a:off x="3441" y="2521"/>
              <a:ext cx="328" cy="1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Top</a:t>
              </a:r>
            </a:p>
          </p:txBody>
        </p:sp>
        <p:sp>
          <p:nvSpPr>
            <p:cNvPr id="13348" name="Line 25"/>
            <p:cNvSpPr>
              <a:spLocks noChangeShapeType="1"/>
            </p:cNvSpPr>
            <p:nvPr/>
          </p:nvSpPr>
          <p:spPr bwMode="auto">
            <a:xfrm>
              <a:off x="3210" y="2138"/>
              <a:ext cx="0" cy="23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49" name="Line 26"/>
            <p:cNvSpPr>
              <a:spLocks noChangeShapeType="1"/>
            </p:cNvSpPr>
            <p:nvPr/>
          </p:nvSpPr>
          <p:spPr bwMode="auto">
            <a:xfrm flipV="1">
              <a:off x="3210" y="2727"/>
              <a:ext cx="0" cy="23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50" name="Line 27"/>
            <p:cNvSpPr>
              <a:spLocks noChangeShapeType="1"/>
            </p:cNvSpPr>
            <p:nvPr/>
          </p:nvSpPr>
          <p:spPr bwMode="auto">
            <a:xfrm flipV="1">
              <a:off x="3429" y="2138"/>
              <a:ext cx="0" cy="35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51" name="Text Box 28"/>
            <p:cNvSpPr txBox="1">
              <a:spLocks noChangeArrowheads="1"/>
            </p:cNvSpPr>
            <p:nvPr/>
          </p:nvSpPr>
          <p:spPr bwMode="auto">
            <a:xfrm>
              <a:off x="3491" y="2234"/>
              <a:ext cx="438" cy="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Reset</a:t>
              </a:r>
            </a:p>
          </p:txBody>
        </p:sp>
        <p:sp>
          <p:nvSpPr>
            <p:cNvPr id="13352" name="Text Box 29"/>
            <p:cNvSpPr txBox="1">
              <a:spLocks noChangeArrowheads="1"/>
            </p:cNvSpPr>
            <p:nvPr/>
          </p:nvSpPr>
          <p:spPr bwMode="auto">
            <a:xfrm>
              <a:off x="2715" y="1333"/>
              <a:ext cx="1011" cy="2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200" b="1"/>
                <a:t>Timer with a terminal count</a:t>
              </a:r>
            </a:p>
          </p:txBody>
        </p:sp>
        <p:sp>
          <p:nvSpPr>
            <p:cNvPr id="13353" name="AutoShape 30"/>
            <p:cNvSpPr>
              <a:spLocks noChangeArrowheads="1"/>
            </p:cNvSpPr>
            <p:nvPr/>
          </p:nvSpPr>
          <p:spPr bwMode="auto">
            <a:xfrm rot="5400000">
              <a:off x="2867" y="1872"/>
              <a:ext cx="88" cy="64"/>
            </a:xfrm>
            <a:prstGeom prst="triangle">
              <a:avLst>
                <a:gd name="adj" fmla="val 50000"/>
              </a:avLst>
            </a:prstGeom>
            <a:noFill/>
            <a:ln w="9525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3354" name="Text Box 79"/>
            <p:cNvSpPr txBox="1">
              <a:spLocks noChangeArrowheads="1"/>
            </p:cNvSpPr>
            <p:nvPr/>
          </p:nvSpPr>
          <p:spPr bwMode="auto">
            <a:xfrm>
              <a:off x="3769" y="1731"/>
              <a:ext cx="238" cy="1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Cnt</a:t>
              </a:r>
            </a:p>
          </p:txBody>
        </p:sp>
        <p:sp>
          <p:nvSpPr>
            <p:cNvPr id="13355" name="Line 80"/>
            <p:cNvSpPr>
              <a:spLocks noChangeShapeType="1"/>
            </p:cNvSpPr>
            <p:nvPr/>
          </p:nvSpPr>
          <p:spPr bwMode="auto">
            <a:xfrm flipH="1">
              <a:off x="3656" y="1880"/>
              <a:ext cx="16" cy="56"/>
            </a:xfrm>
            <a:prstGeom prst="line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</p:grpSp>
      <p:grpSp>
        <p:nvGrpSpPr>
          <p:cNvPr id="13320" name="Group 87"/>
          <p:cNvGrpSpPr>
            <a:grpSpLocks/>
          </p:cNvGrpSpPr>
          <p:nvPr/>
        </p:nvGrpSpPr>
        <p:grpSpPr bwMode="auto">
          <a:xfrm>
            <a:off x="6302375" y="1509713"/>
            <a:ext cx="2574925" cy="2222500"/>
            <a:chOff x="3970" y="951"/>
            <a:chExt cx="1622" cy="1400"/>
          </a:xfrm>
        </p:grpSpPr>
        <p:sp>
          <p:nvSpPr>
            <p:cNvPr id="13321" name="Text Box 32"/>
            <p:cNvSpPr txBox="1">
              <a:spLocks noChangeArrowheads="1"/>
            </p:cNvSpPr>
            <p:nvPr/>
          </p:nvSpPr>
          <p:spPr bwMode="auto">
            <a:xfrm>
              <a:off x="4312" y="1173"/>
              <a:ext cx="658" cy="47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45720" bIns="0"/>
            <a:lstStyle/>
            <a:p>
              <a:pPr algn="ctr">
                <a:spcBef>
                  <a:spcPct val="0"/>
                </a:spcBef>
              </a:pPr>
              <a:r>
                <a:rPr lang="en-US" sz="1200"/>
                <a:t>16-bit up counter</a:t>
              </a:r>
            </a:p>
          </p:txBody>
        </p:sp>
        <p:sp>
          <p:nvSpPr>
            <p:cNvPr id="13322" name="Line 33"/>
            <p:cNvSpPr>
              <a:spLocks noChangeShapeType="1"/>
            </p:cNvSpPr>
            <p:nvPr/>
          </p:nvSpPr>
          <p:spPr bwMode="auto">
            <a:xfrm>
              <a:off x="3983" y="1409"/>
              <a:ext cx="329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3" name="Text Box 34"/>
            <p:cNvSpPr txBox="1">
              <a:spLocks noChangeArrowheads="1"/>
            </p:cNvSpPr>
            <p:nvPr/>
          </p:nvSpPr>
          <p:spPr bwMode="auto">
            <a:xfrm>
              <a:off x="3970" y="1205"/>
              <a:ext cx="329" cy="1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200"/>
                <a:t>Clk</a:t>
              </a:r>
            </a:p>
          </p:txBody>
        </p:sp>
        <p:sp>
          <p:nvSpPr>
            <p:cNvPr id="13324" name="Text Box 35"/>
            <p:cNvSpPr txBox="1">
              <a:spLocks noChangeArrowheads="1"/>
            </p:cNvSpPr>
            <p:nvPr/>
          </p:nvSpPr>
          <p:spPr bwMode="auto">
            <a:xfrm>
              <a:off x="4312" y="1880"/>
              <a:ext cx="658" cy="47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45720" bIns="0"/>
            <a:lstStyle/>
            <a:p>
              <a:pPr algn="ctr">
                <a:spcBef>
                  <a:spcPct val="0"/>
                </a:spcBef>
              </a:pPr>
              <a:r>
                <a:rPr lang="en-US" sz="1200"/>
                <a:t>16-bit up counter</a:t>
              </a:r>
            </a:p>
          </p:txBody>
        </p:sp>
        <p:sp>
          <p:nvSpPr>
            <p:cNvPr id="13325" name="Line 36"/>
            <p:cNvSpPr>
              <a:spLocks noChangeShapeType="1"/>
            </p:cNvSpPr>
            <p:nvPr/>
          </p:nvSpPr>
          <p:spPr bwMode="auto">
            <a:xfrm>
              <a:off x="4970" y="1409"/>
              <a:ext cx="43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6" name="Line 37"/>
            <p:cNvSpPr>
              <a:spLocks noChangeShapeType="1"/>
            </p:cNvSpPr>
            <p:nvPr/>
          </p:nvSpPr>
          <p:spPr bwMode="auto">
            <a:xfrm>
              <a:off x="4970" y="2075"/>
              <a:ext cx="43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27" name="Text Box 38"/>
            <p:cNvSpPr txBox="1">
              <a:spLocks noChangeArrowheads="1"/>
            </p:cNvSpPr>
            <p:nvPr/>
          </p:nvSpPr>
          <p:spPr bwMode="auto">
            <a:xfrm>
              <a:off x="5103" y="1285"/>
              <a:ext cx="153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16</a:t>
              </a:r>
            </a:p>
          </p:txBody>
        </p:sp>
        <p:sp>
          <p:nvSpPr>
            <p:cNvPr id="13328" name="Text Box 39"/>
            <p:cNvSpPr txBox="1">
              <a:spLocks noChangeArrowheads="1"/>
            </p:cNvSpPr>
            <p:nvPr/>
          </p:nvSpPr>
          <p:spPr bwMode="auto">
            <a:xfrm>
              <a:off x="5263" y="1920"/>
              <a:ext cx="329" cy="1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Cnt2</a:t>
              </a:r>
            </a:p>
          </p:txBody>
        </p:sp>
        <p:sp>
          <p:nvSpPr>
            <p:cNvPr id="13329" name="Text Box 40"/>
            <p:cNvSpPr txBox="1">
              <a:spLocks noChangeArrowheads="1"/>
            </p:cNvSpPr>
            <p:nvPr/>
          </p:nvSpPr>
          <p:spPr bwMode="auto">
            <a:xfrm>
              <a:off x="5197" y="1534"/>
              <a:ext cx="246" cy="1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27432" tIns="27432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Top1</a:t>
              </a:r>
            </a:p>
          </p:txBody>
        </p:sp>
        <p:sp>
          <p:nvSpPr>
            <p:cNvPr id="13330" name="Freeform 41"/>
            <p:cNvSpPr>
              <a:spLocks/>
            </p:cNvSpPr>
            <p:nvPr/>
          </p:nvSpPr>
          <p:spPr bwMode="auto">
            <a:xfrm>
              <a:off x="3983" y="1526"/>
              <a:ext cx="1206" cy="589"/>
            </a:xfrm>
            <a:custGeom>
              <a:avLst/>
              <a:gdLst>
                <a:gd name="T0" fmla="*/ 1296 w 1584"/>
                <a:gd name="T1" fmla="*/ 0 h 864"/>
                <a:gd name="T2" fmla="*/ 1584 w 1584"/>
                <a:gd name="T3" fmla="*/ 0 h 864"/>
                <a:gd name="T4" fmla="*/ 1584 w 1584"/>
                <a:gd name="T5" fmla="*/ 288 h 864"/>
                <a:gd name="T6" fmla="*/ 0 w 1584"/>
                <a:gd name="T7" fmla="*/ 288 h 864"/>
                <a:gd name="T8" fmla="*/ 0 w 1584"/>
                <a:gd name="T9" fmla="*/ 864 h 864"/>
                <a:gd name="T10" fmla="*/ 432 w 1584"/>
                <a:gd name="T11" fmla="*/ 864 h 86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84"/>
                <a:gd name="T19" fmla="*/ 0 h 864"/>
                <a:gd name="T20" fmla="*/ 1584 w 1584"/>
                <a:gd name="T21" fmla="*/ 864 h 86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84" h="864">
                  <a:moveTo>
                    <a:pt x="1296" y="0"/>
                  </a:moveTo>
                  <a:lnTo>
                    <a:pt x="1584" y="0"/>
                  </a:lnTo>
                  <a:lnTo>
                    <a:pt x="1584" y="288"/>
                  </a:lnTo>
                  <a:lnTo>
                    <a:pt x="0" y="288"/>
                  </a:lnTo>
                  <a:lnTo>
                    <a:pt x="0" y="864"/>
                  </a:lnTo>
                  <a:lnTo>
                    <a:pt x="432" y="864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31" name="Line 44"/>
            <p:cNvSpPr>
              <a:spLocks noChangeShapeType="1"/>
            </p:cNvSpPr>
            <p:nvPr/>
          </p:nvSpPr>
          <p:spPr bwMode="auto">
            <a:xfrm>
              <a:off x="4970" y="2185"/>
              <a:ext cx="43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32" name="Text Box 45"/>
            <p:cNvSpPr txBox="1">
              <a:spLocks noChangeArrowheads="1"/>
            </p:cNvSpPr>
            <p:nvPr/>
          </p:nvSpPr>
          <p:spPr bwMode="auto">
            <a:xfrm>
              <a:off x="4219" y="951"/>
              <a:ext cx="883" cy="1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200" b="1"/>
                <a:t>16/32-bit timer</a:t>
              </a:r>
            </a:p>
          </p:txBody>
        </p:sp>
        <p:sp>
          <p:nvSpPr>
            <p:cNvPr id="13333" name="AutoShape 46"/>
            <p:cNvSpPr>
              <a:spLocks noChangeArrowheads="1"/>
            </p:cNvSpPr>
            <p:nvPr/>
          </p:nvSpPr>
          <p:spPr bwMode="auto">
            <a:xfrm rot="5400000">
              <a:off x="4302" y="1382"/>
              <a:ext cx="88" cy="64"/>
            </a:xfrm>
            <a:prstGeom prst="triangle">
              <a:avLst>
                <a:gd name="adj" fmla="val 50000"/>
              </a:avLst>
            </a:prstGeom>
            <a:noFill/>
            <a:ln w="9525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13334" name="Text Box 82"/>
            <p:cNvSpPr txBox="1">
              <a:spLocks noChangeArrowheads="1"/>
            </p:cNvSpPr>
            <p:nvPr/>
          </p:nvSpPr>
          <p:spPr bwMode="auto">
            <a:xfrm>
              <a:off x="5279" y="1245"/>
              <a:ext cx="257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Cnt1</a:t>
              </a:r>
            </a:p>
          </p:txBody>
        </p:sp>
        <p:sp>
          <p:nvSpPr>
            <p:cNvPr id="13335" name="Text Box 83"/>
            <p:cNvSpPr txBox="1">
              <a:spLocks noChangeArrowheads="1"/>
            </p:cNvSpPr>
            <p:nvPr/>
          </p:nvSpPr>
          <p:spPr bwMode="auto">
            <a:xfrm>
              <a:off x="5055" y="1949"/>
              <a:ext cx="153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16</a:t>
              </a:r>
            </a:p>
          </p:txBody>
        </p:sp>
        <p:sp>
          <p:nvSpPr>
            <p:cNvPr id="13336" name="Line 84"/>
            <p:cNvSpPr>
              <a:spLocks noChangeShapeType="1"/>
            </p:cNvSpPr>
            <p:nvPr/>
          </p:nvSpPr>
          <p:spPr bwMode="auto">
            <a:xfrm flipH="1">
              <a:off x="5096" y="1384"/>
              <a:ext cx="32" cy="56"/>
            </a:xfrm>
            <a:prstGeom prst="line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13337" name="Line 85"/>
            <p:cNvSpPr>
              <a:spLocks noChangeShapeType="1"/>
            </p:cNvSpPr>
            <p:nvPr/>
          </p:nvSpPr>
          <p:spPr bwMode="auto">
            <a:xfrm flipH="1">
              <a:off x="5080" y="2048"/>
              <a:ext cx="24" cy="80"/>
            </a:xfrm>
            <a:prstGeom prst="line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13338" name="AutoShape 86"/>
            <p:cNvSpPr>
              <a:spLocks noChangeArrowheads="1"/>
            </p:cNvSpPr>
            <p:nvPr/>
          </p:nvSpPr>
          <p:spPr bwMode="auto">
            <a:xfrm rot="5400000">
              <a:off x="4302" y="2078"/>
              <a:ext cx="88" cy="64"/>
            </a:xfrm>
            <a:prstGeom prst="triangle">
              <a:avLst>
                <a:gd name="adj" fmla="val 50000"/>
              </a:avLst>
            </a:prstGeom>
            <a:noFill/>
            <a:ln w="9525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886BA086-17C0-4AA9-BF1E-8AEC76146C79}" type="slidenum">
              <a:rPr lang="en-US"/>
              <a:pPr/>
              <a:t>6</a:t>
            </a:fld>
            <a:endParaRPr lang="en-US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Example: Reaction Timer</a:t>
            </a:r>
          </a:p>
        </p:txBody>
      </p:sp>
      <p:grpSp>
        <p:nvGrpSpPr>
          <p:cNvPr id="14340" name="Group 4"/>
          <p:cNvGrpSpPr>
            <a:grpSpLocks/>
          </p:cNvGrpSpPr>
          <p:nvPr/>
        </p:nvGrpSpPr>
        <p:grpSpPr bwMode="auto">
          <a:xfrm>
            <a:off x="1901825" y="1543050"/>
            <a:ext cx="3729038" cy="1085850"/>
            <a:chOff x="3240" y="1699"/>
            <a:chExt cx="4652" cy="1129"/>
          </a:xfrm>
        </p:grpSpPr>
        <p:sp>
          <p:nvSpPr>
            <p:cNvPr id="14343" name="Rectangle 5"/>
            <p:cNvSpPr>
              <a:spLocks noChangeArrowheads="1"/>
            </p:cNvSpPr>
            <p:nvPr/>
          </p:nvSpPr>
          <p:spPr bwMode="auto">
            <a:xfrm>
              <a:off x="4436" y="1699"/>
              <a:ext cx="2155" cy="112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endParaRPr lang="en-US" sz="1300"/>
            </a:p>
          </p:txBody>
        </p:sp>
        <p:sp>
          <p:nvSpPr>
            <p:cNvPr id="14344" name="Oval 6"/>
            <p:cNvSpPr>
              <a:spLocks noChangeArrowheads="1"/>
            </p:cNvSpPr>
            <p:nvPr/>
          </p:nvSpPr>
          <p:spPr bwMode="auto">
            <a:xfrm>
              <a:off x="4986" y="1863"/>
              <a:ext cx="246" cy="24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45" name="Text Box 7"/>
            <p:cNvSpPr txBox="1">
              <a:spLocks noChangeArrowheads="1"/>
            </p:cNvSpPr>
            <p:nvPr/>
          </p:nvSpPr>
          <p:spPr bwMode="auto">
            <a:xfrm>
              <a:off x="3240" y="1747"/>
              <a:ext cx="815" cy="4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300"/>
                <a:t>indicator light</a:t>
              </a:r>
            </a:p>
          </p:txBody>
        </p:sp>
        <p:sp>
          <p:nvSpPr>
            <p:cNvPr id="14346" name="Oval 8"/>
            <p:cNvSpPr>
              <a:spLocks noChangeArrowheads="1"/>
            </p:cNvSpPr>
            <p:nvPr/>
          </p:nvSpPr>
          <p:spPr bwMode="auto">
            <a:xfrm>
              <a:off x="5771" y="1882"/>
              <a:ext cx="219" cy="217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4347" name="Text Box 9"/>
            <p:cNvSpPr txBox="1">
              <a:spLocks noChangeArrowheads="1"/>
            </p:cNvSpPr>
            <p:nvPr/>
          </p:nvSpPr>
          <p:spPr bwMode="auto">
            <a:xfrm>
              <a:off x="7172" y="1699"/>
              <a:ext cx="720" cy="4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300"/>
                <a:t>reaction button</a:t>
              </a:r>
            </a:p>
          </p:txBody>
        </p:sp>
        <p:grpSp>
          <p:nvGrpSpPr>
            <p:cNvPr id="14348" name="Group 10"/>
            <p:cNvGrpSpPr>
              <a:grpSpLocks/>
            </p:cNvGrpSpPr>
            <p:nvPr/>
          </p:nvGrpSpPr>
          <p:grpSpPr bwMode="auto">
            <a:xfrm>
              <a:off x="4868" y="2275"/>
              <a:ext cx="1310" cy="428"/>
              <a:chOff x="4709" y="2309"/>
              <a:chExt cx="1310" cy="428"/>
            </a:xfrm>
          </p:grpSpPr>
          <p:sp>
            <p:nvSpPr>
              <p:cNvPr id="14354" name="Rectangle 11"/>
              <p:cNvSpPr>
                <a:spLocks noChangeArrowheads="1"/>
              </p:cNvSpPr>
              <p:nvPr/>
            </p:nvSpPr>
            <p:spPr bwMode="auto">
              <a:xfrm>
                <a:off x="4709" y="2309"/>
                <a:ext cx="1310" cy="428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4355" name="Rectangle 12"/>
              <p:cNvSpPr>
                <a:spLocks noChangeArrowheads="1"/>
              </p:cNvSpPr>
              <p:nvPr/>
            </p:nvSpPr>
            <p:spPr bwMode="auto">
              <a:xfrm>
                <a:off x="4763" y="2358"/>
                <a:ext cx="1188" cy="322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endParaRPr lang="en-US"/>
              </a:p>
            </p:txBody>
          </p:sp>
          <p:sp>
            <p:nvSpPr>
              <p:cNvPr id="14356" name="Text Box 13"/>
              <p:cNvSpPr txBox="1">
                <a:spLocks noChangeArrowheads="1"/>
              </p:cNvSpPr>
              <p:nvPr/>
            </p:nvSpPr>
            <p:spPr bwMode="auto">
              <a:xfrm>
                <a:off x="4799" y="2382"/>
                <a:ext cx="1174" cy="2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>
                  <a:spcBef>
                    <a:spcPct val="0"/>
                  </a:spcBef>
                </a:pPr>
                <a:r>
                  <a:rPr lang="en-US" sz="1300">
                    <a:solidFill>
                      <a:srgbClr val="808080"/>
                    </a:solidFill>
                  </a:rPr>
                  <a:t>time: 100 ms</a:t>
                </a:r>
              </a:p>
            </p:txBody>
          </p:sp>
        </p:grpSp>
        <p:sp>
          <p:nvSpPr>
            <p:cNvPr id="14349" name="Line 14"/>
            <p:cNvSpPr>
              <a:spLocks noChangeShapeType="1"/>
            </p:cNvSpPr>
            <p:nvPr/>
          </p:nvSpPr>
          <p:spPr bwMode="auto">
            <a:xfrm>
              <a:off x="4004" y="2419"/>
              <a:ext cx="7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50" name="Line 15"/>
            <p:cNvSpPr>
              <a:spLocks noChangeShapeType="1"/>
            </p:cNvSpPr>
            <p:nvPr/>
          </p:nvSpPr>
          <p:spPr bwMode="auto">
            <a:xfrm>
              <a:off x="4004" y="1987"/>
              <a:ext cx="7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51" name="Line 16"/>
            <p:cNvSpPr>
              <a:spLocks noChangeShapeType="1"/>
            </p:cNvSpPr>
            <p:nvPr/>
          </p:nvSpPr>
          <p:spPr bwMode="auto">
            <a:xfrm flipH="1">
              <a:off x="6308" y="1987"/>
              <a:ext cx="7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352" name="Rectangle 17"/>
            <p:cNvSpPr>
              <a:spLocks noChangeArrowheads="1"/>
            </p:cNvSpPr>
            <p:nvPr/>
          </p:nvSpPr>
          <p:spPr bwMode="auto">
            <a:xfrm>
              <a:off x="5732" y="1843"/>
              <a:ext cx="300" cy="293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14353" name="Rectangle 18"/>
            <p:cNvSpPr>
              <a:spLocks noChangeArrowheads="1"/>
            </p:cNvSpPr>
            <p:nvPr/>
          </p:nvSpPr>
          <p:spPr bwMode="auto">
            <a:xfrm>
              <a:off x="3485" y="2337"/>
              <a:ext cx="424" cy="2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300"/>
                <a:t>LCD</a:t>
              </a:r>
            </a:p>
          </p:txBody>
        </p:sp>
      </p:grpSp>
      <p:sp>
        <p:nvSpPr>
          <p:cNvPr id="14341" name="Text Box 19"/>
          <p:cNvSpPr txBox="1">
            <a:spLocks noChangeArrowheads="1"/>
          </p:cNvSpPr>
          <p:nvPr/>
        </p:nvSpPr>
        <p:spPr bwMode="auto">
          <a:xfrm>
            <a:off x="5811838" y="1566863"/>
            <a:ext cx="3027362" cy="44053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tIns="91440" bIns="91440"/>
          <a:lstStyle/>
          <a:p>
            <a:pPr>
              <a:spcBef>
                <a:spcPct val="0"/>
              </a:spcBef>
            </a:pPr>
            <a:r>
              <a:rPr lang="en-US" sz="1000"/>
              <a:t>   </a:t>
            </a:r>
            <a:r>
              <a:rPr lang="en-US" sz="1100"/>
              <a:t>/* main.c */</a:t>
            </a:r>
          </a:p>
          <a:p>
            <a:pPr>
              <a:spcBef>
                <a:spcPct val="0"/>
              </a:spcBef>
            </a:pPr>
            <a:endParaRPr lang="en-US" sz="1100"/>
          </a:p>
          <a:p>
            <a:pPr>
              <a:spcBef>
                <a:spcPct val="0"/>
              </a:spcBef>
            </a:pPr>
            <a:r>
              <a:rPr lang="en-US" sz="1100"/>
              <a:t>   #define MS_INIT       63535</a:t>
            </a:r>
          </a:p>
          <a:p>
            <a:pPr>
              <a:spcBef>
                <a:spcPct val="0"/>
              </a:spcBef>
            </a:pPr>
            <a:r>
              <a:rPr lang="en-US" sz="1100"/>
              <a:t>   void main(void){</a:t>
            </a:r>
          </a:p>
          <a:p>
            <a:pPr>
              <a:spcBef>
                <a:spcPct val="0"/>
              </a:spcBef>
            </a:pPr>
            <a:r>
              <a:rPr lang="en-US" sz="1100"/>
              <a:t>      int count_milliseconds = 0;   </a:t>
            </a:r>
          </a:p>
          <a:p>
            <a:pPr>
              <a:spcBef>
                <a:spcPct val="0"/>
              </a:spcBef>
            </a:pPr>
            <a:r>
              <a:rPr lang="en-US" sz="1100"/>
              <a:t>      </a:t>
            </a:r>
          </a:p>
          <a:p>
            <a:pPr>
              <a:spcBef>
                <a:spcPct val="0"/>
              </a:spcBef>
            </a:pPr>
            <a:r>
              <a:rPr lang="en-US" sz="1100"/>
              <a:t>      configure timer mode</a:t>
            </a:r>
          </a:p>
          <a:p>
            <a:pPr>
              <a:spcBef>
                <a:spcPct val="0"/>
              </a:spcBef>
            </a:pPr>
            <a:r>
              <a:rPr lang="en-US" sz="1100"/>
              <a:t>      set Cnt to MS_INIT</a:t>
            </a:r>
          </a:p>
          <a:p>
            <a:pPr>
              <a:spcBef>
                <a:spcPct val="0"/>
              </a:spcBef>
            </a:pPr>
            <a:endParaRPr lang="en-US" sz="1100"/>
          </a:p>
          <a:p>
            <a:pPr>
              <a:spcBef>
                <a:spcPct val="0"/>
              </a:spcBef>
            </a:pPr>
            <a:r>
              <a:rPr lang="en-US" sz="1100"/>
              <a:t>      wait a random amount of time</a:t>
            </a:r>
          </a:p>
          <a:p>
            <a:pPr>
              <a:spcBef>
                <a:spcPct val="0"/>
              </a:spcBef>
            </a:pPr>
            <a:r>
              <a:rPr lang="en-US" sz="1100"/>
              <a:t>      turn on indicator light</a:t>
            </a:r>
          </a:p>
          <a:p>
            <a:pPr>
              <a:spcBef>
                <a:spcPct val="0"/>
              </a:spcBef>
            </a:pPr>
            <a:r>
              <a:rPr lang="en-US" sz="1100"/>
              <a:t>      start timer</a:t>
            </a:r>
          </a:p>
          <a:p>
            <a:pPr>
              <a:spcBef>
                <a:spcPct val="0"/>
              </a:spcBef>
            </a:pPr>
            <a:endParaRPr lang="en-US" sz="1100"/>
          </a:p>
          <a:p>
            <a:pPr>
              <a:spcBef>
                <a:spcPct val="0"/>
              </a:spcBef>
            </a:pPr>
            <a:r>
              <a:rPr lang="en-US" sz="1100"/>
              <a:t>while (user has not pushed reaction button){</a:t>
            </a:r>
          </a:p>
          <a:p>
            <a:pPr>
              <a:spcBef>
                <a:spcPct val="0"/>
              </a:spcBef>
            </a:pPr>
            <a:r>
              <a:rPr lang="en-US" sz="1100"/>
              <a:t>      if(Top) {</a:t>
            </a:r>
          </a:p>
          <a:p>
            <a:pPr>
              <a:spcBef>
                <a:spcPct val="0"/>
              </a:spcBef>
            </a:pPr>
            <a:r>
              <a:rPr lang="en-US" sz="1100"/>
              <a:t>         stop timer</a:t>
            </a:r>
          </a:p>
          <a:p>
            <a:pPr>
              <a:spcBef>
                <a:spcPct val="0"/>
              </a:spcBef>
            </a:pPr>
            <a:r>
              <a:rPr lang="en-US" sz="1100"/>
              <a:t>         set Cnt to MS_INIT</a:t>
            </a:r>
          </a:p>
          <a:p>
            <a:pPr>
              <a:spcBef>
                <a:spcPct val="0"/>
              </a:spcBef>
            </a:pPr>
            <a:r>
              <a:rPr lang="en-US" sz="1100"/>
              <a:t>         start timer</a:t>
            </a:r>
          </a:p>
          <a:p>
            <a:pPr>
              <a:spcBef>
                <a:spcPct val="0"/>
              </a:spcBef>
            </a:pPr>
            <a:r>
              <a:rPr lang="en-US" sz="1100"/>
              <a:t>         reset Top </a:t>
            </a:r>
          </a:p>
          <a:p>
            <a:pPr>
              <a:spcBef>
                <a:spcPct val="0"/>
              </a:spcBef>
            </a:pPr>
            <a:r>
              <a:rPr lang="en-US" sz="1100"/>
              <a:t>         count_milliseconds++;</a:t>
            </a:r>
          </a:p>
          <a:p>
            <a:pPr>
              <a:spcBef>
                <a:spcPct val="0"/>
              </a:spcBef>
            </a:pPr>
            <a:r>
              <a:rPr lang="en-US" sz="1100"/>
              <a:t>      }</a:t>
            </a:r>
          </a:p>
          <a:p>
            <a:pPr>
              <a:spcBef>
                <a:spcPct val="0"/>
              </a:spcBef>
            </a:pPr>
            <a:r>
              <a:rPr lang="en-US" sz="1100"/>
              <a:t>   }</a:t>
            </a:r>
          </a:p>
          <a:p>
            <a:pPr>
              <a:spcBef>
                <a:spcPct val="0"/>
              </a:spcBef>
            </a:pPr>
            <a:r>
              <a:rPr lang="en-US" sz="1100"/>
              <a:t>   turn light off</a:t>
            </a:r>
          </a:p>
          <a:p>
            <a:pPr>
              <a:spcBef>
                <a:spcPct val="0"/>
              </a:spcBef>
            </a:pPr>
            <a:r>
              <a:rPr lang="en-US" sz="1100"/>
              <a:t>   printf(“time:  %i ms“, count_milliseconds);</a:t>
            </a:r>
          </a:p>
          <a:p>
            <a:pPr>
              <a:spcBef>
                <a:spcPct val="0"/>
              </a:spcBef>
            </a:pPr>
            <a:r>
              <a:rPr lang="en-US" sz="1100"/>
              <a:t>}</a:t>
            </a:r>
          </a:p>
          <a:p>
            <a:pPr>
              <a:spcBef>
                <a:spcPct val="0"/>
              </a:spcBef>
            </a:pPr>
            <a:endParaRPr lang="en-US" sz="1100"/>
          </a:p>
          <a:p>
            <a:pPr>
              <a:spcBef>
                <a:spcPct val="0"/>
              </a:spcBef>
            </a:pPr>
            <a:r>
              <a:rPr lang="en-US" sz="1100"/>
              <a:t>   </a:t>
            </a:r>
          </a:p>
        </p:txBody>
      </p:sp>
      <p:sp>
        <p:nvSpPr>
          <p:cNvPr id="14342" name="Rectangle 22"/>
          <p:cNvSpPr>
            <a:spLocks noGrp="1" noChangeArrowheads="1"/>
          </p:cNvSpPr>
          <p:nvPr>
            <p:ph type="body" idx="1"/>
          </p:nvPr>
        </p:nvSpPr>
        <p:spPr>
          <a:xfrm>
            <a:off x="247650" y="2620963"/>
            <a:ext cx="5478463" cy="3021012"/>
          </a:xfrm>
          <a:noFill/>
        </p:spPr>
        <p:txBody>
          <a:bodyPr/>
          <a:lstStyle/>
          <a:p>
            <a:r>
              <a:rPr kumimoji="0" lang="en-US" sz="2400" smtClean="0"/>
              <a:t>Measure time between turning light on and user pushing button</a:t>
            </a:r>
          </a:p>
          <a:p>
            <a:pPr lvl="1"/>
            <a:r>
              <a:rPr kumimoji="0" lang="en-US" sz="2000" smtClean="0"/>
              <a:t>16-bit timer, clk period is 83.33 ns, counter increments every 6 cycles</a:t>
            </a:r>
          </a:p>
          <a:p>
            <a:pPr lvl="1"/>
            <a:r>
              <a:rPr kumimoji="0" lang="en-US" sz="2000" smtClean="0"/>
              <a:t>Resolution = 6*83.33=0.5 microsec.</a:t>
            </a:r>
          </a:p>
          <a:p>
            <a:pPr lvl="1"/>
            <a:r>
              <a:rPr kumimoji="0" lang="en-US" sz="2000" smtClean="0"/>
              <a:t>Range = 65535*0.5 microseconds = 32.77 milliseconds</a:t>
            </a:r>
          </a:p>
          <a:p>
            <a:pPr lvl="1"/>
            <a:r>
              <a:rPr kumimoji="0" lang="en-US" sz="2000" smtClean="0"/>
              <a:t>Want program to count millisec., so initialize counter to 65535 – 1000/0.5 = 63535</a:t>
            </a:r>
            <a:endParaRPr lang="en-US" sz="1800" smtClean="0"/>
          </a:p>
          <a:p>
            <a:pPr lvl="1"/>
            <a:endParaRPr kumimoji="0" lang="en-US" sz="180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71BA72DB-A67E-4441-96CC-E74ED9E891F7}" type="slidenum">
              <a:rPr lang="en-US"/>
              <a:pPr/>
              <a:t>7</a:t>
            </a:fld>
            <a:endParaRPr lang="en-US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Watchdog timer</a:t>
            </a:r>
          </a:p>
        </p:txBody>
      </p:sp>
      <p:grpSp>
        <p:nvGrpSpPr>
          <p:cNvPr id="15364" name="Group 22"/>
          <p:cNvGrpSpPr>
            <a:grpSpLocks/>
          </p:cNvGrpSpPr>
          <p:nvPr/>
        </p:nvGrpSpPr>
        <p:grpSpPr bwMode="auto">
          <a:xfrm>
            <a:off x="2968625" y="1655763"/>
            <a:ext cx="5938838" cy="1200150"/>
            <a:chOff x="884" y="1043"/>
            <a:chExt cx="3914" cy="756"/>
          </a:xfrm>
        </p:grpSpPr>
        <p:sp>
          <p:nvSpPr>
            <p:cNvPr id="15368" name="Text Box 5"/>
            <p:cNvSpPr txBox="1">
              <a:spLocks noChangeArrowheads="1"/>
            </p:cNvSpPr>
            <p:nvPr/>
          </p:nvSpPr>
          <p:spPr bwMode="auto">
            <a:xfrm>
              <a:off x="884" y="1043"/>
              <a:ext cx="3914" cy="756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 type="none" w="sm" len="med"/>
            </a:ln>
          </p:spPr>
          <p:txBody>
            <a:bodyPr/>
            <a:lstStyle/>
            <a:p>
              <a:pPr algn="ctr">
                <a:spcBef>
                  <a:spcPct val="0"/>
                </a:spcBef>
              </a:pPr>
              <a:endParaRPr lang="en-US" sz="1200"/>
            </a:p>
          </p:txBody>
        </p:sp>
        <p:sp>
          <p:nvSpPr>
            <p:cNvPr id="15369" name="Text Box 6"/>
            <p:cNvSpPr txBox="1">
              <a:spLocks noChangeArrowheads="1"/>
            </p:cNvSpPr>
            <p:nvPr/>
          </p:nvSpPr>
          <p:spPr bwMode="auto">
            <a:xfrm>
              <a:off x="2104" y="1201"/>
              <a:ext cx="454" cy="177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200"/>
                <a:t>scalereg</a:t>
              </a:r>
            </a:p>
          </p:txBody>
        </p:sp>
        <p:sp>
          <p:nvSpPr>
            <p:cNvPr id="15370" name="Text Box 7"/>
            <p:cNvSpPr txBox="1">
              <a:spLocks noChangeArrowheads="1"/>
            </p:cNvSpPr>
            <p:nvPr/>
          </p:nvSpPr>
          <p:spPr bwMode="auto">
            <a:xfrm>
              <a:off x="3088" y="1559"/>
              <a:ext cx="464" cy="18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200"/>
                <a:t>checkreg</a:t>
              </a:r>
            </a:p>
          </p:txBody>
        </p:sp>
        <p:sp>
          <p:nvSpPr>
            <p:cNvPr id="15371" name="Text Box 8"/>
            <p:cNvSpPr txBox="1">
              <a:spLocks noChangeArrowheads="1"/>
            </p:cNvSpPr>
            <p:nvPr/>
          </p:nvSpPr>
          <p:spPr bwMode="auto">
            <a:xfrm>
              <a:off x="3088" y="1201"/>
              <a:ext cx="454" cy="177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200"/>
                <a:t>timereg</a:t>
              </a:r>
            </a:p>
          </p:txBody>
        </p:sp>
        <p:sp>
          <p:nvSpPr>
            <p:cNvPr id="15372" name="Text Box 9"/>
            <p:cNvSpPr txBox="1">
              <a:spLocks noChangeArrowheads="1"/>
            </p:cNvSpPr>
            <p:nvPr/>
          </p:nvSpPr>
          <p:spPr bwMode="auto">
            <a:xfrm>
              <a:off x="4082" y="1153"/>
              <a:ext cx="628" cy="6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200"/>
                <a:t>to system reset</a:t>
              </a:r>
            </a:p>
            <a:p>
              <a:pPr algn="ctr">
                <a:spcBef>
                  <a:spcPct val="0"/>
                </a:spcBef>
              </a:pPr>
              <a:r>
                <a:rPr lang="en-US" sz="1200"/>
                <a:t>or</a:t>
              </a:r>
            </a:p>
            <a:p>
              <a:pPr algn="ctr">
                <a:spcBef>
                  <a:spcPct val="0"/>
                </a:spcBef>
              </a:pPr>
              <a:r>
                <a:rPr lang="en-US" sz="1200"/>
                <a:t>interrupt</a:t>
              </a:r>
            </a:p>
          </p:txBody>
        </p:sp>
        <p:sp>
          <p:nvSpPr>
            <p:cNvPr id="15373" name="Text Box 10"/>
            <p:cNvSpPr txBox="1">
              <a:spLocks noChangeArrowheads="1"/>
            </p:cNvSpPr>
            <p:nvPr/>
          </p:nvSpPr>
          <p:spPr bwMode="auto">
            <a:xfrm>
              <a:off x="1030" y="1108"/>
              <a:ext cx="181" cy="1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200"/>
                <a:t>osc</a:t>
              </a:r>
            </a:p>
          </p:txBody>
        </p:sp>
        <p:sp>
          <p:nvSpPr>
            <p:cNvPr id="15374" name="Freeform 11"/>
            <p:cNvSpPr>
              <a:spLocks/>
            </p:cNvSpPr>
            <p:nvPr/>
          </p:nvSpPr>
          <p:spPr bwMode="auto">
            <a:xfrm>
              <a:off x="1815" y="1288"/>
              <a:ext cx="289" cy="45"/>
            </a:xfrm>
            <a:custGeom>
              <a:avLst/>
              <a:gdLst>
                <a:gd name="T0" fmla="*/ 0 w 520"/>
                <a:gd name="T1" fmla="*/ 0 h 1"/>
                <a:gd name="T2" fmla="*/ 520 w 520"/>
                <a:gd name="T3" fmla="*/ 0 h 1"/>
                <a:gd name="T4" fmla="*/ 0 60000 65536"/>
                <a:gd name="T5" fmla="*/ 0 60000 65536"/>
                <a:gd name="T6" fmla="*/ 0 w 520"/>
                <a:gd name="T7" fmla="*/ 0 h 1"/>
                <a:gd name="T8" fmla="*/ 520 w 520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20" h="1">
                  <a:moveTo>
                    <a:pt x="0" y="0"/>
                  </a:moveTo>
                  <a:lnTo>
                    <a:pt x="52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75" name="Freeform 12"/>
            <p:cNvSpPr>
              <a:spLocks/>
            </p:cNvSpPr>
            <p:nvPr/>
          </p:nvSpPr>
          <p:spPr bwMode="auto">
            <a:xfrm>
              <a:off x="2564" y="1286"/>
              <a:ext cx="524" cy="2"/>
            </a:xfrm>
            <a:custGeom>
              <a:avLst/>
              <a:gdLst>
                <a:gd name="T0" fmla="*/ 0 w 913"/>
                <a:gd name="T1" fmla="*/ 0 h 3"/>
                <a:gd name="T2" fmla="*/ 913 w 913"/>
                <a:gd name="T3" fmla="*/ 3 h 3"/>
                <a:gd name="T4" fmla="*/ 0 60000 65536"/>
                <a:gd name="T5" fmla="*/ 0 60000 65536"/>
                <a:gd name="T6" fmla="*/ 0 w 913"/>
                <a:gd name="T7" fmla="*/ 0 h 3"/>
                <a:gd name="T8" fmla="*/ 913 w 913"/>
                <a:gd name="T9" fmla="*/ 3 h 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913" h="3">
                  <a:moveTo>
                    <a:pt x="0" y="0"/>
                  </a:moveTo>
                  <a:lnTo>
                    <a:pt x="913" y="3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76" name="Freeform 13"/>
            <p:cNvSpPr>
              <a:spLocks/>
            </p:cNvSpPr>
            <p:nvPr/>
          </p:nvSpPr>
          <p:spPr bwMode="auto">
            <a:xfrm>
              <a:off x="3542" y="1286"/>
              <a:ext cx="485" cy="3"/>
            </a:xfrm>
            <a:custGeom>
              <a:avLst/>
              <a:gdLst>
                <a:gd name="T0" fmla="*/ 0 w 845"/>
                <a:gd name="T1" fmla="*/ 4 h 4"/>
                <a:gd name="T2" fmla="*/ 845 w 845"/>
                <a:gd name="T3" fmla="*/ 0 h 4"/>
                <a:gd name="T4" fmla="*/ 0 60000 65536"/>
                <a:gd name="T5" fmla="*/ 0 60000 65536"/>
                <a:gd name="T6" fmla="*/ 0 w 845"/>
                <a:gd name="T7" fmla="*/ 0 h 4"/>
                <a:gd name="T8" fmla="*/ 845 w 845"/>
                <a:gd name="T9" fmla="*/ 4 h 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45" h="4">
                  <a:moveTo>
                    <a:pt x="0" y="4"/>
                  </a:moveTo>
                  <a:lnTo>
                    <a:pt x="845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77" name="Freeform 14"/>
            <p:cNvSpPr>
              <a:spLocks/>
            </p:cNvSpPr>
            <p:nvPr/>
          </p:nvSpPr>
          <p:spPr bwMode="auto">
            <a:xfrm>
              <a:off x="3294" y="1378"/>
              <a:ext cx="42" cy="181"/>
            </a:xfrm>
            <a:custGeom>
              <a:avLst/>
              <a:gdLst>
                <a:gd name="T0" fmla="*/ 0 w 1"/>
                <a:gd name="T1" fmla="*/ 400 h 400"/>
                <a:gd name="T2" fmla="*/ 0 w 1"/>
                <a:gd name="T3" fmla="*/ 0 h 400"/>
                <a:gd name="T4" fmla="*/ 0 60000 65536"/>
                <a:gd name="T5" fmla="*/ 0 60000 65536"/>
                <a:gd name="T6" fmla="*/ 0 w 1"/>
                <a:gd name="T7" fmla="*/ 0 h 400"/>
                <a:gd name="T8" fmla="*/ 1 w 1"/>
                <a:gd name="T9" fmla="*/ 400 h 4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00">
                  <a:moveTo>
                    <a:pt x="0" y="40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78" name="Text Box 15"/>
            <p:cNvSpPr txBox="1">
              <a:spLocks noChangeArrowheads="1"/>
            </p:cNvSpPr>
            <p:nvPr/>
          </p:nvSpPr>
          <p:spPr bwMode="auto">
            <a:xfrm>
              <a:off x="1856" y="1108"/>
              <a:ext cx="181" cy="1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200"/>
                <a:t>clk</a:t>
              </a:r>
            </a:p>
          </p:txBody>
        </p:sp>
        <p:sp>
          <p:nvSpPr>
            <p:cNvPr id="15379" name="Text Box 16"/>
            <p:cNvSpPr txBox="1">
              <a:spLocks noChangeArrowheads="1"/>
            </p:cNvSpPr>
            <p:nvPr/>
          </p:nvSpPr>
          <p:spPr bwMode="auto">
            <a:xfrm>
              <a:off x="1361" y="1201"/>
              <a:ext cx="454" cy="177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200"/>
                <a:t>prescaler</a:t>
              </a:r>
            </a:p>
          </p:txBody>
        </p:sp>
        <p:sp>
          <p:nvSpPr>
            <p:cNvPr id="15380" name="Freeform 17"/>
            <p:cNvSpPr>
              <a:spLocks/>
            </p:cNvSpPr>
            <p:nvPr/>
          </p:nvSpPr>
          <p:spPr bwMode="auto">
            <a:xfrm>
              <a:off x="1072" y="1288"/>
              <a:ext cx="289" cy="45"/>
            </a:xfrm>
            <a:custGeom>
              <a:avLst/>
              <a:gdLst>
                <a:gd name="T0" fmla="*/ 0 w 520"/>
                <a:gd name="T1" fmla="*/ 0 h 1"/>
                <a:gd name="T2" fmla="*/ 520 w 520"/>
                <a:gd name="T3" fmla="*/ 0 h 1"/>
                <a:gd name="T4" fmla="*/ 0 60000 65536"/>
                <a:gd name="T5" fmla="*/ 0 60000 65536"/>
                <a:gd name="T6" fmla="*/ 0 w 520"/>
                <a:gd name="T7" fmla="*/ 0 h 1"/>
                <a:gd name="T8" fmla="*/ 520 w 520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20" h="1">
                  <a:moveTo>
                    <a:pt x="0" y="0"/>
                  </a:moveTo>
                  <a:lnTo>
                    <a:pt x="52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81" name="Text Box 18"/>
            <p:cNvSpPr txBox="1">
              <a:spLocks noChangeArrowheads="1"/>
            </p:cNvSpPr>
            <p:nvPr/>
          </p:nvSpPr>
          <p:spPr bwMode="auto">
            <a:xfrm>
              <a:off x="2584" y="1111"/>
              <a:ext cx="445" cy="1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200"/>
                <a:t>overflow</a:t>
              </a:r>
            </a:p>
          </p:txBody>
        </p:sp>
        <p:sp>
          <p:nvSpPr>
            <p:cNvPr id="15382" name="Text Box 19"/>
            <p:cNvSpPr txBox="1">
              <a:spLocks noChangeArrowheads="1"/>
            </p:cNvSpPr>
            <p:nvPr/>
          </p:nvSpPr>
          <p:spPr bwMode="auto">
            <a:xfrm>
              <a:off x="3542" y="1111"/>
              <a:ext cx="463" cy="1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200"/>
                <a:t>overflow</a:t>
              </a:r>
            </a:p>
          </p:txBody>
        </p:sp>
      </p:grpSp>
      <p:sp>
        <p:nvSpPr>
          <p:cNvPr id="15365" name="Text Box 20"/>
          <p:cNvSpPr txBox="1">
            <a:spLocks noChangeArrowheads="1"/>
          </p:cNvSpPr>
          <p:nvPr/>
        </p:nvSpPr>
        <p:spPr bwMode="auto">
          <a:xfrm>
            <a:off x="2979738" y="3101975"/>
            <a:ext cx="2741612" cy="28892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 type="none" w="sm" len="med"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sz="1100"/>
              <a:t>/* main.c */</a:t>
            </a:r>
          </a:p>
          <a:p>
            <a:pPr>
              <a:spcBef>
                <a:spcPct val="0"/>
              </a:spcBef>
            </a:pPr>
            <a:endParaRPr lang="en-US" sz="1100"/>
          </a:p>
          <a:p>
            <a:pPr>
              <a:spcBef>
                <a:spcPct val="0"/>
              </a:spcBef>
            </a:pPr>
            <a:r>
              <a:rPr lang="en-US" sz="1100"/>
              <a:t>main(){</a:t>
            </a:r>
          </a:p>
          <a:p>
            <a:pPr>
              <a:spcBef>
                <a:spcPct val="0"/>
              </a:spcBef>
            </a:pPr>
            <a:r>
              <a:rPr lang="en-US" sz="1100"/>
              <a:t>   wait until card inserted</a:t>
            </a:r>
          </a:p>
          <a:p>
            <a:pPr>
              <a:spcBef>
                <a:spcPct val="0"/>
              </a:spcBef>
            </a:pPr>
            <a:r>
              <a:rPr lang="en-US" sz="1100"/>
              <a:t>   call watchdog_reset_routine</a:t>
            </a:r>
          </a:p>
          <a:p>
            <a:pPr>
              <a:spcBef>
                <a:spcPct val="0"/>
              </a:spcBef>
            </a:pPr>
            <a:r>
              <a:rPr lang="en-US" sz="1100"/>
              <a:t>   </a:t>
            </a:r>
          </a:p>
          <a:p>
            <a:pPr>
              <a:spcBef>
                <a:spcPct val="0"/>
              </a:spcBef>
            </a:pPr>
            <a:r>
              <a:rPr lang="en-US" sz="1100"/>
              <a:t>   while(transaction in progress){</a:t>
            </a:r>
          </a:p>
          <a:p>
            <a:pPr>
              <a:spcBef>
                <a:spcPct val="0"/>
              </a:spcBef>
            </a:pPr>
            <a:r>
              <a:rPr lang="en-US" sz="1100"/>
              <a:t>      if(button pressed){</a:t>
            </a:r>
          </a:p>
          <a:p>
            <a:pPr>
              <a:spcBef>
                <a:spcPct val="0"/>
              </a:spcBef>
            </a:pPr>
            <a:r>
              <a:rPr lang="en-US" sz="1100"/>
              <a:t>         perform corresponding action</a:t>
            </a:r>
          </a:p>
          <a:p>
            <a:pPr>
              <a:spcBef>
                <a:spcPct val="0"/>
              </a:spcBef>
            </a:pPr>
            <a:r>
              <a:rPr lang="en-US" sz="1100"/>
              <a:t>         call watchdog_reset_routine</a:t>
            </a:r>
          </a:p>
          <a:p>
            <a:pPr>
              <a:spcBef>
                <a:spcPct val="0"/>
              </a:spcBef>
            </a:pPr>
            <a:r>
              <a:rPr lang="en-US" sz="1100"/>
              <a:t>      }</a:t>
            </a:r>
          </a:p>
          <a:p>
            <a:pPr>
              <a:spcBef>
                <a:spcPct val="0"/>
              </a:spcBef>
            </a:pPr>
            <a:endParaRPr lang="en-US" sz="1100"/>
          </a:p>
          <a:p>
            <a:pPr>
              <a:spcBef>
                <a:spcPct val="0"/>
              </a:spcBef>
            </a:pPr>
            <a:r>
              <a:rPr lang="en-US" sz="1100"/>
              <a:t>/* if watchdog_reset_routine not called every &lt; 2 minutes, interrupt_service_routine is called */</a:t>
            </a:r>
          </a:p>
          <a:p>
            <a:pPr>
              <a:spcBef>
                <a:spcPct val="0"/>
              </a:spcBef>
            </a:pPr>
            <a:r>
              <a:rPr lang="en-US" sz="1100"/>
              <a:t>}</a:t>
            </a:r>
          </a:p>
          <a:p>
            <a:pPr>
              <a:spcBef>
                <a:spcPct val="0"/>
              </a:spcBef>
            </a:pPr>
            <a:endParaRPr lang="en-US" sz="1100"/>
          </a:p>
          <a:p>
            <a:pPr>
              <a:spcBef>
                <a:spcPct val="0"/>
              </a:spcBef>
            </a:pPr>
            <a:endParaRPr lang="en-US" sz="1100"/>
          </a:p>
        </p:txBody>
      </p:sp>
      <p:sp>
        <p:nvSpPr>
          <p:cNvPr id="15366" name="Text Box 21"/>
          <p:cNvSpPr txBox="1">
            <a:spLocks noChangeArrowheads="1"/>
          </p:cNvSpPr>
          <p:nvPr/>
        </p:nvSpPr>
        <p:spPr bwMode="auto">
          <a:xfrm>
            <a:off x="5907088" y="3101975"/>
            <a:ext cx="2741612" cy="29051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 type="none" w="sm" len="med"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sz="1100"/>
              <a:t>watchdog_reset_routine(){</a:t>
            </a:r>
          </a:p>
          <a:p>
            <a:pPr>
              <a:spcBef>
                <a:spcPct val="0"/>
              </a:spcBef>
            </a:pPr>
            <a:r>
              <a:rPr lang="en-US" sz="1100"/>
              <a:t>/* checkreg is set so we can load value into timereg.  Zero is loaded into scalereg and 11070 is loaded into timereg */</a:t>
            </a:r>
          </a:p>
          <a:p>
            <a:pPr>
              <a:spcBef>
                <a:spcPct val="0"/>
              </a:spcBef>
            </a:pPr>
            <a:endParaRPr lang="en-US" sz="1100"/>
          </a:p>
          <a:p>
            <a:pPr>
              <a:spcBef>
                <a:spcPct val="0"/>
              </a:spcBef>
            </a:pPr>
            <a:r>
              <a:rPr lang="en-US" sz="1100"/>
              <a:t>   checkreg = 1</a:t>
            </a:r>
          </a:p>
          <a:p>
            <a:pPr>
              <a:spcBef>
                <a:spcPct val="0"/>
              </a:spcBef>
            </a:pPr>
            <a:r>
              <a:rPr lang="en-US" sz="1100"/>
              <a:t>   scalereg = 0</a:t>
            </a:r>
          </a:p>
          <a:p>
            <a:pPr>
              <a:spcBef>
                <a:spcPct val="0"/>
              </a:spcBef>
            </a:pPr>
            <a:r>
              <a:rPr lang="en-US" sz="1100"/>
              <a:t>   timereg  = 11070 </a:t>
            </a:r>
          </a:p>
          <a:p>
            <a:pPr>
              <a:spcBef>
                <a:spcPct val="0"/>
              </a:spcBef>
            </a:pPr>
            <a:r>
              <a:rPr lang="en-US" sz="1100"/>
              <a:t>}</a:t>
            </a:r>
          </a:p>
          <a:p>
            <a:pPr>
              <a:spcBef>
                <a:spcPct val="0"/>
              </a:spcBef>
            </a:pPr>
            <a:endParaRPr lang="en-US" sz="1100"/>
          </a:p>
          <a:p>
            <a:pPr>
              <a:spcBef>
                <a:spcPct val="0"/>
              </a:spcBef>
            </a:pPr>
            <a:r>
              <a:rPr lang="en-US" sz="1100"/>
              <a:t>void interrupt_service_routine(){</a:t>
            </a:r>
          </a:p>
          <a:p>
            <a:pPr>
              <a:spcBef>
                <a:spcPct val="0"/>
              </a:spcBef>
            </a:pPr>
            <a:r>
              <a:rPr lang="en-US" sz="1100"/>
              <a:t>   eject card</a:t>
            </a:r>
          </a:p>
          <a:p>
            <a:pPr>
              <a:spcBef>
                <a:spcPct val="0"/>
              </a:spcBef>
            </a:pPr>
            <a:r>
              <a:rPr lang="en-US" sz="1100"/>
              <a:t>   reset screen</a:t>
            </a:r>
          </a:p>
          <a:p>
            <a:pPr>
              <a:spcBef>
                <a:spcPct val="0"/>
              </a:spcBef>
            </a:pPr>
            <a:r>
              <a:rPr lang="en-US" sz="1100"/>
              <a:t>}</a:t>
            </a:r>
          </a:p>
        </p:txBody>
      </p:sp>
      <p:sp>
        <p:nvSpPr>
          <p:cNvPr id="15367" name="Rectangle 23"/>
          <p:cNvSpPr>
            <a:spLocks noGrp="1" noChangeArrowheads="1"/>
          </p:cNvSpPr>
          <p:nvPr>
            <p:ph type="body" idx="1"/>
          </p:nvPr>
        </p:nvSpPr>
        <p:spPr>
          <a:xfrm>
            <a:off x="146050" y="1452563"/>
            <a:ext cx="2878138" cy="4554537"/>
          </a:xfrm>
          <a:noFill/>
        </p:spPr>
        <p:txBody>
          <a:bodyPr/>
          <a:lstStyle/>
          <a:p>
            <a:r>
              <a:rPr kumimoji="0" lang="en-US" sz="2000" smtClean="0"/>
              <a:t>Must reset timer every X time unit, else timer generates a signal</a:t>
            </a:r>
          </a:p>
          <a:p>
            <a:r>
              <a:rPr kumimoji="0" lang="en-US" sz="2000" smtClean="0"/>
              <a:t>Common use: detect failure, self-reset</a:t>
            </a:r>
          </a:p>
          <a:p>
            <a:r>
              <a:rPr kumimoji="0" lang="en-US" sz="2000" smtClean="0"/>
              <a:t>Another use: timeouts</a:t>
            </a:r>
          </a:p>
          <a:p>
            <a:pPr lvl="1"/>
            <a:r>
              <a:rPr kumimoji="0" lang="en-US" sz="1800" smtClean="0"/>
              <a:t>e.g., ATM machine</a:t>
            </a:r>
          </a:p>
          <a:p>
            <a:pPr lvl="1"/>
            <a:r>
              <a:rPr kumimoji="0" lang="en-US" sz="1800" smtClean="0"/>
              <a:t>16-bit timer, 2 microsec. resolution</a:t>
            </a:r>
          </a:p>
          <a:p>
            <a:pPr lvl="1"/>
            <a:r>
              <a:rPr kumimoji="0" lang="en-US" sz="1600" i="1" smtClean="0"/>
              <a:t>timereg</a:t>
            </a:r>
            <a:r>
              <a:rPr kumimoji="0" lang="en-US" sz="1600" smtClean="0"/>
              <a:t> value = 2*(2</a:t>
            </a:r>
            <a:r>
              <a:rPr kumimoji="0" lang="en-US" sz="1600" baseline="30000" smtClean="0"/>
              <a:t>16</a:t>
            </a:r>
            <a:r>
              <a:rPr kumimoji="0" lang="en-US" sz="1600" smtClean="0"/>
              <a:t>-1)–X = 131070–X</a:t>
            </a:r>
          </a:p>
          <a:p>
            <a:pPr lvl="1"/>
            <a:r>
              <a:rPr kumimoji="0" lang="en-US" sz="1600" smtClean="0"/>
              <a:t>For 2 min., X = 120,000 microsec.</a:t>
            </a:r>
            <a:endParaRPr kumimoji="0" lang="en-US" smtClean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97D99B6E-83B2-4927-9554-66B079E588C6}" type="slidenum">
              <a:rPr lang="en-US"/>
              <a:pPr/>
              <a:t>8</a:t>
            </a:fld>
            <a:endParaRPr lang="en-US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Serial Transmission Using UARTs</a:t>
            </a:r>
          </a:p>
        </p:txBody>
      </p:sp>
      <p:grpSp>
        <p:nvGrpSpPr>
          <p:cNvPr id="1030" name="Group 213"/>
          <p:cNvGrpSpPr>
            <a:grpSpLocks/>
          </p:cNvGrpSpPr>
          <p:nvPr/>
        </p:nvGrpSpPr>
        <p:grpSpPr bwMode="auto">
          <a:xfrm>
            <a:off x="3811588" y="1758950"/>
            <a:ext cx="5111750" cy="1825625"/>
            <a:chOff x="2401" y="1108"/>
            <a:chExt cx="3220" cy="1150"/>
          </a:xfrm>
        </p:grpSpPr>
        <p:sp>
          <p:nvSpPr>
            <p:cNvPr id="1039" name="Text Box 150"/>
            <p:cNvSpPr txBox="1">
              <a:spLocks noChangeArrowheads="1"/>
            </p:cNvSpPr>
            <p:nvPr/>
          </p:nvSpPr>
          <p:spPr bwMode="auto">
            <a:xfrm>
              <a:off x="2873" y="1184"/>
              <a:ext cx="661" cy="3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144" tIns="9144" rIns="9144" bIns="9144"/>
            <a:lstStyle/>
            <a:p>
              <a:pPr>
                <a:spcBef>
                  <a:spcPct val="0"/>
                </a:spcBef>
              </a:pPr>
              <a:endParaRPr lang="en-US" sz="1200"/>
            </a:p>
          </p:txBody>
        </p:sp>
        <p:sp>
          <p:nvSpPr>
            <p:cNvPr id="1040" name="Freeform 151"/>
            <p:cNvSpPr>
              <a:spLocks/>
            </p:cNvSpPr>
            <p:nvPr/>
          </p:nvSpPr>
          <p:spPr bwMode="auto">
            <a:xfrm>
              <a:off x="3532" y="1389"/>
              <a:ext cx="1491" cy="147"/>
            </a:xfrm>
            <a:custGeom>
              <a:avLst/>
              <a:gdLst>
                <a:gd name="T0" fmla="*/ 0 w 3220"/>
                <a:gd name="T1" fmla="*/ 121 h 384"/>
                <a:gd name="T2" fmla="*/ 206 w 3220"/>
                <a:gd name="T3" fmla="*/ 37 h 384"/>
                <a:gd name="T4" fmla="*/ 283 w 3220"/>
                <a:gd name="T5" fmla="*/ 20 h 384"/>
                <a:gd name="T6" fmla="*/ 437 w 3220"/>
                <a:gd name="T7" fmla="*/ 54 h 384"/>
                <a:gd name="T8" fmla="*/ 480 w 3220"/>
                <a:gd name="T9" fmla="*/ 97 h 384"/>
                <a:gd name="T10" fmla="*/ 574 w 3220"/>
                <a:gd name="T11" fmla="*/ 225 h 384"/>
                <a:gd name="T12" fmla="*/ 669 w 3220"/>
                <a:gd name="T13" fmla="*/ 294 h 384"/>
                <a:gd name="T14" fmla="*/ 754 w 3220"/>
                <a:gd name="T15" fmla="*/ 354 h 384"/>
                <a:gd name="T16" fmla="*/ 823 w 3220"/>
                <a:gd name="T17" fmla="*/ 371 h 384"/>
                <a:gd name="T18" fmla="*/ 1243 w 3220"/>
                <a:gd name="T19" fmla="*/ 320 h 384"/>
                <a:gd name="T20" fmla="*/ 1260 w 3220"/>
                <a:gd name="T21" fmla="*/ 302 h 384"/>
                <a:gd name="T22" fmla="*/ 1286 w 3220"/>
                <a:gd name="T23" fmla="*/ 294 h 384"/>
                <a:gd name="T24" fmla="*/ 1303 w 3220"/>
                <a:gd name="T25" fmla="*/ 268 h 384"/>
                <a:gd name="T26" fmla="*/ 1329 w 3220"/>
                <a:gd name="T27" fmla="*/ 251 h 384"/>
                <a:gd name="T28" fmla="*/ 1671 w 3220"/>
                <a:gd name="T29" fmla="*/ 71 h 384"/>
                <a:gd name="T30" fmla="*/ 2040 w 3220"/>
                <a:gd name="T31" fmla="*/ 105 h 384"/>
                <a:gd name="T32" fmla="*/ 2117 w 3220"/>
                <a:gd name="T33" fmla="*/ 140 h 384"/>
                <a:gd name="T34" fmla="*/ 2229 w 3220"/>
                <a:gd name="T35" fmla="*/ 208 h 384"/>
                <a:gd name="T36" fmla="*/ 2340 w 3220"/>
                <a:gd name="T37" fmla="*/ 242 h 384"/>
                <a:gd name="T38" fmla="*/ 2451 w 3220"/>
                <a:gd name="T39" fmla="*/ 277 h 384"/>
                <a:gd name="T40" fmla="*/ 2820 w 3220"/>
                <a:gd name="T41" fmla="*/ 234 h 384"/>
                <a:gd name="T42" fmla="*/ 2940 w 3220"/>
                <a:gd name="T43" fmla="*/ 201 h 384"/>
                <a:gd name="T44" fmla="*/ 3080 w 3220"/>
                <a:gd name="T45" fmla="*/ 191 h 384"/>
                <a:gd name="T46" fmla="*/ 3220 w 3220"/>
                <a:gd name="T47" fmla="*/ 231 h 384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3220"/>
                <a:gd name="T73" fmla="*/ 0 h 384"/>
                <a:gd name="T74" fmla="*/ 3220 w 3220"/>
                <a:gd name="T75" fmla="*/ 384 h 384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3220" h="384">
                  <a:moveTo>
                    <a:pt x="0" y="121"/>
                  </a:moveTo>
                  <a:cubicBezTo>
                    <a:pt x="48" y="74"/>
                    <a:pt x="138" y="53"/>
                    <a:pt x="206" y="37"/>
                  </a:cubicBezTo>
                  <a:cubicBezTo>
                    <a:pt x="257" y="0"/>
                    <a:pt x="245" y="17"/>
                    <a:pt x="283" y="20"/>
                  </a:cubicBezTo>
                  <a:cubicBezTo>
                    <a:pt x="321" y="23"/>
                    <a:pt x="404" y="41"/>
                    <a:pt x="437" y="54"/>
                  </a:cubicBezTo>
                  <a:cubicBezTo>
                    <a:pt x="502" y="153"/>
                    <a:pt x="403" y="10"/>
                    <a:pt x="480" y="97"/>
                  </a:cubicBezTo>
                  <a:cubicBezTo>
                    <a:pt x="514" y="136"/>
                    <a:pt x="537" y="188"/>
                    <a:pt x="574" y="225"/>
                  </a:cubicBezTo>
                  <a:cubicBezTo>
                    <a:pt x="600" y="250"/>
                    <a:pt x="640" y="275"/>
                    <a:pt x="669" y="294"/>
                  </a:cubicBezTo>
                  <a:cubicBezTo>
                    <a:pt x="695" y="311"/>
                    <a:pt x="722" y="341"/>
                    <a:pt x="754" y="354"/>
                  </a:cubicBezTo>
                  <a:cubicBezTo>
                    <a:pt x="776" y="363"/>
                    <a:pt x="800" y="365"/>
                    <a:pt x="823" y="371"/>
                  </a:cubicBezTo>
                  <a:cubicBezTo>
                    <a:pt x="1226" y="359"/>
                    <a:pt x="1036" y="384"/>
                    <a:pt x="1243" y="320"/>
                  </a:cubicBezTo>
                  <a:cubicBezTo>
                    <a:pt x="1249" y="314"/>
                    <a:pt x="1253" y="306"/>
                    <a:pt x="1260" y="302"/>
                  </a:cubicBezTo>
                  <a:cubicBezTo>
                    <a:pt x="1268" y="297"/>
                    <a:pt x="1279" y="300"/>
                    <a:pt x="1286" y="294"/>
                  </a:cubicBezTo>
                  <a:cubicBezTo>
                    <a:pt x="1294" y="288"/>
                    <a:pt x="1296" y="275"/>
                    <a:pt x="1303" y="268"/>
                  </a:cubicBezTo>
                  <a:cubicBezTo>
                    <a:pt x="1310" y="261"/>
                    <a:pt x="1320" y="257"/>
                    <a:pt x="1329" y="251"/>
                  </a:cubicBezTo>
                  <a:cubicBezTo>
                    <a:pt x="1400" y="142"/>
                    <a:pt x="1553" y="102"/>
                    <a:pt x="1671" y="71"/>
                  </a:cubicBezTo>
                  <a:cubicBezTo>
                    <a:pt x="1895" y="78"/>
                    <a:pt x="1900" y="62"/>
                    <a:pt x="2040" y="105"/>
                  </a:cubicBezTo>
                  <a:cubicBezTo>
                    <a:pt x="2081" y="132"/>
                    <a:pt x="2056" y="119"/>
                    <a:pt x="2117" y="140"/>
                  </a:cubicBezTo>
                  <a:cubicBezTo>
                    <a:pt x="2154" y="153"/>
                    <a:pt x="2192" y="192"/>
                    <a:pt x="2229" y="208"/>
                  </a:cubicBezTo>
                  <a:cubicBezTo>
                    <a:pt x="2264" y="223"/>
                    <a:pt x="2302" y="235"/>
                    <a:pt x="2340" y="242"/>
                  </a:cubicBezTo>
                  <a:cubicBezTo>
                    <a:pt x="2380" y="263"/>
                    <a:pt x="2405" y="269"/>
                    <a:pt x="2451" y="277"/>
                  </a:cubicBezTo>
                  <a:cubicBezTo>
                    <a:pt x="2605" y="271"/>
                    <a:pt x="2689" y="274"/>
                    <a:pt x="2820" y="234"/>
                  </a:cubicBezTo>
                  <a:cubicBezTo>
                    <a:pt x="2829" y="225"/>
                    <a:pt x="2931" y="209"/>
                    <a:pt x="2940" y="201"/>
                  </a:cubicBezTo>
                  <a:cubicBezTo>
                    <a:pt x="2987" y="199"/>
                    <a:pt x="3030" y="184"/>
                    <a:pt x="3080" y="191"/>
                  </a:cubicBezTo>
                  <a:cubicBezTo>
                    <a:pt x="3127" y="196"/>
                    <a:pt x="3191" y="223"/>
                    <a:pt x="3220" y="231"/>
                  </a:cubicBezTo>
                </a:path>
              </a:pathLst>
            </a:custGeom>
            <a:noFill/>
            <a:ln w="222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41" name="Group 152"/>
            <p:cNvGrpSpPr>
              <a:grpSpLocks/>
            </p:cNvGrpSpPr>
            <p:nvPr/>
          </p:nvGrpSpPr>
          <p:grpSpPr bwMode="auto">
            <a:xfrm>
              <a:off x="5029" y="1377"/>
              <a:ext cx="401" cy="122"/>
              <a:chOff x="7302" y="10946"/>
              <a:chExt cx="1209" cy="429"/>
            </a:xfrm>
          </p:grpSpPr>
          <p:grpSp>
            <p:nvGrpSpPr>
              <p:cNvPr id="1079" name="Group 153"/>
              <p:cNvGrpSpPr>
                <a:grpSpLocks/>
              </p:cNvGrpSpPr>
              <p:nvPr/>
            </p:nvGrpSpPr>
            <p:grpSpPr bwMode="auto">
              <a:xfrm>
                <a:off x="7302" y="10946"/>
                <a:ext cx="1209" cy="429"/>
                <a:chOff x="7302" y="10946"/>
                <a:chExt cx="1209" cy="429"/>
              </a:xfrm>
            </p:grpSpPr>
            <p:sp>
              <p:nvSpPr>
                <p:cNvPr id="1081" name="Rectangle 154"/>
                <p:cNvSpPr>
                  <a:spLocks noChangeArrowheads="1"/>
                </p:cNvSpPr>
                <p:nvPr/>
              </p:nvSpPr>
              <p:spPr bwMode="auto">
                <a:xfrm>
                  <a:off x="7302" y="11142"/>
                  <a:ext cx="677" cy="233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2" name="Freeform 155"/>
                <p:cNvSpPr>
                  <a:spLocks/>
                </p:cNvSpPr>
                <p:nvPr/>
              </p:nvSpPr>
              <p:spPr bwMode="auto">
                <a:xfrm>
                  <a:off x="7311" y="10946"/>
                  <a:ext cx="523" cy="188"/>
                </a:xfrm>
                <a:custGeom>
                  <a:avLst/>
                  <a:gdLst>
                    <a:gd name="T0" fmla="*/ 0 w 523"/>
                    <a:gd name="T1" fmla="*/ 188 h 188"/>
                    <a:gd name="T2" fmla="*/ 523 w 523"/>
                    <a:gd name="T3" fmla="*/ 0 h 188"/>
                    <a:gd name="T4" fmla="*/ 0 60000 65536"/>
                    <a:gd name="T5" fmla="*/ 0 60000 65536"/>
                    <a:gd name="T6" fmla="*/ 0 w 523"/>
                    <a:gd name="T7" fmla="*/ 0 h 188"/>
                    <a:gd name="T8" fmla="*/ 523 w 523"/>
                    <a:gd name="T9" fmla="*/ 188 h 188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523" h="188">
                      <a:moveTo>
                        <a:pt x="0" y="188"/>
                      </a:moveTo>
                      <a:lnTo>
                        <a:pt x="523" y="0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3" name="Freeform 156"/>
                <p:cNvSpPr>
                  <a:spLocks/>
                </p:cNvSpPr>
                <p:nvPr/>
              </p:nvSpPr>
              <p:spPr bwMode="auto">
                <a:xfrm>
                  <a:off x="7979" y="10955"/>
                  <a:ext cx="523" cy="188"/>
                </a:xfrm>
                <a:custGeom>
                  <a:avLst/>
                  <a:gdLst>
                    <a:gd name="T0" fmla="*/ 0 w 523"/>
                    <a:gd name="T1" fmla="*/ 188 h 188"/>
                    <a:gd name="T2" fmla="*/ 523 w 523"/>
                    <a:gd name="T3" fmla="*/ 0 h 188"/>
                    <a:gd name="T4" fmla="*/ 0 60000 65536"/>
                    <a:gd name="T5" fmla="*/ 0 60000 65536"/>
                    <a:gd name="T6" fmla="*/ 0 w 523"/>
                    <a:gd name="T7" fmla="*/ 0 h 188"/>
                    <a:gd name="T8" fmla="*/ 523 w 523"/>
                    <a:gd name="T9" fmla="*/ 188 h 188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523" h="188">
                      <a:moveTo>
                        <a:pt x="0" y="188"/>
                      </a:moveTo>
                      <a:lnTo>
                        <a:pt x="523" y="0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4" name="Freeform 157"/>
                <p:cNvSpPr>
                  <a:spLocks/>
                </p:cNvSpPr>
                <p:nvPr/>
              </p:nvSpPr>
              <p:spPr bwMode="auto">
                <a:xfrm>
                  <a:off x="7988" y="11177"/>
                  <a:ext cx="523" cy="188"/>
                </a:xfrm>
                <a:custGeom>
                  <a:avLst/>
                  <a:gdLst>
                    <a:gd name="T0" fmla="*/ 0 w 523"/>
                    <a:gd name="T1" fmla="*/ 188 h 188"/>
                    <a:gd name="T2" fmla="*/ 523 w 523"/>
                    <a:gd name="T3" fmla="*/ 0 h 188"/>
                    <a:gd name="T4" fmla="*/ 0 60000 65536"/>
                    <a:gd name="T5" fmla="*/ 0 60000 65536"/>
                    <a:gd name="T6" fmla="*/ 0 w 523"/>
                    <a:gd name="T7" fmla="*/ 0 h 188"/>
                    <a:gd name="T8" fmla="*/ 523 w 523"/>
                    <a:gd name="T9" fmla="*/ 188 h 188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523" h="188">
                      <a:moveTo>
                        <a:pt x="0" y="188"/>
                      </a:moveTo>
                      <a:lnTo>
                        <a:pt x="523" y="0"/>
                      </a:ln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080" name="Freeform 158"/>
              <p:cNvSpPr>
                <a:spLocks/>
              </p:cNvSpPr>
              <p:nvPr/>
            </p:nvSpPr>
            <p:spPr bwMode="auto">
              <a:xfrm>
                <a:off x="7817" y="10946"/>
                <a:ext cx="686" cy="240"/>
              </a:xfrm>
              <a:custGeom>
                <a:avLst/>
                <a:gdLst>
                  <a:gd name="T0" fmla="*/ 0 w 686"/>
                  <a:gd name="T1" fmla="*/ 0 h 240"/>
                  <a:gd name="T2" fmla="*/ 677 w 686"/>
                  <a:gd name="T3" fmla="*/ 8 h 240"/>
                  <a:gd name="T4" fmla="*/ 686 w 686"/>
                  <a:gd name="T5" fmla="*/ 240 h 240"/>
                  <a:gd name="T6" fmla="*/ 0 60000 65536"/>
                  <a:gd name="T7" fmla="*/ 0 60000 65536"/>
                  <a:gd name="T8" fmla="*/ 0 60000 65536"/>
                  <a:gd name="T9" fmla="*/ 0 w 686"/>
                  <a:gd name="T10" fmla="*/ 0 h 240"/>
                  <a:gd name="T11" fmla="*/ 686 w 686"/>
                  <a:gd name="T12" fmla="*/ 240 h 24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86" h="240">
                    <a:moveTo>
                      <a:pt x="0" y="0"/>
                    </a:moveTo>
                    <a:lnTo>
                      <a:pt x="677" y="8"/>
                    </a:lnTo>
                    <a:lnTo>
                      <a:pt x="686" y="24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42" name="Text Box 159"/>
            <p:cNvSpPr txBox="1">
              <a:spLocks noChangeArrowheads="1"/>
            </p:cNvSpPr>
            <p:nvPr/>
          </p:nvSpPr>
          <p:spPr bwMode="auto">
            <a:xfrm>
              <a:off x="5221" y="1131"/>
              <a:ext cx="400" cy="1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200"/>
                <a:t>embedded device</a:t>
              </a:r>
            </a:p>
          </p:txBody>
        </p:sp>
        <p:sp>
          <p:nvSpPr>
            <p:cNvPr id="1043" name="Text Box 160"/>
            <p:cNvSpPr txBox="1">
              <a:spLocks noChangeArrowheads="1"/>
            </p:cNvSpPr>
            <p:nvPr/>
          </p:nvSpPr>
          <p:spPr bwMode="auto">
            <a:xfrm>
              <a:off x="3651" y="1295"/>
              <a:ext cx="67" cy="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1</a:t>
              </a:r>
            </a:p>
          </p:txBody>
        </p:sp>
        <p:sp>
          <p:nvSpPr>
            <p:cNvPr id="1044" name="Text Box 161"/>
            <p:cNvSpPr txBox="1">
              <a:spLocks noChangeArrowheads="1"/>
            </p:cNvSpPr>
            <p:nvPr/>
          </p:nvSpPr>
          <p:spPr bwMode="auto">
            <a:xfrm>
              <a:off x="3797" y="1347"/>
              <a:ext cx="68" cy="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0</a:t>
              </a:r>
            </a:p>
          </p:txBody>
        </p:sp>
        <p:sp>
          <p:nvSpPr>
            <p:cNvPr id="1045" name="Text Box 162"/>
            <p:cNvSpPr txBox="1">
              <a:spLocks noChangeArrowheads="1"/>
            </p:cNvSpPr>
            <p:nvPr/>
          </p:nvSpPr>
          <p:spPr bwMode="auto">
            <a:xfrm>
              <a:off x="3944" y="1426"/>
              <a:ext cx="67" cy="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0</a:t>
              </a:r>
            </a:p>
          </p:txBody>
        </p:sp>
        <p:sp>
          <p:nvSpPr>
            <p:cNvPr id="1046" name="Text Box 163"/>
            <p:cNvSpPr txBox="1">
              <a:spLocks noChangeArrowheads="1"/>
            </p:cNvSpPr>
            <p:nvPr/>
          </p:nvSpPr>
          <p:spPr bwMode="auto">
            <a:xfrm>
              <a:off x="4090" y="1391"/>
              <a:ext cx="67" cy="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1</a:t>
              </a:r>
            </a:p>
          </p:txBody>
        </p:sp>
        <p:sp>
          <p:nvSpPr>
            <p:cNvPr id="1047" name="Text Box 164"/>
            <p:cNvSpPr txBox="1">
              <a:spLocks noChangeArrowheads="1"/>
            </p:cNvSpPr>
            <p:nvPr/>
          </p:nvSpPr>
          <p:spPr bwMode="auto">
            <a:xfrm>
              <a:off x="4237" y="1315"/>
              <a:ext cx="66" cy="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1</a:t>
              </a:r>
            </a:p>
          </p:txBody>
        </p:sp>
        <p:sp>
          <p:nvSpPr>
            <p:cNvPr id="1048" name="Text Box 165"/>
            <p:cNvSpPr txBox="1">
              <a:spLocks noChangeArrowheads="1"/>
            </p:cNvSpPr>
            <p:nvPr/>
          </p:nvSpPr>
          <p:spPr bwMode="auto">
            <a:xfrm>
              <a:off x="4383" y="1283"/>
              <a:ext cx="67" cy="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0</a:t>
              </a:r>
            </a:p>
          </p:txBody>
        </p:sp>
        <p:sp>
          <p:nvSpPr>
            <p:cNvPr id="1049" name="Text Box 166"/>
            <p:cNvSpPr txBox="1">
              <a:spLocks noChangeArrowheads="1"/>
            </p:cNvSpPr>
            <p:nvPr/>
          </p:nvSpPr>
          <p:spPr bwMode="auto">
            <a:xfrm>
              <a:off x="4529" y="1319"/>
              <a:ext cx="67" cy="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1</a:t>
              </a:r>
            </a:p>
          </p:txBody>
        </p:sp>
        <p:sp>
          <p:nvSpPr>
            <p:cNvPr id="1050" name="Text Box 167"/>
            <p:cNvSpPr txBox="1">
              <a:spLocks noChangeArrowheads="1"/>
            </p:cNvSpPr>
            <p:nvPr/>
          </p:nvSpPr>
          <p:spPr bwMode="auto">
            <a:xfrm>
              <a:off x="4676" y="1375"/>
              <a:ext cx="67" cy="8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1</a:t>
              </a:r>
            </a:p>
          </p:txBody>
        </p:sp>
        <p:grpSp>
          <p:nvGrpSpPr>
            <p:cNvPr id="1051" name="Group 168"/>
            <p:cNvGrpSpPr>
              <a:grpSpLocks/>
            </p:cNvGrpSpPr>
            <p:nvPr/>
          </p:nvGrpSpPr>
          <p:grpSpPr bwMode="auto">
            <a:xfrm>
              <a:off x="4237" y="1527"/>
              <a:ext cx="856" cy="603"/>
              <a:chOff x="5962" y="11450"/>
              <a:chExt cx="1848" cy="1570"/>
            </a:xfrm>
          </p:grpSpPr>
          <p:sp>
            <p:nvSpPr>
              <p:cNvPr id="1077" name="Freeform 169"/>
              <p:cNvSpPr>
                <a:spLocks/>
              </p:cNvSpPr>
              <p:nvPr/>
            </p:nvSpPr>
            <p:spPr bwMode="auto">
              <a:xfrm>
                <a:off x="5962" y="11450"/>
                <a:ext cx="1848" cy="530"/>
              </a:xfrm>
              <a:custGeom>
                <a:avLst/>
                <a:gdLst>
                  <a:gd name="T0" fmla="*/ 1528 w 1848"/>
                  <a:gd name="T1" fmla="*/ 530 h 530"/>
                  <a:gd name="T2" fmla="*/ 1848 w 1848"/>
                  <a:gd name="T3" fmla="*/ 0 h 530"/>
                  <a:gd name="T4" fmla="*/ 0 w 1848"/>
                  <a:gd name="T5" fmla="*/ 524 h 530"/>
                  <a:gd name="T6" fmla="*/ 0 60000 65536"/>
                  <a:gd name="T7" fmla="*/ 0 60000 65536"/>
                  <a:gd name="T8" fmla="*/ 0 60000 65536"/>
                  <a:gd name="T9" fmla="*/ 0 w 1848"/>
                  <a:gd name="T10" fmla="*/ 0 h 530"/>
                  <a:gd name="T11" fmla="*/ 1848 w 1848"/>
                  <a:gd name="T12" fmla="*/ 530 h 53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48" h="530">
                    <a:moveTo>
                      <a:pt x="1528" y="530"/>
                    </a:moveTo>
                    <a:lnTo>
                      <a:pt x="1848" y="0"/>
                    </a:lnTo>
                    <a:lnTo>
                      <a:pt x="0" y="524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8" name="Freeform 170"/>
              <p:cNvSpPr>
                <a:spLocks/>
              </p:cNvSpPr>
              <p:nvPr/>
            </p:nvSpPr>
            <p:spPr bwMode="auto">
              <a:xfrm>
                <a:off x="7490" y="11460"/>
                <a:ext cx="320" cy="1560"/>
              </a:xfrm>
              <a:custGeom>
                <a:avLst/>
                <a:gdLst>
                  <a:gd name="T0" fmla="*/ 320 w 320"/>
                  <a:gd name="T1" fmla="*/ 0 h 1560"/>
                  <a:gd name="T2" fmla="*/ 0 w 320"/>
                  <a:gd name="T3" fmla="*/ 1560 h 1560"/>
                  <a:gd name="T4" fmla="*/ 0 60000 65536"/>
                  <a:gd name="T5" fmla="*/ 0 60000 65536"/>
                  <a:gd name="T6" fmla="*/ 0 w 320"/>
                  <a:gd name="T7" fmla="*/ 0 h 1560"/>
                  <a:gd name="T8" fmla="*/ 320 w 320"/>
                  <a:gd name="T9" fmla="*/ 1560 h 156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20" h="1560">
                    <a:moveTo>
                      <a:pt x="320" y="0"/>
                    </a:moveTo>
                    <a:lnTo>
                      <a:pt x="0" y="156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52" name="Group 212"/>
            <p:cNvGrpSpPr>
              <a:grpSpLocks/>
            </p:cNvGrpSpPr>
            <p:nvPr/>
          </p:nvGrpSpPr>
          <p:grpSpPr bwMode="auto">
            <a:xfrm>
              <a:off x="2401" y="1593"/>
              <a:ext cx="877" cy="662"/>
              <a:chOff x="2401" y="1593"/>
              <a:chExt cx="877" cy="662"/>
            </a:xfrm>
          </p:grpSpPr>
          <p:sp>
            <p:nvSpPr>
              <p:cNvPr id="1064" name="Text Box 172"/>
              <p:cNvSpPr txBox="1">
                <a:spLocks noChangeArrowheads="1"/>
              </p:cNvSpPr>
              <p:nvPr/>
            </p:nvSpPr>
            <p:spPr bwMode="auto">
              <a:xfrm>
                <a:off x="2409" y="1732"/>
                <a:ext cx="711" cy="399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>
                  <a:spcBef>
                    <a:spcPct val="0"/>
                  </a:spcBef>
                </a:pPr>
                <a:endParaRPr lang="en-US" sz="1200"/>
              </a:p>
            </p:txBody>
          </p:sp>
          <p:sp>
            <p:nvSpPr>
              <p:cNvPr id="1065" name="Freeform 173"/>
              <p:cNvSpPr>
                <a:spLocks/>
              </p:cNvSpPr>
              <p:nvPr/>
            </p:nvSpPr>
            <p:spPr bwMode="auto">
              <a:xfrm>
                <a:off x="2409" y="1593"/>
                <a:ext cx="864" cy="138"/>
              </a:xfrm>
              <a:custGeom>
                <a:avLst/>
                <a:gdLst>
                  <a:gd name="T0" fmla="*/ 1541 w 1866"/>
                  <a:gd name="T1" fmla="*/ 360 h 360"/>
                  <a:gd name="T2" fmla="*/ 1866 w 1866"/>
                  <a:gd name="T3" fmla="*/ 0 h 360"/>
                  <a:gd name="T4" fmla="*/ 0 w 1866"/>
                  <a:gd name="T5" fmla="*/ 354 h 360"/>
                  <a:gd name="T6" fmla="*/ 0 60000 65536"/>
                  <a:gd name="T7" fmla="*/ 0 60000 65536"/>
                  <a:gd name="T8" fmla="*/ 0 60000 65536"/>
                  <a:gd name="T9" fmla="*/ 0 w 1866"/>
                  <a:gd name="T10" fmla="*/ 0 h 360"/>
                  <a:gd name="T11" fmla="*/ 1866 w 1866"/>
                  <a:gd name="T12" fmla="*/ 360 h 3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66" h="360">
                    <a:moveTo>
                      <a:pt x="1541" y="360"/>
                    </a:moveTo>
                    <a:lnTo>
                      <a:pt x="1866" y="0"/>
                    </a:lnTo>
                    <a:lnTo>
                      <a:pt x="0" y="354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6" name="Freeform 174"/>
              <p:cNvSpPr>
                <a:spLocks/>
              </p:cNvSpPr>
              <p:nvPr/>
            </p:nvSpPr>
            <p:spPr bwMode="auto">
              <a:xfrm>
                <a:off x="3120" y="1597"/>
                <a:ext cx="158" cy="533"/>
              </a:xfrm>
              <a:custGeom>
                <a:avLst/>
                <a:gdLst>
                  <a:gd name="T0" fmla="*/ 341 w 341"/>
                  <a:gd name="T1" fmla="*/ 0 h 1390"/>
                  <a:gd name="T2" fmla="*/ 0 w 341"/>
                  <a:gd name="T3" fmla="*/ 1390 h 1390"/>
                  <a:gd name="T4" fmla="*/ 0 60000 65536"/>
                  <a:gd name="T5" fmla="*/ 0 60000 65536"/>
                  <a:gd name="T6" fmla="*/ 0 w 341"/>
                  <a:gd name="T7" fmla="*/ 0 h 1390"/>
                  <a:gd name="T8" fmla="*/ 341 w 341"/>
                  <a:gd name="T9" fmla="*/ 1390 h 139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41" h="1390">
                    <a:moveTo>
                      <a:pt x="341" y="0"/>
                    </a:moveTo>
                    <a:lnTo>
                      <a:pt x="0" y="139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7" name="Text Box 175"/>
              <p:cNvSpPr txBox="1">
                <a:spLocks noChangeArrowheads="1"/>
              </p:cNvSpPr>
              <p:nvPr/>
            </p:nvSpPr>
            <p:spPr bwMode="auto">
              <a:xfrm>
                <a:off x="2401" y="2137"/>
                <a:ext cx="639" cy="1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>
                  <a:spcBef>
                    <a:spcPct val="0"/>
                  </a:spcBef>
                </a:pPr>
                <a:r>
                  <a:rPr lang="en-US" sz="1200"/>
                  <a:t>Sending UART</a:t>
                </a:r>
              </a:p>
            </p:txBody>
          </p:sp>
          <p:grpSp>
            <p:nvGrpSpPr>
              <p:cNvPr id="1068" name="Group 179"/>
              <p:cNvGrpSpPr>
                <a:grpSpLocks/>
              </p:cNvGrpSpPr>
              <p:nvPr/>
            </p:nvGrpSpPr>
            <p:grpSpPr bwMode="auto">
              <a:xfrm>
                <a:off x="2451" y="1884"/>
                <a:ext cx="634" cy="95"/>
                <a:chOff x="4003" y="12857"/>
                <a:chExt cx="1368" cy="249"/>
              </a:xfrm>
            </p:grpSpPr>
            <p:sp>
              <p:nvSpPr>
                <p:cNvPr id="1069" name="Text Box 180"/>
                <p:cNvSpPr txBox="1">
                  <a:spLocks noChangeArrowheads="1"/>
                </p:cNvSpPr>
                <p:nvPr/>
              </p:nvSpPr>
              <p:spPr bwMode="auto">
                <a:xfrm>
                  <a:off x="4003" y="12857"/>
                  <a:ext cx="172" cy="249"/>
                </a:xfrm>
                <a:prstGeom prst="rect">
                  <a:avLst/>
                </a:prstGeom>
                <a:noFill/>
                <a:ln w="9525">
                  <a:solidFill>
                    <a:srgbClr val="808080"/>
                  </a:solidFill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algn="ctr">
                    <a:spcBef>
                      <a:spcPct val="0"/>
                    </a:spcBef>
                  </a:pPr>
                  <a:r>
                    <a:rPr lang="en-US" sz="1200"/>
                    <a:t>1</a:t>
                  </a:r>
                </a:p>
              </p:txBody>
            </p:sp>
            <p:sp>
              <p:nvSpPr>
                <p:cNvPr id="1070" name="Text Box 181"/>
                <p:cNvSpPr txBox="1">
                  <a:spLocks noChangeArrowheads="1"/>
                </p:cNvSpPr>
                <p:nvPr/>
              </p:nvSpPr>
              <p:spPr bwMode="auto">
                <a:xfrm>
                  <a:off x="4174" y="12857"/>
                  <a:ext cx="172" cy="249"/>
                </a:xfrm>
                <a:prstGeom prst="rect">
                  <a:avLst/>
                </a:prstGeom>
                <a:noFill/>
                <a:ln w="9525">
                  <a:solidFill>
                    <a:srgbClr val="808080"/>
                  </a:solidFill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algn="ctr">
                    <a:spcBef>
                      <a:spcPct val="0"/>
                    </a:spcBef>
                  </a:pPr>
                  <a:r>
                    <a:rPr lang="en-US" sz="1200"/>
                    <a:t>0</a:t>
                  </a:r>
                </a:p>
              </p:txBody>
            </p:sp>
            <p:sp>
              <p:nvSpPr>
                <p:cNvPr id="1071" name="Text Box 182"/>
                <p:cNvSpPr txBox="1">
                  <a:spLocks noChangeArrowheads="1"/>
                </p:cNvSpPr>
                <p:nvPr/>
              </p:nvSpPr>
              <p:spPr bwMode="auto">
                <a:xfrm>
                  <a:off x="4341" y="12857"/>
                  <a:ext cx="172" cy="249"/>
                </a:xfrm>
                <a:prstGeom prst="rect">
                  <a:avLst/>
                </a:prstGeom>
                <a:noFill/>
                <a:ln w="9525">
                  <a:solidFill>
                    <a:srgbClr val="808080"/>
                  </a:solidFill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algn="ctr">
                    <a:spcBef>
                      <a:spcPct val="0"/>
                    </a:spcBef>
                  </a:pPr>
                  <a:r>
                    <a:rPr lang="en-US" sz="1200"/>
                    <a:t>0</a:t>
                  </a:r>
                </a:p>
              </p:txBody>
            </p:sp>
            <p:sp>
              <p:nvSpPr>
                <p:cNvPr id="1072" name="Text Box 183"/>
                <p:cNvSpPr txBox="1">
                  <a:spLocks noChangeArrowheads="1"/>
                </p:cNvSpPr>
                <p:nvPr/>
              </p:nvSpPr>
              <p:spPr bwMode="auto">
                <a:xfrm>
                  <a:off x="4513" y="12857"/>
                  <a:ext cx="172" cy="249"/>
                </a:xfrm>
                <a:prstGeom prst="rect">
                  <a:avLst/>
                </a:prstGeom>
                <a:noFill/>
                <a:ln w="9525">
                  <a:solidFill>
                    <a:srgbClr val="808080"/>
                  </a:solidFill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algn="ctr">
                    <a:spcBef>
                      <a:spcPct val="0"/>
                    </a:spcBef>
                  </a:pPr>
                  <a:r>
                    <a:rPr lang="en-US" sz="1200"/>
                    <a:t>1</a:t>
                  </a:r>
                </a:p>
              </p:txBody>
            </p:sp>
            <p:sp>
              <p:nvSpPr>
                <p:cNvPr id="1073" name="Text Box 184"/>
                <p:cNvSpPr txBox="1">
                  <a:spLocks noChangeArrowheads="1"/>
                </p:cNvSpPr>
                <p:nvPr/>
              </p:nvSpPr>
              <p:spPr bwMode="auto">
                <a:xfrm>
                  <a:off x="4690" y="12857"/>
                  <a:ext cx="172" cy="249"/>
                </a:xfrm>
                <a:prstGeom prst="rect">
                  <a:avLst/>
                </a:prstGeom>
                <a:noFill/>
                <a:ln w="9525">
                  <a:solidFill>
                    <a:srgbClr val="808080"/>
                  </a:solidFill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algn="ctr">
                    <a:spcBef>
                      <a:spcPct val="0"/>
                    </a:spcBef>
                  </a:pPr>
                  <a:r>
                    <a:rPr lang="en-US" sz="1200"/>
                    <a:t>1</a:t>
                  </a:r>
                </a:p>
              </p:txBody>
            </p:sp>
            <p:sp>
              <p:nvSpPr>
                <p:cNvPr id="1074" name="Text Box 185"/>
                <p:cNvSpPr txBox="1">
                  <a:spLocks noChangeArrowheads="1"/>
                </p:cNvSpPr>
                <p:nvPr/>
              </p:nvSpPr>
              <p:spPr bwMode="auto">
                <a:xfrm>
                  <a:off x="4862" y="12857"/>
                  <a:ext cx="172" cy="249"/>
                </a:xfrm>
                <a:prstGeom prst="rect">
                  <a:avLst/>
                </a:prstGeom>
                <a:noFill/>
                <a:ln w="9525">
                  <a:solidFill>
                    <a:srgbClr val="808080"/>
                  </a:solidFill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algn="ctr">
                    <a:spcBef>
                      <a:spcPct val="0"/>
                    </a:spcBef>
                  </a:pPr>
                  <a:r>
                    <a:rPr lang="en-US" sz="1200"/>
                    <a:t>0</a:t>
                  </a:r>
                </a:p>
              </p:txBody>
            </p:sp>
            <p:sp>
              <p:nvSpPr>
                <p:cNvPr id="1075" name="Text Box 186"/>
                <p:cNvSpPr txBox="1">
                  <a:spLocks noChangeArrowheads="1"/>
                </p:cNvSpPr>
                <p:nvPr/>
              </p:nvSpPr>
              <p:spPr bwMode="auto">
                <a:xfrm>
                  <a:off x="5029" y="12857"/>
                  <a:ext cx="172" cy="249"/>
                </a:xfrm>
                <a:prstGeom prst="rect">
                  <a:avLst/>
                </a:prstGeom>
                <a:noFill/>
                <a:ln w="9525">
                  <a:solidFill>
                    <a:srgbClr val="808080"/>
                  </a:solidFill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algn="ctr">
                    <a:spcBef>
                      <a:spcPct val="0"/>
                    </a:spcBef>
                  </a:pPr>
                  <a:r>
                    <a:rPr lang="en-US" sz="1200"/>
                    <a:t>1</a:t>
                  </a:r>
                </a:p>
              </p:txBody>
            </p:sp>
            <p:sp>
              <p:nvSpPr>
                <p:cNvPr id="1076" name="Text Box 187"/>
                <p:cNvSpPr txBox="1">
                  <a:spLocks noChangeArrowheads="1"/>
                </p:cNvSpPr>
                <p:nvPr/>
              </p:nvSpPr>
              <p:spPr bwMode="auto">
                <a:xfrm>
                  <a:off x="5199" y="12857"/>
                  <a:ext cx="172" cy="249"/>
                </a:xfrm>
                <a:prstGeom prst="rect">
                  <a:avLst/>
                </a:prstGeom>
                <a:noFill/>
                <a:ln w="9525">
                  <a:solidFill>
                    <a:srgbClr val="808080"/>
                  </a:solidFill>
                  <a:miter lim="800000"/>
                  <a:headEnd/>
                  <a:tailEnd/>
                </a:ln>
              </p:spPr>
              <p:txBody>
                <a:bodyPr lIns="0" tIns="0" rIns="0" bIns="0"/>
                <a:lstStyle/>
                <a:p>
                  <a:pPr algn="ctr">
                    <a:spcBef>
                      <a:spcPct val="0"/>
                    </a:spcBef>
                  </a:pPr>
                  <a:r>
                    <a:rPr lang="en-US" sz="1200"/>
                    <a:t>1</a:t>
                  </a:r>
                </a:p>
              </p:txBody>
            </p:sp>
          </p:grpSp>
        </p:grpSp>
        <p:sp>
          <p:nvSpPr>
            <p:cNvPr id="1053" name="Text Box 189"/>
            <p:cNvSpPr txBox="1">
              <a:spLocks noChangeArrowheads="1"/>
            </p:cNvSpPr>
            <p:nvPr/>
          </p:nvSpPr>
          <p:spPr bwMode="auto">
            <a:xfrm>
              <a:off x="4230" y="1732"/>
              <a:ext cx="711" cy="40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endParaRPr lang="en-US" sz="1200"/>
            </a:p>
          </p:txBody>
        </p:sp>
        <p:sp>
          <p:nvSpPr>
            <p:cNvPr id="1054" name="Text Box 190"/>
            <p:cNvSpPr txBox="1">
              <a:spLocks noChangeArrowheads="1"/>
            </p:cNvSpPr>
            <p:nvPr/>
          </p:nvSpPr>
          <p:spPr bwMode="auto">
            <a:xfrm>
              <a:off x="4235" y="2139"/>
              <a:ext cx="722" cy="1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200"/>
                <a:t>Receiving UART</a:t>
              </a:r>
            </a:p>
          </p:txBody>
        </p:sp>
        <p:grpSp>
          <p:nvGrpSpPr>
            <p:cNvPr id="1055" name="Group 194"/>
            <p:cNvGrpSpPr>
              <a:grpSpLocks/>
            </p:cNvGrpSpPr>
            <p:nvPr/>
          </p:nvGrpSpPr>
          <p:grpSpPr bwMode="auto">
            <a:xfrm>
              <a:off x="4265" y="1884"/>
              <a:ext cx="639" cy="96"/>
              <a:chOff x="6023" y="12047"/>
              <a:chExt cx="1378" cy="249"/>
            </a:xfrm>
          </p:grpSpPr>
          <p:sp>
            <p:nvSpPr>
              <p:cNvPr id="1056" name="Text Box 195"/>
              <p:cNvSpPr txBox="1">
                <a:spLocks noChangeArrowheads="1"/>
              </p:cNvSpPr>
              <p:nvPr/>
            </p:nvSpPr>
            <p:spPr bwMode="auto">
              <a:xfrm>
                <a:off x="6023" y="12047"/>
                <a:ext cx="172" cy="249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>
                  <a:spcBef>
                    <a:spcPct val="0"/>
                  </a:spcBef>
                </a:pPr>
                <a:r>
                  <a:rPr lang="en-US" sz="1200"/>
                  <a:t>1</a:t>
                </a:r>
              </a:p>
            </p:txBody>
          </p:sp>
          <p:sp>
            <p:nvSpPr>
              <p:cNvPr id="1057" name="Text Box 196"/>
              <p:cNvSpPr txBox="1">
                <a:spLocks noChangeArrowheads="1"/>
              </p:cNvSpPr>
              <p:nvPr/>
            </p:nvSpPr>
            <p:spPr bwMode="auto">
              <a:xfrm>
                <a:off x="6194" y="12047"/>
                <a:ext cx="172" cy="249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>
                  <a:spcBef>
                    <a:spcPct val="0"/>
                  </a:spcBef>
                </a:pPr>
                <a:r>
                  <a:rPr lang="en-US" sz="1200"/>
                  <a:t>0</a:t>
                </a:r>
              </a:p>
            </p:txBody>
          </p:sp>
          <p:sp>
            <p:nvSpPr>
              <p:cNvPr id="1058" name="Text Box 197"/>
              <p:cNvSpPr txBox="1">
                <a:spLocks noChangeArrowheads="1"/>
              </p:cNvSpPr>
              <p:nvPr/>
            </p:nvSpPr>
            <p:spPr bwMode="auto">
              <a:xfrm>
                <a:off x="6366" y="12047"/>
                <a:ext cx="172" cy="249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>
                  <a:spcBef>
                    <a:spcPct val="0"/>
                  </a:spcBef>
                </a:pPr>
                <a:r>
                  <a:rPr lang="en-US" sz="1200"/>
                  <a:t>0</a:t>
                </a:r>
              </a:p>
            </p:txBody>
          </p:sp>
          <p:sp>
            <p:nvSpPr>
              <p:cNvPr id="1059" name="Text Box 198"/>
              <p:cNvSpPr txBox="1">
                <a:spLocks noChangeArrowheads="1"/>
              </p:cNvSpPr>
              <p:nvPr/>
            </p:nvSpPr>
            <p:spPr bwMode="auto">
              <a:xfrm>
                <a:off x="6538" y="12047"/>
                <a:ext cx="172" cy="249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>
                  <a:spcBef>
                    <a:spcPct val="0"/>
                  </a:spcBef>
                </a:pPr>
                <a:r>
                  <a:rPr lang="en-US" sz="1200"/>
                  <a:t>1</a:t>
                </a:r>
              </a:p>
            </p:txBody>
          </p:sp>
          <p:sp>
            <p:nvSpPr>
              <p:cNvPr id="1060" name="Text Box 199"/>
              <p:cNvSpPr txBox="1">
                <a:spLocks noChangeArrowheads="1"/>
              </p:cNvSpPr>
              <p:nvPr/>
            </p:nvSpPr>
            <p:spPr bwMode="auto">
              <a:xfrm>
                <a:off x="6715" y="12047"/>
                <a:ext cx="172" cy="249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>
                  <a:spcBef>
                    <a:spcPct val="0"/>
                  </a:spcBef>
                </a:pPr>
                <a:r>
                  <a:rPr lang="en-US" sz="1200"/>
                  <a:t>1</a:t>
                </a:r>
              </a:p>
            </p:txBody>
          </p:sp>
          <p:sp>
            <p:nvSpPr>
              <p:cNvPr id="1061" name="Text Box 200"/>
              <p:cNvSpPr txBox="1">
                <a:spLocks noChangeArrowheads="1"/>
              </p:cNvSpPr>
              <p:nvPr/>
            </p:nvSpPr>
            <p:spPr bwMode="auto">
              <a:xfrm>
                <a:off x="6887" y="12047"/>
                <a:ext cx="172" cy="249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>
                  <a:spcBef>
                    <a:spcPct val="0"/>
                  </a:spcBef>
                </a:pPr>
                <a:r>
                  <a:rPr lang="en-US" sz="1200"/>
                  <a:t>0</a:t>
                </a:r>
              </a:p>
            </p:txBody>
          </p:sp>
          <p:sp>
            <p:nvSpPr>
              <p:cNvPr id="1062" name="Text Box 201"/>
              <p:cNvSpPr txBox="1">
                <a:spLocks noChangeArrowheads="1"/>
              </p:cNvSpPr>
              <p:nvPr/>
            </p:nvSpPr>
            <p:spPr bwMode="auto">
              <a:xfrm>
                <a:off x="7059" y="12047"/>
                <a:ext cx="172" cy="249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>
                  <a:spcBef>
                    <a:spcPct val="0"/>
                  </a:spcBef>
                </a:pPr>
                <a:r>
                  <a:rPr lang="en-US" sz="1200"/>
                  <a:t>1</a:t>
                </a:r>
              </a:p>
            </p:txBody>
          </p:sp>
          <p:sp>
            <p:nvSpPr>
              <p:cNvPr id="1063" name="Text Box 202"/>
              <p:cNvSpPr txBox="1">
                <a:spLocks noChangeArrowheads="1"/>
              </p:cNvSpPr>
              <p:nvPr/>
            </p:nvSpPr>
            <p:spPr bwMode="auto">
              <a:xfrm>
                <a:off x="7229" y="12047"/>
                <a:ext cx="172" cy="249"/>
              </a:xfrm>
              <a:prstGeom prst="rect">
                <a:avLst/>
              </a:prstGeom>
              <a:noFill/>
              <a:ln w="9525">
                <a:solidFill>
                  <a:srgbClr val="808080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>
                  <a:spcBef>
                    <a:spcPct val="0"/>
                  </a:spcBef>
                </a:pPr>
                <a:r>
                  <a:rPr lang="en-US" sz="1200"/>
                  <a:t>1</a:t>
                </a:r>
              </a:p>
            </p:txBody>
          </p:sp>
        </p:grpSp>
        <p:graphicFrame>
          <p:nvGraphicFramePr>
            <p:cNvPr id="1027" name="Object 206"/>
            <p:cNvGraphicFramePr>
              <a:graphicFrameLocks noChangeAspect="1"/>
            </p:cNvGraphicFramePr>
            <p:nvPr/>
          </p:nvGraphicFramePr>
          <p:xfrm>
            <a:off x="2987" y="1108"/>
            <a:ext cx="542" cy="4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8" name="Clip" r:id="rId3" imgW="876960" imgH="627840" progId="MS_ClipArt_Gallery.5">
                    <p:embed/>
                  </p:oleObj>
                </mc:Choice>
                <mc:Fallback>
                  <p:oleObj name="Clip" r:id="rId3" imgW="876960" imgH="627840" progId="MS_ClipArt_Gallery.5">
                    <p:embed/>
                    <p:pic>
                      <p:nvPicPr>
                        <p:cNvPr id="0" name="Object 20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87" y="1108"/>
                          <a:ext cx="542" cy="4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cap="sq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31" name="Group 210"/>
          <p:cNvGrpSpPr>
            <a:grpSpLocks/>
          </p:cNvGrpSpPr>
          <p:nvPr/>
        </p:nvGrpSpPr>
        <p:grpSpPr bwMode="auto">
          <a:xfrm>
            <a:off x="4075113" y="3578225"/>
            <a:ext cx="4749800" cy="2444750"/>
            <a:chOff x="1536" y="2356"/>
            <a:chExt cx="2992" cy="1540"/>
          </a:xfrm>
        </p:grpSpPr>
        <p:sp>
          <p:nvSpPr>
            <p:cNvPr id="1033" name="Text Box 143"/>
            <p:cNvSpPr txBox="1">
              <a:spLocks noChangeArrowheads="1"/>
            </p:cNvSpPr>
            <p:nvPr/>
          </p:nvSpPr>
          <p:spPr bwMode="auto">
            <a:xfrm>
              <a:off x="1680" y="2356"/>
              <a:ext cx="432" cy="1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200"/>
                <a:t>start bit</a:t>
              </a:r>
            </a:p>
          </p:txBody>
        </p:sp>
        <p:sp>
          <p:nvSpPr>
            <p:cNvPr id="1034" name="Text Box 144"/>
            <p:cNvSpPr txBox="1">
              <a:spLocks noChangeArrowheads="1"/>
            </p:cNvSpPr>
            <p:nvPr/>
          </p:nvSpPr>
          <p:spPr bwMode="auto">
            <a:xfrm>
              <a:off x="2860" y="2452"/>
              <a:ext cx="162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200"/>
                <a:t>data</a:t>
              </a:r>
            </a:p>
          </p:txBody>
        </p:sp>
        <p:sp>
          <p:nvSpPr>
            <p:cNvPr id="1035" name="Text Box 145"/>
            <p:cNvSpPr txBox="1">
              <a:spLocks noChangeArrowheads="1"/>
            </p:cNvSpPr>
            <p:nvPr/>
          </p:nvSpPr>
          <p:spPr bwMode="auto">
            <a:xfrm>
              <a:off x="3863" y="2356"/>
              <a:ext cx="438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200"/>
                <a:t>end bit</a:t>
              </a:r>
            </a:p>
          </p:txBody>
        </p:sp>
        <p:sp>
          <p:nvSpPr>
            <p:cNvPr id="1036" name="Freeform 146"/>
            <p:cNvSpPr>
              <a:spLocks/>
            </p:cNvSpPr>
            <p:nvPr/>
          </p:nvSpPr>
          <p:spPr bwMode="auto">
            <a:xfrm>
              <a:off x="1904" y="2508"/>
              <a:ext cx="42" cy="240"/>
            </a:xfrm>
            <a:custGeom>
              <a:avLst/>
              <a:gdLst>
                <a:gd name="T0" fmla="*/ 0 w 103"/>
                <a:gd name="T1" fmla="*/ 0 h 600"/>
                <a:gd name="T2" fmla="*/ 103 w 103"/>
                <a:gd name="T3" fmla="*/ 600 h 600"/>
                <a:gd name="T4" fmla="*/ 0 60000 65536"/>
                <a:gd name="T5" fmla="*/ 0 60000 65536"/>
                <a:gd name="T6" fmla="*/ 0 w 103"/>
                <a:gd name="T7" fmla="*/ 0 h 600"/>
                <a:gd name="T8" fmla="*/ 103 w 103"/>
                <a:gd name="T9" fmla="*/ 600 h 60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03" h="600">
                  <a:moveTo>
                    <a:pt x="0" y="0"/>
                  </a:moveTo>
                  <a:lnTo>
                    <a:pt x="103" y="60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7" name="Freeform 147"/>
            <p:cNvSpPr>
              <a:spLocks/>
            </p:cNvSpPr>
            <p:nvPr/>
          </p:nvSpPr>
          <p:spPr bwMode="auto">
            <a:xfrm>
              <a:off x="4028" y="2491"/>
              <a:ext cx="41" cy="243"/>
            </a:xfrm>
            <a:custGeom>
              <a:avLst/>
              <a:gdLst>
                <a:gd name="T0" fmla="*/ 103 w 103"/>
                <a:gd name="T1" fmla="*/ 0 h 609"/>
                <a:gd name="T2" fmla="*/ 0 w 103"/>
                <a:gd name="T3" fmla="*/ 609 h 609"/>
                <a:gd name="T4" fmla="*/ 0 60000 65536"/>
                <a:gd name="T5" fmla="*/ 0 60000 65536"/>
                <a:gd name="T6" fmla="*/ 0 w 103"/>
                <a:gd name="T7" fmla="*/ 0 h 609"/>
                <a:gd name="T8" fmla="*/ 103 w 103"/>
                <a:gd name="T9" fmla="*/ 609 h 60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03" h="609">
                  <a:moveTo>
                    <a:pt x="103" y="0"/>
                  </a:moveTo>
                  <a:lnTo>
                    <a:pt x="0" y="609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38" name="AutoShape 148"/>
            <p:cNvSpPr>
              <a:spLocks/>
            </p:cNvSpPr>
            <p:nvPr/>
          </p:nvSpPr>
          <p:spPr bwMode="auto">
            <a:xfrm rot="5400000">
              <a:off x="2874" y="1787"/>
              <a:ext cx="120" cy="1816"/>
            </a:xfrm>
            <a:prstGeom prst="leftBrace">
              <a:avLst>
                <a:gd name="adj1" fmla="val 126111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1026" name="Object 209"/>
            <p:cNvGraphicFramePr>
              <a:graphicFrameLocks noChangeAspect="1"/>
            </p:cNvGraphicFramePr>
            <p:nvPr/>
          </p:nvGraphicFramePr>
          <p:xfrm>
            <a:off x="1536" y="2784"/>
            <a:ext cx="2992" cy="1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9" name="Document" r:id="rId6" imgW="6458760" imgH="2158560" progId="Word.Document.8">
                    <p:embed/>
                  </p:oleObj>
                </mc:Choice>
                <mc:Fallback>
                  <p:oleObj name="Document" r:id="rId6" imgW="6458760" imgH="2158560" progId="Word.Document.8">
                    <p:embed/>
                    <p:pic>
                      <p:nvPicPr>
                        <p:cNvPr id="0" name="Object 20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2784"/>
                          <a:ext cx="2992" cy="11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32" name="Rectangle 211"/>
          <p:cNvSpPr>
            <a:spLocks noGrp="1" noChangeArrowheads="1"/>
          </p:cNvSpPr>
          <p:nvPr>
            <p:ph type="body" idx="1"/>
          </p:nvPr>
        </p:nvSpPr>
        <p:spPr>
          <a:xfrm>
            <a:off x="146050" y="1452563"/>
            <a:ext cx="3630613" cy="4554537"/>
          </a:xfrm>
          <a:noFill/>
        </p:spPr>
        <p:txBody>
          <a:bodyPr/>
          <a:lstStyle/>
          <a:p>
            <a:r>
              <a:rPr kumimoji="0" lang="en-US" sz="2000" smtClean="0"/>
              <a:t>UART: Universal Asynchronous Receiver Transmitter</a:t>
            </a:r>
          </a:p>
          <a:p>
            <a:pPr lvl="1"/>
            <a:r>
              <a:rPr kumimoji="0" lang="en-US" sz="1800" smtClean="0"/>
              <a:t>Takes parallel data and transmits serially</a:t>
            </a:r>
          </a:p>
          <a:p>
            <a:pPr lvl="1"/>
            <a:r>
              <a:rPr kumimoji="0" lang="en-US" sz="1800" smtClean="0"/>
              <a:t>Receives serial data and converts to parallel</a:t>
            </a:r>
          </a:p>
          <a:p>
            <a:r>
              <a:rPr kumimoji="0" lang="en-US" sz="2000" smtClean="0"/>
              <a:t>Parity: extra bit for simple error checking</a:t>
            </a:r>
          </a:p>
          <a:p>
            <a:r>
              <a:rPr kumimoji="0" lang="en-US" sz="2000" smtClean="0"/>
              <a:t>Start bit, stop bit</a:t>
            </a:r>
          </a:p>
          <a:p>
            <a:r>
              <a:rPr kumimoji="0" lang="en-US" sz="2000" smtClean="0"/>
              <a:t>Baud rate</a:t>
            </a:r>
          </a:p>
          <a:p>
            <a:pPr lvl="1"/>
            <a:r>
              <a:rPr kumimoji="0" lang="en-US" sz="1800" smtClean="0"/>
              <a:t>signal changes per second</a:t>
            </a:r>
          </a:p>
          <a:p>
            <a:pPr lvl="1"/>
            <a:r>
              <a:rPr kumimoji="0" lang="en-US" sz="1800" smtClean="0"/>
              <a:t>bit rate usually higher</a:t>
            </a:r>
          </a:p>
          <a:p>
            <a:endParaRPr kumimoji="0" lang="en-US" smtClean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03FF4BF6-19BF-4A7E-8DCC-499C6F38B43A}" type="slidenum">
              <a:rPr lang="en-US"/>
              <a:pPr/>
              <a:t>9</a:t>
            </a:fld>
            <a:endParaRPr lang="en-US"/>
          </a:p>
        </p:txBody>
      </p:sp>
      <p:sp>
        <p:nvSpPr>
          <p:cNvPr id="20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Pulse width modulator</a:t>
            </a:r>
          </a:p>
        </p:txBody>
      </p:sp>
      <p:sp>
        <p:nvSpPr>
          <p:cNvPr id="2055" name="Text Box 4"/>
          <p:cNvSpPr txBox="1">
            <a:spLocks noChangeArrowheads="1"/>
          </p:cNvSpPr>
          <p:nvPr/>
        </p:nvSpPr>
        <p:spPr bwMode="auto">
          <a:xfrm>
            <a:off x="1371600" y="2314575"/>
            <a:ext cx="4962525" cy="365125"/>
          </a:xfrm>
          <a:prstGeom prst="rect">
            <a:avLst/>
          </a:prstGeom>
          <a:noFill/>
          <a:ln w="9525" cap="sq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grpSp>
        <p:nvGrpSpPr>
          <p:cNvPr id="2056" name="Group 14"/>
          <p:cNvGrpSpPr>
            <a:grpSpLocks/>
          </p:cNvGrpSpPr>
          <p:nvPr/>
        </p:nvGrpSpPr>
        <p:grpSpPr bwMode="auto">
          <a:xfrm>
            <a:off x="3897313" y="1746250"/>
            <a:ext cx="5607050" cy="1238250"/>
            <a:chOff x="871" y="1153"/>
            <a:chExt cx="3532" cy="780"/>
          </a:xfrm>
        </p:grpSpPr>
        <p:graphicFrame>
          <p:nvGraphicFramePr>
            <p:cNvPr id="2052" name="Object 15"/>
            <p:cNvGraphicFramePr>
              <a:graphicFrameLocks noChangeAspect="1"/>
            </p:cNvGraphicFramePr>
            <p:nvPr/>
          </p:nvGraphicFramePr>
          <p:xfrm>
            <a:off x="1261" y="1153"/>
            <a:ext cx="3142" cy="6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3" name="Document" r:id="rId4" imgW="4986360" imgH="1036800" progId="Word.Document.8">
                    <p:embed/>
                  </p:oleObj>
                </mc:Choice>
                <mc:Fallback>
                  <p:oleObj name="Document" r:id="rId4" imgW="4986360" imgH="1036800" progId="Word.Document.8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1" y="1153"/>
                          <a:ext cx="3142" cy="65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66" name="Text Box 16"/>
            <p:cNvSpPr txBox="1">
              <a:spLocks noChangeArrowheads="1"/>
            </p:cNvSpPr>
            <p:nvPr/>
          </p:nvSpPr>
          <p:spPr bwMode="auto">
            <a:xfrm>
              <a:off x="871" y="1474"/>
              <a:ext cx="301" cy="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400"/>
                <a:t>clk</a:t>
              </a:r>
            </a:p>
          </p:txBody>
        </p:sp>
        <p:sp>
          <p:nvSpPr>
            <p:cNvPr id="2067" name="Text Box 17"/>
            <p:cNvSpPr txBox="1">
              <a:spLocks noChangeArrowheads="1"/>
            </p:cNvSpPr>
            <p:nvPr/>
          </p:nvSpPr>
          <p:spPr bwMode="auto">
            <a:xfrm>
              <a:off x="871" y="1242"/>
              <a:ext cx="386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400"/>
                <a:t>pwm_o</a:t>
              </a:r>
            </a:p>
          </p:txBody>
        </p:sp>
        <p:sp>
          <p:nvSpPr>
            <p:cNvPr id="2068" name="Text Box 18"/>
            <p:cNvSpPr txBox="1">
              <a:spLocks noChangeArrowheads="1"/>
            </p:cNvSpPr>
            <p:nvPr/>
          </p:nvSpPr>
          <p:spPr bwMode="auto">
            <a:xfrm>
              <a:off x="1687" y="1768"/>
              <a:ext cx="1909" cy="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25% duty cycle – average pwm_o is 1.25V</a:t>
              </a:r>
            </a:p>
          </p:txBody>
        </p:sp>
      </p:grpSp>
      <p:grpSp>
        <p:nvGrpSpPr>
          <p:cNvPr id="2057" name="Group 29"/>
          <p:cNvGrpSpPr>
            <a:grpSpLocks/>
          </p:cNvGrpSpPr>
          <p:nvPr/>
        </p:nvGrpSpPr>
        <p:grpSpPr bwMode="auto">
          <a:xfrm>
            <a:off x="3897313" y="3182938"/>
            <a:ext cx="5599112" cy="1235075"/>
            <a:chOff x="997" y="1992"/>
            <a:chExt cx="3527" cy="778"/>
          </a:xfrm>
        </p:grpSpPr>
        <p:graphicFrame>
          <p:nvGraphicFramePr>
            <p:cNvPr id="2051" name="Object 20"/>
            <p:cNvGraphicFramePr>
              <a:graphicFrameLocks noChangeAspect="1"/>
            </p:cNvGraphicFramePr>
            <p:nvPr/>
          </p:nvGraphicFramePr>
          <p:xfrm>
            <a:off x="1386" y="1992"/>
            <a:ext cx="3138" cy="6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4" name="Document" r:id="rId7" imgW="4986360" imgH="1036800" progId="Word.Document.8">
                    <p:embed/>
                  </p:oleObj>
                </mc:Choice>
                <mc:Fallback>
                  <p:oleObj name="Document" r:id="rId7" imgW="4986360" imgH="1036800" progId="Word.Document.8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6" y="1992"/>
                          <a:ext cx="3138" cy="64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63" name="Text Box 21"/>
            <p:cNvSpPr txBox="1">
              <a:spLocks noChangeArrowheads="1"/>
            </p:cNvSpPr>
            <p:nvPr/>
          </p:nvSpPr>
          <p:spPr bwMode="auto">
            <a:xfrm>
              <a:off x="997" y="2311"/>
              <a:ext cx="301" cy="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400"/>
                <a:t>clk</a:t>
              </a:r>
            </a:p>
          </p:txBody>
        </p:sp>
        <p:sp>
          <p:nvSpPr>
            <p:cNvPr id="2064" name="Text Box 22"/>
            <p:cNvSpPr txBox="1">
              <a:spLocks noChangeArrowheads="1"/>
            </p:cNvSpPr>
            <p:nvPr/>
          </p:nvSpPr>
          <p:spPr bwMode="auto">
            <a:xfrm>
              <a:off x="997" y="2079"/>
              <a:ext cx="386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400"/>
                <a:t>pwm_o</a:t>
              </a:r>
            </a:p>
          </p:txBody>
        </p:sp>
        <p:sp>
          <p:nvSpPr>
            <p:cNvPr id="2065" name="Text Box 23"/>
            <p:cNvSpPr txBox="1">
              <a:spLocks noChangeArrowheads="1"/>
            </p:cNvSpPr>
            <p:nvPr/>
          </p:nvSpPr>
          <p:spPr bwMode="auto">
            <a:xfrm>
              <a:off x="1813" y="2605"/>
              <a:ext cx="1909" cy="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50% duty cycle – average pwm_o is 2.5V.</a:t>
              </a:r>
            </a:p>
          </p:txBody>
        </p:sp>
      </p:grpSp>
      <p:grpSp>
        <p:nvGrpSpPr>
          <p:cNvPr id="2058" name="Group 30"/>
          <p:cNvGrpSpPr>
            <a:grpSpLocks/>
          </p:cNvGrpSpPr>
          <p:nvPr/>
        </p:nvGrpSpPr>
        <p:grpSpPr bwMode="auto">
          <a:xfrm>
            <a:off x="3897313" y="4611688"/>
            <a:ext cx="5599112" cy="1239837"/>
            <a:chOff x="997" y="2892"/>
            <a:chExt cx="3527" cy="781"/>
          </a:xfrm>
        </p:grpSpPr>
        <p:graphicFrame>
          <p:nvGraphicFramePr>
            <p:cNvPr id="2050" name="Object 25"/>
            <p:cNvGraphicFramePr>
              <a:graphicFrameLocks noChangeAspect="1"/>
            </p:cNvGraphicFramePr>
            <p:nvPr/>
          </p:nvGraphicFramePr>
          <p:xfrm>
            <a:off x="1386" y="2892"/>
            <a:ext cx="3138" cy="6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5" name="Document" r:id="rId10" imgW="4986360" imgH="1036800" progId="Word.Document.8">
                    <p:embed/>
                  </p:oleObj>
                </mc:Choice>
                <mc:Fallback>
                  <p:oleObj name="Document" r:id="rId10" imgW="4986360" imgH="1036800" progId="Word.Document.8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6" y="2892"/>
                          <a:ext cx="3138" cy="64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60" name="Text Box 26"/>
            <p:cNvSpPr txBox="1">
              <a:spLocks noChangeArrowheads="1"/>
            </p:cNvSpPr>
            <p:nvPr/>
          </p:nvSpPr>
          <p:spPr bwMode="auto">
            <a:xfrm>
              <a:off x="997" y="3214"/>
              <a:ext cx="301" cy="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400"/>
                <a:t>clk</a:t>
              </a:r>
            </a:p>
          </p:txBody>
        </p:sp>
        <p:sp>
          <p:nvSpPr>
            <p:cNvPr id="2061" name="Text Box 27"/>
            <p:cNvSpPr txBox="1">
              <a:spLocks noChangeArrowheads="1"/>
            </p:cNvSpPr>
            <p:nvPr/>
          </p:nvSpPr>
          <p:spPr bwMode="auto">
            <a:xfrm>
              <a:off x="997" y="2982"/>
              <a:ext cx="386" cy="1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400"/>
                <a:t>pwm_o</a:t>
              </a:r>
            </a:p>
          </p:txBody>
        </p:sp>
        <p:sp>
          <p:nvSpPr>
            <p:cNvPr id="2062" name="Text Box 28"/>
            <p:cNvSpPr txBox="1">
              <a:spLocks noChangeArrowheads="1"/>
            </p:cNvSpPr>
            <p:nvPr/>
          </p:nvSpPr>
          <p:spPr bwMode="auto">
            <a:xfrm>
              <a:off x="1813" y="3508"/>
              <a:ext cx="1909" cy="1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75% duty cycle – average pwm_o is 3.75V. </a:t>
              </a:r>
            </a:p>
          </p:txBody>
        </p:sp>
      </p:grpSp>
      <p:sp>
        <p:nvSpPr>
          <p:cNvPr id="2059" name="Rectangle 31"/>
          <p:cNvSpPr>
            <a:spLocks noGrp="1" noChangeArrowheads="1"/>
          </p:cNvSpPr>
          <p:nvPr>
            <p:ph type="body" idx="1"/>
          </p:nvPr>
        </p:nvSpPr>
        <p:spPr>
          <a:xfrm>
            <a:off x="146050" y="1452563"/>
            <a:ext cx="3690938" cy="4554537"/>
          </a:xfrm>
          <a:noFill/>
        </p:spPr>
        <p:txBody>
          <a:bodyPr/>
          <a:lstStyle/>
          <a:p>
            <a:r>
              <a:rPr kumimoji="0" lang="en-US" sz="2000" smtClean="0"/>
              <a:t>Generates pulses with specific high/low times</a:t>
            </a:r>
          </a:p>
          <a:p>
            <a:r>
              <a:rPr kumimoji="0" lang="en-US" sz="2000" smtClean="0"/>
              <a:t>Duty cycle: % time high</a:t>
            </a:r>
          </a:p>
          <a:p>
            <a:pPr lvl="1"/>
            <a:r>
              <a:rPr kumimoji="0" lang="en-US" sz="1800" smtClean="0"/>
              <a:t>Square wave: 50% duty cycle</a:t>
            </a:r>
          </a:p>
          <a:p>
            <a:r>
              <a:rPr kumimoji="0" lang="en-US" sz="2000" smtClean="0"/>
              <a:t>Common use: control average voltage to electric device</a:t>
            </a:r>
          </a:p>
          <a:p>
            <a:pPr lvl="1"/>
            <a:r>
              <a:rPr kumimoji="0" lang="en-US" sz="1800" smtClean="0"/>
              <a:t>Simpler than DC-DC converter or digital-analog converter</a:t>
            </a:r>
          </a:p>
          <a:p>
            <a:pPr lvl="1"/>
            <a:r>
              <a:rPr kumimoji="0" lang="en-US" sz="1800" smtClean="0"/>
              <a:t>DC motor speed, dimmer lights</a:t>
            </a:r>
          </a:p>
          <a:p>
            <a:r>
              <a:rPr kumimoji="0" lang="en-US" sz="2000" smtClean="0"/>
              <a:t>Another use: encode commands, receiver uses timer to decode</a:t>
            </a:r>
          </a:p>
          <a:p>
            <a:endParaRPr kumimoji="0" lang="en-US" smtClean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D1F7FB7A-24C7-400C-AD58-DEF8CC8B2B8C}" type="slidenum">
              <a:rPr lang="en-US"/>
              <a:pPr/>
              <a:t>10</a:t>
            </a:fld>
            <a:endParaRPr lang="en-US"/>
          </a:p>
        </p:txBody>
      </p:sp>
      <p:sp>
        <p:nvSpPr>
          <p:cNvPr id="3077" name="Text Box 21"/>
          <p:cNvSpPr txBox="1">
            <a:spLocks noChangeArrowheads="1"/>
          </p:cNvSpPr>
          <p:nvPr/>
        </p:nvSpPr>
        <p:spPr bwMode="auto">
          <a:xfrm>
            <a:off x="5456238" y="3948113"/>
            <a:ext cx="3313112" cy="20653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 type="none" w="sm" len="med"/>
          </a:ln>
        </p:spPr>
        <p:txBody>
          <a:bodyPr/>
          <a:lstStyle/>
          <a:p>
            <a:pPr>
              <a:spcBef>
                <a:spcPct val="0"/>
              </a:spcBef>
            </a:pPr>
            <a:endParaRPr lang="en-US" sz="1000"/>
          </a:p>
        </p:txBody>
      </p:sp>
      <p:sp>
        <p:nvSpPr>
          <p:cNvPr id="30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Controlling a DC motor with a PWM</a:t>
            </a:r>
          </a:p>
        </p:txBody>
      </p:sp>
      <p:sp>
        <p:nvSpPr>
          <p:cNvPr id="3079" name="Text Box 20"/>
          <p:cNvSpPr txBox="1">
            <a:spLocks noChangeArrowheads="1"/>
          </p:cNvSpPr>
          <p:nvPr/>
        </p:nvSpPr>
        <p:spPr bwMode="auto">
          <a:xfrm>
            <a:off x="258763" y="3948113"/>
            <a:ext cx="2784475" cy="206216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 type="none" w="sm" len="med"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sz="1100">
                <a:latin typeface="Courier New" pitchFamily="49" charset="0"/>
              </a:rPr>
              <a:t>void main(void){</a:t>
            </a:r>
          </a:p>
          <a:p>
            <a:pPr>
              <a:spcBef>
                <a:spcPct val="0"/>
              </a:spcBef>
            </a:pPr>
            <a:endParaRPr lang="en-US" sz="1100">
              <a:latin typeface="Courier New" pitchFamily="49" charset="0"/>
            </a:endParaRPr>
          </a:p>
          <a:p>
            <a:pPr>
              <a:spcBef>
                <a:spcPct val="0"/>
              </a:spcBef>
            </a:pPr>
            <a:r>
              <a:rPr lang="en-US" sz="1100">
                <a:latin typeface="Courier New" pitchFamily="49" charset="0"/>
              </a:rPr>
              <a:t>   /* controls period */</a:t>
            </a:r>
          </a:p>
          <a:p>
            <a:pPr>
              <a:spcBef>
                <a:spcPct val="0"/>
              </a:spcBef>
            </a:pPr>
            <a:r>
              <a:rPr lang="en-US" sz="1100">
                <a:latin typeface="Courier New" pitchFamily="49" charset="0"/>
              </a:rPr>
              <a:t>   PWMP = 0xff;    </a:t>
            </a:r>
          </a:p>
          <a:p>
            <a:pPr>
              <a:spcBef>
                <a:spcPct val="0"/>
              </a:spcBef>
            </a:pPr>
            <a:r>
              <a:rPr lang="en-US" sz="1100">
                <a:latin typeface="Courier New" pitchFamily="49" charset="0"/>
              </a:rPr>
              <a:t>   /* controls duty cycle */</a:t>
            </a:r>
          </a:p>
          <a:p>
            <a:pPr>
              <a:spcBef>
                <a:spcPct val="0"/>
              </a:spcBef>
            </a:pPr>
            <a:r>
              <a:rPr lang="en-US" sz="1100">
                <a:latin typeface="Courier New" pitchFamily="49" charset="0"/>
              </a:rPr>
              <a:t>   PWM1 = 0x7f; </a:t>
            </a:r>
          </a:p>
          <a:p>
            <a:pPr>
              <a:spcBef>
                <a:spcPct val="0"/>
              </a:spcBef>
            </a:pPr>
            <a:endParaRPr lang="en-US" sz="1100">
              <a:latin typeface="Courier New" pitchFamily="49" charset="0"/>
            </a:endParaRPr>
          </a:p>
          <a:p>
            <a:pPr>
              <a:spcBef>
                <a:spcPct val="0"/>
              </a:spcBef>
            </a:pPr>
            <a:r>
              <a:rPr lang="en-US" sz="1100">
                <a:latin typeface="Courier New" pitchFamily="49" charset="0"/>
              </a:rPr>
              <a:t>   while(1){};</a:t>
            </a:r>
          </a:p>
          <a:p>
            <a:pPr>
              <a:spcBef>
                <a:spcPct val="0"/>
              </a:spcBef>
            </a:pPr>
            <a:r>
              <a:rPr lang="en-US" sz="1100">
                <a:latin typeface="Courier New" pitchFamily="49" charset="0"/>
              </a:rPr>
              <a:t> }</a:t>
            </a:r>
          </a:p>
          <a:p>
            <a:pPr>
              <a:spcBef>
                <a:spcPct val="0"/>
              </a:spcBef>
            </a:pPr>
            <a:endParaRPr lang="en-US" sz="1100">
              <a:latin typeface="Courier New" pitchFamily="49" charset="0"/>
            </a:endParaRPr>
          </a:p>
        </p:txBody>
      </p:sp>
      <p:sp>
        <p:nvSpPr>
          <p:cNvPr id="3080" name="Text Box 22"/>
          <p:cNvSpPr txBox="1">
            <a:spLocks noChangeArrowheads="1"/>
          </p:cNvSpPr>
          <p:nvPr/>
        </p:nvSpPr>
        <p:spPr bwMode="auto">
          <a:xfrm>
            <a:off x="3219450" y="3948113"/>
            <a:ext cx="2143125" cy="20653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 type="none" w="sm" len="med"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sz="1100"/>
              <a:t>The PWM alone cannot drive the DC motor, a possible way to implement a driver is shown below using an MJE3055T NPN transistor.</a:t>
            </a:r>
          </a:p>
          <a:p>
            <a:pPr>
              <a:spcBef>
                <a:spcPct val="0"/>
              </a:spcBef>
            </a:pPr>
            <a:endParaRPr lang="en-US" sz="1100"/>
          </a:p>
          <a:p>
            <a:pPr>
              <a:spcBef>
                <a:spcPct val="0"/>
              </a:spcBef>
            </a:pPr>
            <a:endParaRPr lang="en-US" sz="1000"/>
          </a:p>
          <a:p>
            <a:pPr>
              <a:spcBef>
                <a:spcPct val="0"/>
              </a:spcBef>
            </a:pPr>
            <a:endParaRPr lang="en-US" sz="1000"/>
          </a:p>
        </p:txBody>
      </p:sp>
      <p:graphicFrame>
        <p:nvGraphicFramePr>
          <p:cNvPr id="3074" name="Object 26"/>
          <p:cNvGraphicFramePr>
            <a:graphicFrameLocks noChangeAspect="1"/>
          </p:cNvGraphicFramePr>
          <p:nvPr/>
        </p:nvGraphicFramePr>
        <p:xfrm>
          <a:off x="3806825" y="4845050"/>
          <a:ext cx="866775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Document" r:id="rId4" imgW="629280" imgH="731520" progId="Word.Document.8">
                  <p:embed/>
                </p:oleObj>
              </mc:Choice>
              <mc:Fallback>
                <p:oleObj name="Document" r:id="rId4" imgW="629280" imgH="731520" progId="Word.Document.8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6825" y="4845050"/>
                        <a:ext cx="866775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sq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81" name="Group 30"/>
          <p:cNvGrpSpPr>
            <a:grpSpLocks/>
          </p:cNvGrpSpPr>
          <p:nvPr/>
        </p:nvGrpSpPr>
        <p:grpSpPr bwMode="auto">
          <a:xfrm>
            <a:off x="238125" y="1581150"/>
            <a:ext cx="4854575" cy="2198688"/>
            <a:chOff x="150" y="996"/>
            <a:chExt cx="3058" cy="1385"/>
          </a:xfrm>
        </p:grpSpPr>
        <p:sp>
          <p:nvSpPr>
            <p:cNvPr id="3103" name="Text Box 6"/>
            <p:cNvSpPr txBox="1">
              <a:spLocks noChangeArrowheads="1"/>
            </p:cNvSpPr>
            <p:nvPr/>
          </p:nvSpPr>
          <p:spPr bwMode="auto">
            <a:xfrm>
              <a:off x="1147" y="2123"/>
              <a:ext cx="1118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endParaRPr lang="en-US" sz="1000"/>
            </a:p>
            <a:p>
              <a:pPr algn="ctr">
                <a:spcBef>
                  <a:spcPct val="0"/>
                </a:spcBef>
              </a:pPr>
              <a:r>
                <a:rPr lang="en-US" sz="1000"/>
                <a:t>Internal Structure of PWM</a:t>
              </a:r>
            </a:p>
          </p:txBody>
        </p:sp>
        <p:sp>
          <p:nvSpPr>
            <p:cNvPr id="3104" name="Text Box 7"/>
            <p:cNvSpPr txBox="1">
              <a:spLocks noChangeArrowheads="1"/>
            </p:cNvSpPr>
            <p:nvPr/>
          </p:nvSpPr>
          <p:spPr bwMode="auto">
            <a:xfrm>
              <a:off x="698" y="1089"/>
              <a:ext cx="445" cy="14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000"/>
                <a:t>clk_div</a:t>
              </a:r>
            </a:p>
          </p:txBody>
        </p:sp>
        <p:sp>
          <p:nvSpPr>
            <p:cNvPr id="3105" name="Text Box 8"/>
            <p:cNvSpPr txBox="1">
              <a:spLocks noChangeArrowheads="1"/>
            </p:cNvSpPr>
            <p:nvPr/>
          </p:nvSpPr>
          <p:spPr bwMode="auto">
            <a:xfrm>
              <a:off x="1285" y="1872"/>
              <a:ext cx="527" cy="20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0"/>
                </a:spcBef>
              </a:pPr>
              <a:r>
                <a:rPr lang="en-US" sz="1000"/>
                <a:t>cycle_high</a:t>
              </a:r>
            </a:p>
          </p:txBody>
        </p:sp>
        <p:sp>
          <p:nvSpPr>
            <p:cNvPr id="3106" name="Text Box 9"/>
            <p:cNvSpPr txBox="1">
              <a:spLocks noChangeArrowheads="1"/>
            </p:cNvSpPr>
            <p:nvPr/>
          </p:nvSpPr>
          <p:spPr bwMode="auto">
            <a:xfrm>
              <a:off x="1326" y="1084"/>
              <a:ext cx="445" cy="236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000"/>
                <a:t>counter</a:t>
              </a:r>
            </a:p>
            <a:p>
              <a:pPr algn="ctr">
                <a:spcBef>
                  <a:spcPct val="0"/>
                </a:spcBef>
              </a:pPr>
              <a:r>
                <a:rPr lang="en-US" sz="1000"/>
                <a:t>( 0 – 254)</a:t>
              </a:r>
            </a:p>
          </p:txBody>
        </p:sp>
        <p:sp>
          <p:nvSpPr>
            <p:cNvPr id="3107" name="Freeform 10"/>
            <p:cNvSpPr>
              <a:spLocks/>
            </p:cNvSpPr>
            <p:nvPr/>
          </p:nvSpPr>
          <p:spPr bwMode="auto">
            <a:xfrm>
              <a:off x="1144" y="1154"/>
              <a:ext cx="181" cy="1"/>
            </a:xfrm>
            <a:custGeom>
              <a:avLst/>
              <a:gdLst>
                <a:gd name="T0" fmla="*/ 0 w 410"/>
                <a:gd name="T1" fmla="*/ 0 h 1"/>
                <a:gd name="T2" fmla="*/ 410 w 410"/>
                <a:gd name="T3" fmla="*/ 0 h 1"/>
                <a:gd name="T4" fmla="*/ 0 60000 65536"/>
                <a:gd name="T5" fmla="*/ 0 60000 65536"/>
                <a:gd name="T6" fmla="*/ 0 w 410"/>
                <a:gd name="T7" fmla="*/ 0 h 1"/>
                <a:gd name="T8" fmla="*/ 410 w 410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10" h="1">
                  <a:moveTo>
                    <a:pt x="0" y="0"/>
                  </a:moveTo>
                  <a:lnTo>
                    <a:pt x="41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08" name="Text Box 11"/>
            <p:cNvSpPr txBox="1">
              <a:spLocks noChangeArrowheads="1"/>
            </p:cNvSpPr>
            <p:nvPr/>
          </p:nvSpPr>
          <p:spPr bwMode="auto">
            <a:xfrm>
              <a:off x="1263" y="1461"/>
              <a:ext cx="571" cy="274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000">
                  <a:solidFill>
                    <a:srgbClr val="000000"/>
                  </a:solidFill>
                </a:rPr>
                <a:t>8-bit </a:t>
              </a:r>
            </a:p>
            <a:p>
              <a:pPr algn="ctr">
                <a:spcBef>
                  <a:spcPct val="0"/>
                </a:spcBef>
              </a:pPr>
              <a:r>
                <a:rPr lang="en-US" sz="1000">
                  <a:solidFill>
                    <a:srgbClr val="000000"/>
                  </a:solidFill>
                </a:rPr>
                <a:t>comparator</a:t>
              </a:r>
            </a:p>
          </p:txBody>
        </p:sp>
        <p:sp>
          <p:nvSpPr>
            <p:cNvPr id="3109" name="Freeform 12"/>
            <p:cNvSpPr>
              <a:spLocks/>
            </p:cNvSpPr>
            <p:nvPr/>
          </p:nvSpPr>
          <p:spPr bwMode="auto">
            <a:xfrm>
              <a:off x="1524" y="1321"/>
              <a:ext cx="2" cy="140"/>
            </a:xfrm>
            <a:custGeom>
              <a:avLst/>
              <a:gdLst>
                <a:gd name="T0" fmla="*/ 0 w 5"/>
                <a:gd name="T1" fmla="*/ 0 h 296"/>
                <a:gd name="T2" fmla="*/ 5 w 5"/>
                <a:gd name="T3" fmla="*/ 296 h 296"/>
                <a:gd name="T4" fmla="*/ 0 60000 65536"/>
                <a:gd name="T5" fmla="*/ 0 60000 65536"/>
                <a:gd name="T6" fmla="*/ 0 w 5"/>
                <a:gd name="T7" fmla="*/ 0 h 296"/>
                <a:gd name="T8" fmla="*/ 5 w 5"/>
                <a:gd name="T9" fmla="*/ 296 h 29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" h="296">
                  <a:moveTo>
                    <a:pt x="0" y="0"/>
                  </a:moveTo>
                  <a:lnTo>
                    <a:pt x="5" y="296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10" name="Freeform 13"/>
            <p:cNvSpPr>
              <a:spLocks/>
            </p:cNvSpPr>
            <p:nvPr/>
          </p:nvSpPr>
          <p:spPr bwMode="auto">
            <a:xfrm>
              <a:off x="1522" y="1735"/>
              <a:ext cx="0" cy="135"/>
            </a:xfrm>
            <a:custGeom>
              <a:avLst/>
              <a:gdLst>
                <a:gd name="T0" fmla="*/ 1 w 1"/>
                <a:gd name="T1" fmla="*/ 285 h 285"/>
                <a:gd name="T2" fmla="*/ 0 w 1"/>
                <a:gd name="T3" fmla="*/ 0 h 285"/>
                <a:gd name="T4" fmla="*/ 0 60000 65536"/>
                <a:gd name="T5" fmla="*/ 0 60000 65536"/>
                <a:gd name="T6" fmla="*/ 0 w 1"/>
                <a:gd name="T7" fmla="*/ 0 h 285"/>
                <a:gd name="T8" fmla="*/ 0 w 1"/>
                <a:gd name="T9" fmla="*/ 285 h 28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285">
                  <a:moveTo>
                    <a:pt x="1" y="285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11" name="Freeform 14"/>
            <p:cNvSpPr>
              <a:spLocks/>
            </p:cNvSpPr>
            <p:nvPr/>
          </p:nvSpPr>
          <p:spPr bwMode="auto">
            <a:xfrm>
              <a:off x="1832" y="1610"/>
              <a:ext cx="172" cy="1"/>
            </a:xfrm>
            <a:custGeom>
              <a:avLst/>
              <a:gdLst>
                <a:gd name="T0" fmla="*/ 0 w 390"/>
                <a:gd name="T1" fmla="*/ 0 h 1"/>
                <a:gd name="T2" fmla="*/ 390 w 390"/>
                <a:gd name="T3" fmla="*/ 0 h 1"/>
                <a:gd name="T4" fmla="*/ 0 60000 65536"/>
                <a:gd name="T5" fmla="*/ 0 60000 65536"/>
                <a:gd name="T6" fmla="*/ 0 w 390"/>
                <a:gd name="T7" fmla="*/ 0 h 1"/>
                <a:gd name="T8" fmla="*/ 390 w 390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0" h="1">
                  <a:moveTo>
                    <a:pt x="0" y="0"/>
                  </a:moveTo>
                  <a:lnTo>
                    <a:pt x="39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12" name="Text Box 15"/>
            <p:cNvSpPr txBox="1">
              <a:spLocks noChangeArrowheads="1"/>
            </p:cNvSpPr>
            <p:nvPr/>
          </p:nvSpPr>
          <p:spPr bwMode="auto">
            <a:xfrm>
              <a:off x="699" y="1240"/>
              <a:ext cx="445" cy="2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000"/>
                <a:t>controls how fast the counter increments</a:t>
              </a:r>
            </a:p>
          </p:txBody>
        </p:sp>
        <p:sp>
          <p:nvSpPr>
            <p:cNvPr id="3113" name="Text Box 16"/>
            <p:cNvSpPr txBox="1">
              <a:spLocks noChangeArrowheads="1"/>
            </p:cNvSpPr>
            <p:nvPr/>
          </p:nvSpPr>
          <p:spPr bwMode="auto">
            <a:xfrm>
              <a:off x="2533" y="1494"/>
              <a:ext cx="675" cy="3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000"/>
                <a:t>counter &lt; cycle_high,</a:t>
              </a:r>
            </a:p>
            <a:p>
              <a:pPr>
                <a:spcBef>
                  <a:spcPct val="0"/>
                </a:spcBef>
              </a:pPr>
              <a:r>
                <a:rPr lang="en-US" sz="1000"/>
                <a:t>pwm_o = 1</a:t>
              </a:r>
            </a:p>
            <a:p>
              <a:pPr>
                <a:spcBef>
                  <a:spcPct val="0"/>
                </a:spcBef>
              </a:pPr>
              <a:r>
                <a:rPr lang="en-US" sz="1000"/>
                <a:t>counter &gt;= cycle_high, </a:t>
              </a:r>
            </a:p>
            <a:p>
              <a:pPr>
                <a:spcBef>
                  <a:spcPct val="0"/>
                </a:spcBef>
              </a:pPr>
              <a:r>
                <a:rPr lang="en-US" sz="1000"/>
                <a:t>pwm_o = 0</a:t>
              </a:r>
            </a:p>
          </p:txBody>
        </p:sp>
        <p:sp>
          <p:nvSpPr>
            <p:cNvPr id="3114" name="Text Box 17"/>
            <p:cNvSpPr txBox="1">
              <a:spLocks noChangeArrowheads="1"/>
            </p:cNvSpPr>
            <p:nvPr/>
          </p:nvSpPr>
          <p:spPr bwMode="auto">
            <a:xfrm>
              <a:off x="2007" y="1549"/>
              <a:ext cx="436" cy="143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000"/>
                <a:t>pwm_o</a:t>
              </a:r>
            </a:p>
          </p:txBody>
        </p:sp>
        <p:sp>
          <p:nvSpPr>
            <p:cNvPr id="3115" name="Text Box 18"/>
            <p:cNvSpPr txBox="1">
              <a:spLocks noChangeArrowheads="1"/>
            </p:cNvSpPr>
            <p:nvPr/>
          </p:nvSpPr>
          <p:spPr bwMode="auto">
            <a:xfrm>
              <a:off x="197" y="1102"/>
              <a:ext cx="295" cy="124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000"/>
                <a:t>clk</a:t>
              </a:r>
            </a:p>
          </p:txBody>
        </p:sp>
        <p:sp>
          <p:nvSpPr>
            <p:cNvPr id="3116" name="Freeform 19"/>
            <p:cNvSpPr>
              <a:spLocks/>
            </p:cNvSpPr>
            <p:nvPr/>
          </p:nvSpPr>
          <p:spPr bwMode="auto">
            <a:xfrm>
              <a:off x="496" y="1150"/>
              <a:ext cx="203" cy="0"/>
            </a:xfrm>
            <a:custGeom>
              <a:avLst/>
              <a:gdLst>
                <a:gd name="T0" fmla="*/ 0 w 460"/>
                <a:gd name="T1" fmla="*/ 0 h 1"/>
                <a:gd name="T2" fmla="*/ 460 w 460"/>
                <a:gd name="T3" fmla="*/ 1 h 1"/>
                <a:gd name="T4" fmla="*/ 0 60000 65536"/>
                <a:gd name="T5" fmla="*/ 0 60000 65536"/>
                <a:gd name="T6" fmla="*/ 0 w 460"/>
                <a:gd name="T7" fmla="*/ 0 h 1"/>
                <a:gd name="T8" fmla="*/ 460 w 460"/>
                <a:gd name="T9" fmla="*/ 0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60" h="1">
                  <a:moveTo>
                    <a:pt x="0" y="0"/>
                  </a:moveTo>
                  <a:lnTo>
                    <a:pt x="460" y="1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17" name="Text Box 24"/>
            <p:cNvSpPr txBox="1">
              <a:spLocks noChangeArrowheads="1"/>
            </p:cNvSpPr>
            <p:nvPr/>
          </p:nvSpPr>
          <p:spPr bwMode="auto">
            <a:xfrm>
              <a:off x="648" y="1424"/>
              <a:ext cx="1440" cy="230"/>
            </a:xfrm>
            <a:prstGeom prst="rect">
              <a:avLst/>
            </a:prstGeom>
            <a:noFill/>
            <a:ln w="9525" cap="sq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3118" name="Rectangle 27"/>
            <p:cNvSpPr>
              <a:spLocks noChangeArrowheads="1"/>
            </p:cNvSpPr>
            <p:nvPr/>
          </p:nvSpPr>
          <p:spPr bwMode="auto">
            <a:xfrm>
              <a:off x="150" y="996"/>
              <a:ext cx="2976" cy="1194"/>
            </a:xfrm>
            <a:prstGeom prst="rect">
              <a:avLst/>
            </a:prstGeom>
            <a:noFill/>
            <a:ln w="9525" cap="sq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3082" name="Group 29"/>
          <p:cNvGrpSpPr>
            <a:grpSpLocks/>
          </p:cNvGrpSpPr>
          <p:nvPr/>
        </p:nvGrpSpPr>
        <p:grpSpPr bwMode="auto">
          <a:xfrm>
            <a:off x="5105400" y="1609725"/>
            <a:ext cx="3886200" cy="1979613"/>
            <a:chOff x="3216" y="1014"/>
            <a:chExt cx="2448" cy="1247"/>
          </a:xfrm>
        </p:grpSpPr>
        <p:graphicFrame>
          <p:nvGraphicFramePr>
            <p:cNvPr id="3075" name="Object 25"/>
            <p:cNvGraphicFramePr>
              <a:graphicFrameLocks noChangeAspect="1"/>
            </p:cNvGraphicFramePr>
            <p:nvPr/>
          </p:nvGraphicFramePr>
          <p:xfrm>
            <a:off x="3216" y="1014"/>
            <a:ext cx="2448" cy="10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Document" r:id="rId7" imgW="5252760" imgH="2274120" progId="Word.Document.8">
                    <p:embed/>
                  </p:oleObj>
                </mc:Choice>
                <mc:Fallback>
                  <p:oleObj name="Document" r:id="rId7" imgW="5252760" imgH="2274120" progId="Word.Document.8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6" y="1014"/>
                          <a:ext cx="2448" cy="107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02" name="Text Box 28"/>
            <p:cNvSpPr txBox="1">
              <a:spLocks noChangeArrowheads="1"/>
            </p:cNvSpPr>
            <p:nvPr/>
          </p:nvSpPr>
          <p:spPr bwMode="auto">
            <a:xfrm>
              <a:off x="3625" y="1913"/>
              <a:ext cx="1682" cy="3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endParaRPr lang="en-US" sz="1000"/>
            </a:p>
            <a:p>
              <a:pPr algn="ctr">
                <a:spcBef>
                  <a:spcPct val="0"/>
                </a:spcBef>
              </a:pPr>
              <a:r>
                <a:rPr lang="en-US" sz="1000"/>
                <a:t>Relationship between applied voltage and speed of the DC Motor</a:t>
              </a:r>
            </a:p>
          </p:txBody>
        </p:sp>
      </p:grpSp>
      <p:grpSp>
        <p:nvGrpSpPr>
          <p:cNvPr id="3083" name="Group 52"/>
          <p:cNvGrpSpPr>
            <a:grpSpLocks/>
          </p:cNvGrpSpPr>
          <p:nvPr/>
        </p:nvGrpSpPr>
        <p:grpSpPr bwMode="auto">
          <a:xfrm>
            <a:off x="5673725" y="4130675"/>
            <a:ext cx="2749550" cy="1498600"/>
            <a:chOff x="3508" y="2602"/>
            <a:chExt cx="1732" cy="944"/>
          </a:xfrm>
        </p:grpSpPr>
        <p:sp>
          <p:nvSpPr>
            <p:cNvPr id="3084" name="Oval 31"/>
            <p:cNvSpPr>
              <a:spLocks noChangeArrowheads="1"/>
            </p:cNvSpPr>
            <p:nvPr/>
          </p:nvSpPr>
          <p:spPr bwMode="auto">
            <a:xfrm>
              <a:off x="4670" y="2946"/>
              <a:ext cx="570" cy="462"/>
            </a:xfrm>
            <a:prstGeom prst="ellipse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algn="ctr"/>
              <a:r>
                <a:rPr lang="en-US" sz="1000"/>
                <a:t>DC </a:t>
              </a:r>
            </a:p>
            <a:p>
              <a:pPr algn="ctr"/>
              <a:r>
                <a:rPr lang="en-US" sz="1000"/>
                <a:t>MOTOR</a:t>
              </a:r>
            </a:p>
          </p:txBody>
        </p:sp>
        <p:sp>
          <p:nvSpPr>
            <p:cNvPr id="3085" name="Oval 33"/>
            <p:cNvSpPr>
              <a:spLocks noChangeArrowheads="1"/>
            </p:cNvSpPr>
            <p:nvPr/>
          </p:nvSpPr>
          <p:spPr bwMode="auto">
            <a:xfrm>
              <a:off x="4023" y="3020"/>
              <a:ext cx="241" cy="24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86" name="Line 34"/>
            <p:cNvSpPr>
              <a:spLocks noChangeShapeType="1"/>
            </p:cNvSpPr>
            <p:nvPr/>
          </p:nvSpPr>
          <p:spPr bwMode="auto">
            <a:xfrm>
              <a:off x="4105" y="3030"/>
              <a:ext cx="1" cy="21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87" name="Line 35"/>
            <p:cNvSpPr>
              <a:spLocks noChangeShapeType="1"/>
            </p:cNvSpPr>
            <p:nvPr/>
          </p:nvSpPr>
          <p:spPr bwMode="auto">
            <a:xfrm>
              <a:off x="4113" y="3147"/>
              <a:ext cx="103" cy="7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088" name="Group 38"/>
            <p:cNvGrpSpPr>
              <a:grpSpLocks/>
            </p:cNvGrpSpPr>
            <p:nvPr/>
          </p:nvGrpSpPr>
          <p:grpSpPr bwMode="auto">
            <a:xfrm>
              <a:off x="4105" y="3054"/>
              <a:ext cx="114" cy="95"/>
              <a:chOff x="3943" y="3090"/>
              <a:chExt cx="114" cy="95"/>
            </a:xfrm>
          </p:grpSpPr>
          <p:sp>
            <p:nvSpPr>
              <p:cNvPr id="3100" name="Line 36"/>
              <p:cNvSpPr>
                <a:spLocks noChangeShapeType="1"/>
              </p:cNvSpPr>
              <p:nvPr/>
            </p:nvSpPr>
            <p:spPr bwMode="auto">
              <a:xfrm flipH="1">
                <a:off x="3980" y="3090"/>
                <a:ext cx="77" cy="6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01" name="Freeform 37"/>
              <p:cNvSpPr>
                <a:spLocks/>
              </p:cNvSpPr>
              <p:nvPr/>
            </p:nvSpPr>
            <p:spPr bwMode="auto">
              <a:xfrm>
                <a:off x="3943" y="3127"/>
                <a:ext cx="61" cy="58"/>
              </a:xfrm>
              <a:custGeom>
                <a:avLst/>
                <a:gdLst>
                  <a:gd name="T0" fmla="*/ 24 w 61"/>
                  <a:gd name="T1" fmla="*/ 0 h 58"/>
                  <a:gd name="T2" fmla="*/ 0 w 61"/>
                  <a:gd name="T3" fmla="*/ 58 h 58"/>
                  <a:gd name="T4" fmla="*/ 61 w 61"/>
                  <a:gd name="T5" fmla="*/ 45 h 58"/>
                  <a:gd name="T6" fmla="*/ 24 w 61"/>
                  <a:gd name="T7" fmla="*/ 0 h 5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1"/>
                  <a:gd name="T13" fmla="*/ 0 h 58"/>
                  <a:gd name="T14" fmla="*/ 61 w 61"/>
                  <a:gd name="T15" fmla="*/ 58 h 5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1" h="58">
                    <a:moveTo>
                      <a:pt x="24" y="0"/>
                    </a:moveTo>
                    <a:lnTo>
                      <a:pt x="0" y="58"/>
                    </a:lnTo>
                    <a:lnTo>
                      <a:pt x="61" y="45"/>
                    </a:ln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089" name="Freeform 39"/>
            <p:cNvSpPr>
              <a:spLocks/>
            </p:cNvSpPr>
            <p:nvPr/>
          </p:nvSpPr>
          <p:spPr bwMode="auto">
            <a:xfrm>
              <a:off x="3936" y="3144"/>
              <a:ext cx="170" cy="3"/>
            </a:xfrm>
            <a:custGeom>
              <a:avLst/>
              <a:gdLst>
                <a:gd name="T0" fmla="*/ 170 w 170"/>
                <a:gd name="T1" fmla="*/ 3 h 3"/>
                <a:gd name="T2" fmla="*/ 0 w 170"/>
                <a:gd name="T3" fmla="*/ 0 h 3"/>
                <a:gd name="T4" fmla="*/ 0 60000 65536"/>
                <a:gd name="T5" fmla="*/ 0 60000 65536"/>
                <a:gd name="T6" fmla="*/ 0 w 170"/>
                <a:gd name="T7" fmla="*/ 0 h 3"/>
                <a:gd name="T8" fmla="*/ 170 w 170"/>
                <a:gd name="T9" fmla="*/ 3 h 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70" h="3">
                  <a:moveTo>
                    <a:pt x="170" y="3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90" name="Freeform 40"/>
            <p:cNvSpPr>
              <a:spLocks/>
            </p:cNvSpPr>
            <p:nvPr/>
          </p:nvSpPr>
          <p:spPr bwMode="auto">
            <a:xfrm>
              <a:off x="4219" y="2884"/>
              <a:ext cx="737" cy="662"/>
            </a:xfrm>
            <a:custGeom>
              <a:avLst/>
              <a:gdLst>
                <a:gd name="T0" fmla="*/ 0 w 737"/>
                <a:gd name="T1" fmla="*/ 167 h 662"/>
                <a:gd name="T2" fmla="*/ 1 w 737"/>
                <a:gd name="T3" fmla="*/ 0 h 662"/>
                <a:gd name="T4" fmla="*/ 281 w 737"/>
                <a:gd name="T5" fmla="*/ 2 h 662"/>
                <a:gd name="T6" fmla="*/ 281 w 737"/>
                <a:gd name="T7" fmla="*/ 662 h 662"/>
                <a:gd name="T8" fmla="*/ 737 w 737"/>
                <a:gd name="T9" fmla="*/ 662 h 662"/>
                <a:gd name="T10" fmla="*/ 737 w 737"/>
                <a:gd name="T11" fmla="*/ 530 h 66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37"/>
                <a:gd name="T19" fmla="*/ 0 h 662"/>
                <a:gd name="T20" fmla="*/ 737 w 737"/>
                <a:gd name="T21" fmla="*/ 662 h 66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37" h="662">
                  <a:moveTo>
                    <a:pt x="0" y="167"/>
                  </a:moveTo>
                  <a:lnTo>
                    <a:pt x="1" y="0"/>
                  </a:lnTo>
                  <a:lnTo>
                    <a:pt x="281" y="2"/>
                  </a:lnTo>
                  <a:lnTo>
                    <a:pt x="281" y="662"/>
                  </a:lnTo>
                  <a:lnTo>
                    <a:pt x="737" y="662"/>
                  </a:lnTo>
                  <a:lnTo>
                    <a:pt x="737" y="530"/>
                  </a:lnTo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91" name="Freeform 41"/>
            <p:cNvSpPr>
              <a:spLocks/>
            </p:cNvSpPr>
            <p:nvPr/>
          </p:nvSpPr>
          <p:spPr bwMode="auto">
            <a:xfrm>
              <a:off x="4218" y="3222"/>
              <a:ext cx="1" cy="174"/>
            </a:xfrm>
            <a:custGeom>
              <a:avLst/>
              <a:gdLst>
                <a:gd name="T0" fmla="*/ 1 w 1"/>
                <a:gd name="T1" fmla="*/ 0 h 174"/>
                <a:gd name="T2" fmla="*/ 0 w 1"/>
                <a:gd name="T3" fmla="*/ 174 h 174"/>
                <a:gd name="T4" fmla="*/ 0 60000 65536"/>
                <a:gd name="T5" fmla="*/ 0 60000 65536"/>
                <a:gd name="T6" fmla="*/ 0 w 1"/>
                <a:gd name="T7" fmla="*/ 0 h 174"/>
                <a:gd name="T8" fmla="*/ 1 w 1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74">
                  <a:moveTo>
                    <a:pt x="1" y="0"/>
                  </a:moveTo>
                  <a:lnTo>
                    <a:pt x="0" y="174"/>
                  </a:lnTo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92" name="Rectangle 43"/>
            <p:cNvSpPr>
              <a:spLocks noChangeArrowheads="1"/>
            </p:cNvSpPr>
            <p:nvPr/>
          </p:nvSpPr>
          <p:spPr bwMode="auto">
            <a:xfrm>
              <a:off x="4900" y="2602"/>
              <a:ext cx="174" cy="1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</a:rPr>
                <a:t>5V</a:t>
              </a:r>
              <a:endParaRPr lang="en-US"/>
            </a:p>
          </p:txBody>
        </p:sp>
        <p:sp>
          <p:nvSpPr>
            <p:cNvPr id="3093" name="Rectangle 44"/>
            <p:cNvSpPr>
              <a:spLocks noChangeArrowheads="1"/>
            </p:cNvSpPr>
            <p:nvPr/>
          </p:nvSpPr>
          <p:spPr bwMode="auto">
            <a:xfrm>
              <a:off x="4140" y="3337"/>
              <a:ext cx="82" cy="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94" name="Rectangle 46"/>
            <p:cNvSpPr>
              <a:spLocks noChangeArrowheads="1"/>
            </p:cNvSpPr>
            <p:nvPr/>
          </p:nvSpPr>
          <p:spPr bwMode="auto">
            <a:xfrm>
              <a:off x="3622" y="3135"/>
              <a:ext cx="162" cy="1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95" name="Rectangle 47"/>
            <p:cNvSpPr>
              <a:spLocks noChangeArrowheads="1"/>
            </p:cNvSpPr>
            <p:nvPr/>
          </p:nvSpPr>
          <p:spPr bwMode="auto">
            <a:xfrm>
              <a:off x="3508" y="3063"/>
              <a:ext cx="347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sz="1100">
                  <a:solidFill>
                    <a:srgbClr val="000000"/>
                  </a:solidFill>
                </a:rPr>
                <a:t>From processor</a:t>
              </a:r>
              <a:endParaRPr lang="en-US"/>
            </a:p>
          </p:txBody>
        </p:sp>
        <p:sp>
          <p:nvSpPr>
            <p:cNvPr id="3096" name="Line 48"/>
            <p:cNvSpPr>
              <a:spLocks noChangeShapeType="1"/>
            </p:cNvSpPr>
            <p:nvPr/>
          </p:nvSpPr>
          <p:spPr bwMode="auto">
            <a:xfrm>
              <a:off x="4116" y="3396"/>
              <a:ext cx="208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3097" name="Freeform 49"/>
            <p:cNvSpPr>
              <a:spLocks/>
            </p:cNvSpPr>
            <p:nvPr/>
          </p:nvSpPr>
          <p:spPr bwMode="auto">
            <a:xfrm>
              <a:off x="4152" y="3416"/>
              <a:ext cx="144" cy="4"/>
            </a:xfrm>
            <a:custGeom>
              <a:avLst/>
              <a:gdLst>
                <a:gd name="T0" fmla="*/ 0 w 144"/>
                <a:gd name="T1" fmla="*/ 0 h 4"/>
                <a:gd name="T2" fmla="*/ 144 w 144"/>
                <a:gd name="T3" fmla="*/ 4 h 4"/>
                <a:gd name="T4" fmla="*/ 0 60000 65536"/>
                <a:gd name="T5" fmla="*/ 0 60000 65536"/>
                <a:gd name="T6" fmla="*/ 0 w 144"/>
                <a:gd name="T7" fmla="*/ 0 h 4"/>
                <a:gd name="T8" fmla="*/ 144 w 144"/>
                <a:gd name="T9" fmla="*/ 4 h 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44" h="4">
                  <a:moveTo>
                    <a:pt x="0" y="0"/>
                  </a:moveTo>
                  <a:lnTo>
                    <a:pt x="144" y="4"/>
                  </a:lnTo>
                </a:path>
              </a:pathLst>
            </a:custGeom>
            <a:noFill/>
            <a:ln w="12700" cap="sq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3098" name="Freeform 50"/>
            <p:cNvSpPr>
              <a:spLocks/>
            </p:cNvSpPr>
            <p:nvPr/>
          </p:nvSpPr>
          <p:spPr bwMode="auto">
            <a:xfrm>
              <a:off x="4184" y="3444"/>
              <a:ext cx="84" cy="1"/>
            </a:xfrm>
            <a:custGeom>
              <a:avLst/>
              <a:gdLst>
                <a:gd name="T0" fmla="*/ 0 w 84"/>
                <a:gd name="T1" fmla="*/ 0 h 1"/>
                <a:gd name="T2" fmla="*/ 84 w 84"/>
                <a:gd name="T3" fmla="*/ 0 h 1"/>
                <a:gd name="T4" fmla="*/ 0 60000 65536"/>
                <a:gd name="T5" fmla="*/ 0 60000 65536"/>
                <a:gd name="T6" fmla="*/ 0 w 84"/>
                <a:gd name="T7" fmla="*/ 0 h 1"/>
                <a:gd name="T8" fmla="*/ 84 w 84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4" h="1">
                  <a:moveTo>
                    <a:pt x="0" y="0"/>
                  </a:moveTo>
                  <a:lnTo>
                    <a:pt x="84" y="0"/>
                  </a:lnTo>
                </a:path>
              </a:pathLst>
            </a:custGeom>
            <a:noFill/>
            <a:ln w="12700" cap="sq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  <p:sp>
          <p:nvSpPr>
            <p:cNvPr id="3099" name="Line 51"/>
            <p:cNvSpPr>
              <a:spLocks noChangeShapeType="1"/>
            </p:cNvSpPr>
            <p:nvPr/>
          </p:nvSpPr>
          <p:spPr bwMode="auto">
            <a:xfrm flipV="1">
              <a:off x="4950" y="2736"/>
              <a:ext cx="0" cy="210"/>
            </a:xfrm>
            <a:prstGeom prst="line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17B455D6-D6B1-4C83-8757-DA5EE58672D6}" type="slidenum">
              <a:rPr lang="en-US"/>
              <a:pPr/>
              <a:t>11</a:t>
            </a:fld>
            <a:endParaRPr lang="en-US"/>
          </a:p>
        </p:txBody>
      </p:sp>
      <p:sp>
        <p:nvSpPr>
          <p:cNvPr id="41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LCD controller</a:t>
            </a:r>
          </a:p>
        </p:txBody>
      </p:sp>
      <p:grpSp>
        <p:nvGrpSpPr>
          <p:cNvPr id="4103" name="Group 30"/>
          <p:cNvGrpSpPr>
            <a:grpSpLocks/>
          </p:cNvGrpSpPr>
          <p:nvPr/>
        </p:nvGrpSpPr>
        <p:grpSpPr bwMode="auto">
          <a:xfrm>
            <a:off x="304800" y="1657350"/>
            <a:ext cx="3871913" cy="1565275"/>
            <a:chOff x="192" y="1044"/>
            <a:chExt cx="2439" cy="986"/>
          </a:xfrm>
        </p:grpSpPr>
        <p:sp>
          <p:nvSpPr>
            <p:cNvPr id="4107" name="Text Box 5"/>
            <p:cNvSpPr txBox="1">
              <a:spLocks noChangeArrowheads="1"/>
            </p:cNvSpPr>
            <p:nvPr/>
          </p:nvSpPr>
          <p:spPr bwMode="auto">
            <a:xfrm>
              <a:off x="1822" y="1544"/>
              <a:ext cx="809" cy="379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endParaRPr lang="en-US" sz="1000"/>
            </a:p>
          </p:txBody>
        </p:sp>
        <p:sp>
          <p:nvSpPr>
            <p:cNvPr id="4108" name="Text Box 6"/>
            <p:cNvSpPr txBox="1">
              <a:spLocks noChangeArrowheads="1"/>
            </p:cNvSpPr>
            <p:nvPr/>
          </p:nvSpPr>
          <p:spPr bwMode="auto">
            <a:xfrm>
              <a:off x="1131" y="1044"/>
              <a:ext cx="527" cy="69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 type="none" w="lg" len="med"/>
            </a:ln>
          </p:spPr>
          <p:txBody>
            <a:bodyPr/>
            <a:lstStyle/>
            <a:p>
              <a:pPr>
                <a:spcBef>
                  <a:spcPct val="0"/>
                </a:spcBef>
              </a:pPr>
              <a:endParaRPr lang="en-US" sz="1000"/>
            </a:p>
          </p:txBody>
        </p:sp>
        <p:sp>
          <p:nvSpPr>
            <p:cNvPr id="4109" name="Text Box 7"/>
            <p:cNvSpPr txBox="1">
              <a:spLocks noChangeArrowheads="1"/>
            </p:cNvSpPr>
            <p:nvPr/>
          </p:nvSpPr>
          <p:spPr bwMode="auto">
            <a:xfrm>
              <a:off x="193" y="1047"/>
              <a:ext cx="510" cy="6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 type="none" w="lg" len="med"/>
            </a:ln>
          </p:spPr>
          <p:txBody>
            <a:bodyPr/>
            <a:lstStyle/>
            <a:p>
              <a:pPr>
                <a:spcBef>
                  <a:spcPct val="0"/>
                </a:spcBef>
              </a:pPr>
              <a:endParaRPr lang="en-US" sz="1000"/>
            </a:p>
          </p:txBody>
        </p:sp>
        <p:sp>
          <p:nvSpPr>
            <p:cNvPr id="4110" name="Text Box 8"/>
            <p:cNvSpPr txBox="1">
              <a:spLocks noChangeArrowheads="1"/>
            </p:cNvSpPr>
            <p:nvPr/>
          </p:nvSpPr>
          <p:spPr bwMode="auto">
            <a:xfrm flipH="1">
              <a:off x="1159" y="1130"/>
              <a:ext cx="59" cy="1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lg" len="med"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000"/>
                <a:t>E</a:t>
              </a:r>
            </a:p>
          </p:txBody>
        </p:sp>
        <p:sp>
          <p:nvSpPr>
            <p:cNvPr id="4111" name="Text Box 9"/>
            <p:cNvSpPr txBox="1">
              <a:spLocks noChangeArrowheads="1"/>
            </p:cNvSpPr>
            <p:nvPr/>
          </p:nvSpPr>
          <p:spPr bwMode="auto">
            <a:xfrm flipH="1">
              <a:off x="1159" y="1256"/>
              <a:ext cx="162" cy="1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lg" len="med"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000"/>
                <a:t>R/W</a:t>
              </a:r>
            </a:p>
          </p:txBody>
        </p:sp>
        <p:sp>
          <p:nvSpPr>
            <p:cNvPr id="4112" name="Text Box 10"/>
            <p:cNvSpPr txBox="1">
              <a:spLocks noChangeArrowheads="1"/>
            </p:cNvSpPr>
            <p:nvPr/>
          </p:nvSpPr>
          <p:spPr bwMode="auto">
            <a:xfrm flipH="1">
              <a:off x="1159" y="1373"/>
              <a:ext cx="107" cy="12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lg" len="med"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000"/>
                <a:t>RS</a:t>
              </a:r>
            </a:p>
          </p:txBody>
        </p:sp>
        <p:sp>
          <p:nvSpPr>
            <p:cNvPr id="4113" name="Text Box 11"/>
            <p:cNvSpPr txBox="1">
              <a:spLocks noChangeArrowheads="1"/>
            </p:cNvSpPr>
            <p:nvPr/>
          </p:nvSpPr>
          <p:spPr bwMode="auto">
            <a:xfrm flipH="1">
              <a:off x="1159" y="1514"/>
              <a:ext cx="370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lg" len="med"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000"/>
                <a:t>DB7–DB0</a:t>
              </a:r>
            </a:p>
          </p:txBody>
        </p:sp>
        <p:sp>
          <p:nvSpPr>
            <p:cNvPr id="4114" name="Text Box 12"/>
            <p:cNvSpPr txBox="1">
              <a:spLocks noChangeArrowheads="1"/>
            </p:cNvSpPr>
            <p:nvPr/>
          </p:nvSpPr>
          <p:spPr bwMode="auto">
            <a:xfrm>
              <a:off x="1199" y="1772"/>
              <a:ext cx="329" cy="2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lg" len="med"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000"/>
                <a:t>LCD controller</a:t>
              </a:r>
            </a:p>
          </p:txBody>
        </p:sp>
        <p:sp>
          <p:nvSpPr>
            <p:cNvPr id="4115" name="Freeform 13"/>
            <p:cNvSpPr>
              <a:spLocks/>
            </p:cNvSpPr>
            <p:nvPr/>
          </p:nvSpPr>
          <p:spPr bwMode="auto">
            <a:xfrm>
              <a:off x="703" y="1192"/>
              <a:ext cx="437" cy="2"/>
            </a:xfrm>
            <a:custGeom>
              <a:avLst/>
              <a:gdLst>
                <a:gd name="T0" fmla="*/ 0 w 431"/>
                <a:gd name="T1" fmla="*/ 0 h 2"/>
                <a:gd name="T2" fmla="*/ 431 w 431"/>
                <a:gd name="T3" fmla="*/ 2 h 2"/>
                <a:gd name="T4" fmla="*/ 0 60000 65536"/>
                <a:gd name="T5" fmla="*/ 0 60000 65536"/>
                <a:gd name="T6" fmla="*/ 0 w 431"/>
                <a:gd name="T7" fmla="*/ 0 h 2"/>
                <a:gd name="T8" fmla="*/ 431 w 431"/>
                <a:gd name="T9" fmla="*/ 2 h 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31" h="2">
                  <a:moveTo>
                    <a:pt x="0" y="0"/>
                  </a:moveTo>
                  <a:lnTo>
                    <a:pt x="431" y="2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6" name="Freeform 14"/>
            <p:cNvSpPr>
              <a:spLocks/>
            </p:cNvSpPr>
            <p:nvPr/>
          </p:nvSpPr>
          <p:spPr bwMode="auto">
            <a:xfrm>
              <a:off x="703" y="1317"/>
              <a:ext cx="431" cy="1"/>
            </a:xfrm>
            <a:custGeom>
              <a:avLst/>
              <a:gdLst>
                <a:gd name="T0" fmla="*/ 0 w 425"/>
                <a:gd name="T1" fmla="*/ 0 h 1"/>
                <a:gd name="T2" fmla="*/ 425 w 425"/>
                <a:gd name="T3" fmla="*/ 0 h 1"/>
                <a:gd name="T4" fmla="*/ 0 60000 65536"/>
                <a:gd name="T5" fmla="*/ 0 60000 65536"/>
                <a:gd name="T6" fmla="*/ 0 w 425"/>
                <a:gd name="T7" fmla="*/ 0 h 1"/>
                <a:gd name="T8" fmla="*/ 425 w 42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25" h="1">
                  <a:moveTo>
                    <a:pt x="0" y="0"/>
                  </a:moveTo>
                  <a:lnTo>
                    <a:pt x="425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7" name="Freeform 15"/>
            <p:cNvSpPr>
              <a:spLocks/>
            </p:cNvSpPr>
            <p:nvPr/>
          </p:nvSpPr>
          <p:spPr bwMode="auto">
            <a:xfrm>
              <a:off x="703" y="1440"/>
              <a:ext cx="431" cy="1"/>
            </a:xfrm>
            <a:custGeom>
              <a:avLst/>
              <a:gdLst>
                <a:gd name="T0" fmla="*/ 0 w 425"/>
                <a:gd name="T1" fmla="*/ 1 h 1"/>
                <a:gd name="T2" fmla="*/ 425 w 425"/>
                <a:gd name="T3" fmla="*/ 0 h 1"/>
                <a:gd name="T4" fmla="*/ 0 60000 65536"/>
                <a:gd name="T5" fmla="*/ 0 60000 65536"/>
                <a:gd name="T6" fmla="*/ 0 w 425"/>
                <a:gd name="T7" fmla="*/ 0 h 1"/>
                <a:gd name="T8" fmla="*/ 425 w 42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25" h="1">
                  <a:moveTo>
                    <a:pt x="0" y="1"/>
                  </a:moveTo>
                  <a:lnTo>
                    <a:pt x="425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8" name="Freeform 16"/>
            <p:cNvSpPr>
              <a:spLocks/>
            </p:cNvSpPr>
            <p:nvPr/>
          </p:nvSpPr>
          <p:spPr bwMode="auto">
            <a:xfrm>
              <a:off x="703" y="1581"/>
              <a:ext cx="437" cy="1"/>
            </a:xfrm>
            <a:custGeom>
              <a:avLst/>
              <a:gdLst>
                <a:gd name="T0" fmla="*/ 0 w 431"/>
                <a:gd name="T1" fmla="*/ 0 h 1"/>
                <a:gd name="T2" fmla="*/ 431 w 431"/>
                <a:gd name="T3" fmla="*/ 0 h 1"/>
                <a:gd name="T4" fmla="*/ 0 60000 65536"/>
                <a:gd name="T5" fmla="*/ 0 60000 65536"/>
                <a:gd name="T6" fmla="*/ 0 w 431"/>
                <a:gd name="T7" fmla="*/ 0 h 1"/>
                <a:gd name="T8" fmla="*/ 431 w 431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31" h="1">
                  <a:moveTo>
                    <a:pt x="0" y="0"/>
                  </a:moveTo>
                  <a:lnTo>
                    <a:pt x="431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19" name="Text Box 17"/>
            <p:cNvSpPr txBox="1">
              <a:spLocks noChangeArrowheads="1"/>
            </p:cNvSpPr>
            <p:nvPr/>
          </p:nvSpPr>
          <p:spPr bwMode="auto">
            <a:xfrm>
              <a:off x="2069" y="1155"/>
              <a:ext cx="547" cy="2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000"/>
                <a:t>communications bus</a:t>
              </a:r>
            </a:p>
          </p:txBody>
        </p:sp>
        <p:sp>
          <p:nvSpPr>
            <p:cNvPr id="4120" name="Text Box 18"/>
            <p:cNvSpPr txBox="1">
              <a:spLocks noChangeArrowheads="1"/>
            </p:cNvSpPr>
            <p:nvPr/>
          </p:nvSpPr>
          <p:spPr bwMode="auto">
            <a:xfrm>
              <a:off x="192" y="1756"/>
              <a:ext cx="529" cy="1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000"/>
                <a:t>microcontroller</a:t>
              </a:r>
            </a:p>
          </p:txBody>
        </p:sp>
        <p:sp>
          <p:nvSpPr>
            <p:cNvPr id="4121" name="Line 19"/>
            <p:cNvSpPr>
              <a:spLocks noChangeShapeType="1"/>
            </p:cNvSpPr>
            <p:nvPr/>
          </p:nvSpPr>
          <p:spPr bwMode="auto">
            <a:xfrm flipH="1">
              <a:off x="921" y="1533"/>
              <a:ext cx="36" cy="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22" name="Text Box 20"/>
            <p:cNvSpPr txBox="1">
              <a:spLocks noChangeArrowheads="1"/>
            </p:cNvSpPr>
            <p:nvPr/>
          </p:nvSpPr>
          <p:spPr bwMode="auto">
            <a:xfrm>
              <a:off x="915" y="1673"/>
              <a:ext cx="79" cy="1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000"/>
                <a:t>8</a:t>
              </a:r>
            </a:p>
          </p:txBody>
        </p:sp>
        <p:sp>
          <p:nvSpPr>
            <p:cNvPr id="4123" name="AutoShape 21"/>
            <p:cNvSpPr>
              <a:spLocks noChangeArrowheads="1"/>
            </p:cNvSpPr>
            <p:nvPr/>
          </p:nvSpPr>
          <p:spPr bwMode="auto">
            <a:xfrm rot="-5368597">
              <a:off x="1648" y="1126"/>
              <a:ext cx="410" cy="403"/>
            </a:xfrm>
            <a:custGeom>
              <a:avLst/>
              <a:gdLst>
                <a:gd name="T0" fmla="*/ 344 w 21600"/>
                <a:gd name="T1" fmla="*/ 0 h 21600"/>
                <a:gd name="T2" fmla="*/ 277 w 21600"/>
                <a:gd name="T3" fmla="*/ 119 h 21600"/>
                <a:gd name="T4" fmla="*/ 121 w 21600"/>
                <a:gd name="T5" fmla="*/ 273 h 21600"/>
                <a:gd name="T6" fmla="*/ 0 w 21600"/>
                <a:gd name="T7" fmla="*/ 338 h 21600"/>
                <a:gd name="T8" fmla="*/ 121 w 21600"/>
                <a:gd name="T9" fmla="*/ 403 h 21600"/>
                <a:gd name="T10" fmla="*/ 243 w 21600"/>
                <a:gd name="T11" fmla="*/ 358 h 21600"/>
                <a:gd name="T12" fmla="*/ 364 w 21600"/>
                <a:gd name="T13" fmla="*/ 239 h 21600"/>
                <a:gd name="T14" fmla="*/ 410 w 21600"/>
                <a:gd name="T15" fmla="*/ 119 h 21600"/>
                <a:gd name="T16" fmla="*/ 17694720 60000 65536"/>
                <a:gd name="T17" fmla="*/ 11796480 60000 65536"/>
                <a:gd name="T18" fmla="*/ 17694720 60000 65536"/>
                <a:gd name="T19" fmla="*/ 11796480 60000 65536"/>
                <a:gd name="T20" fmla="*/ 5898240 60000 65536"/>
                <a:gd name="T21" fmla="*/ 5898240 60000 65536"/>
                <a:gd name="T22" fmla="*/ 0 60000 65536"/>
                <a:gd name="T23" fmla="*/ 0 60000 65536"/>
                <a:gd name="T24" fmla="*/ 2002 w 21600"/>
                <a:gd name="T25" fmla="*/ 16991 h 21600"/>
                <a:gd name="T26" fmla="*/ 19177 w 21600"/>
                <a:gd name="T27" fmla="*/ 19188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18108" y="0"/>
                  </a:moveTo>
                  <a:lnTo>
                    <a:pt x="14616" y="6387"/>
                  </a:lnTo>
                  <a:lnTo>
                    <a:pt x="17014" y="6387"/>
                  </a:lnTo>
                  <a:lnTo>
                    <a:pt x="17014" y="17014"/>
                  </a:lnTo>
                  <a:lnTo>
                    <a:pt x="6387" y="17014"/>
                  </a:lnTo>
                  <a:lnTo>
                    <a:pt x="6387" y="14616"/>
                  </a:lnTo>
                  <a:lnTo>
                    <a:pt x="0" y="18108"/>
                  </a:lnTo>
                  <a:lnTo>
                    <a:pt x="6387" y="21600"/>
                  </a:lnTo>
                  <a:lnTo>
                    <a:pt x="6387" y="19202"/>
                  </a:lnTo>
                  <a:lnTo>
                    <a:pt x="19202" y="19202"/>
                  </a:lnTo>
                  <a:lnTo>
                    <a:pt x="19202" y="6387"/>
                  </a:lnTo>
                  <a:lnTo>
                    <a:pt x="21600" y="6387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4100" name="Object 22"/>
            <p:cNvGraphicFramePr>
              <a:graphicFrameLocks noChangeAspect="1"/>
            </p:cNvGraphicFramePr>
            <p:nvPr/>
          </p:nvGraphicFramePr>
          <p:xfrm>
            <a:off x="1829" y="1550"/>
            <a:ext cx="796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1" name="Document" r:id="rId4" imgW="1248480" imgH="571680" progId="Word.Document.8">
                    <p:embed/>
                  </p:oleObj>
                </mc:Choice>
                <mc:Fallback>
                  <p:oleObj name="Document" r:id="rId4" imgW="1248480" imgH="571680" progId="Word.Document.8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9" y="1550"/>
                          <a:ext cx="796" cy="3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cap="sq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04" name="Text Box 25"/>
          <p:cNvSpPr txBox="1">
            <a:spLocks noChangeArrowheads="1"/>
          </p:cNvSpPr>
          <p:nvPr/>
        </p:nvSpPr>
        <p:spPr bwMode="auto">
          <a:xfrm>
            <a:off x="4495800" y="1695450"/>
            <a:ext cx="4376738" cy="12096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sz="1100"/>
              <a:t>void WriteChar(char c){</a:t>
            </a:r>
          </a:p>
          <a:p>
            <a:pPr>
              <a:spcBef>
                <a:spcPct val="0"/>
              </a:spcBef>
            </a:pPr>
            <a:endParaRPr lang="en-US" sz="1100"/>
          </a:p>
          <a:p>
            <a:pPr>
              <a:spcBef>
                <a:spcPct val="0"/>
              </a:spcBef>
            </a:pPr>
            <a:r>
              <a:rPr lang="en-US" sz="1100"/>
              <a:t>   RS = 1;                                /* indicate data being sent */</a:t>
            </a:r>
          </a:p>
          <a:p>
            <a:pPr>
              <a:spcBef>
                <a:spcPct val="0"/>
              </a:spcBef>
            </a:pPr>
            <a:r>
              <a:rPr lang="en-US" sz="1100"/>
              <a:t>   DATA_BUS = c;                /* send data to LCD */</a:t>
            </a:r>
          </a:p>
          <a:p>
            <a:pPr>
              <a:spcBef>
                <a:spcPct val="0"/>
              </a:spcBef>
            </a:pPr>
            <a:r>
              <a:rPr lang="en-US" sz="1100"/>
              <a:t>   EnableLCD(45);                 /* toggle the LCD with appropriate delay */</a:t>
            </a:r>
          </a:p>
          <a:p>
            <a:pPr>
              <a:spcBef>
                <a:spcPct val="0"/>
              </a:spcBef>
            </a:pPr>
            <a:r>
              <a:rPr lang="en-US" sz="1100"/>
              <a:t>}</a:t>
            </a:r>
          </a:p>
        </p:txBody>
      </p:sp>
      <p:sp>
        <p:nvSpPr>
          <p:cNvPr id="4105" name="Text Box 26"/>
          <p:cNvSpPr txBox="1">
            <a:spLocks noChangeArrowheads="1"/>
          </p:cNvSpPr>
          <p:nvPr/>
        </p:nvSpPr>
        <p:spPr bwMode="auto">
          <a:xfrm>
            <a:off x="1457325" y="4181475"/>
            <a:ext cx="2333625" cy="365125"/>
          </a:xfrm>
          <a:prstGeom prst="rect">
            <a:avLst/>
          </a:prstGeom>
          <a:noFill/>
          <a:ln w="9525" cap="sq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graphicFrame>
        <p:nvGraphicFramePr>
          <p:cNvPr id="4098" name="Object 27"/>
          <p:cNvGraphicFramePr>
            <a:graphicFrameLocks noChangeAspect="1"/>
          </p:cNvGraphicFramePr>
          <p:nvPr/>
        </p:nvGraphicFramePr>
        <p:xfrm>
          <a:off x="141288" y="3571875"/>
          <a:ext cx="3367087" cy="172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Document" r:id="rId7" imgW="4242600" imgH="2276280" progId="Word.Document.8">
                  <p:embed/>
                </p:oleObj>
              </mc:Choice>
              <mc:Fallback>
                <p:oleObj name="Document" r:id="rId7" imgW="4242600" imgH="2276280" progId="Word.Document.8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288" y="3571875"/>
                        <a:ext cx="3367087" cy="1724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6" name="Text Box 28"/>
          <p:cNvSpPr txBox="1">
            <a:spLocks noChangeArrowheads="1"/>
          </p:cNvSpPr>
          <p:nvPr/>
        </p:nvSpPr>
        <p:spPr bwMode="auto">
          <a:xfrm>
            <a:off x="4724400" y="3886200"/>
            <a:ext cx="2038350" cy="365125"/>
          </a:xfrm>
          <a:prstGeom prst="rect">
            <a:avLst/>
          </a:prstGeom>
          <a:noFill/>
          <a:ln w="9525" cap="sq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endParaRPr lang="en-US"/>
          </a:p>
        </p:txBody>
      </p:sp>
      <p:graphicFrame>
        <p:nvGraphicFramePr>
          <p:cNvPr id="4099" name="Object 29"/>
          <p:cNvGraphicFramePr>
            <a:graphicFrameLocks noChangeAspect="1"/>
          </p:cNvGraphicFramePr>
          <p:nvPr/>
        </p:nvGraphicFramePr>
        <p:xfrm>
          <a:off x="3562350" y="3571875"/>
          <a:ext cx="5400675" cy="255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Document" r:id="rId10" imgW="6597000" imgH="2915280" progId="Word.Document.8">
                  <p:embed/>
                </p:oleObj>
              </mc:Choice>
              <mc:Fallback>
                <p:oleObj name="Document" r:id="rId10" imgW="6597000" imgH="2915280" progId="Word.Document.8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2350" y="3571875"/>
                        <a:ext cx="5400675" cy="2552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72D8633A-55A1-4990-A47D-62E2CA2F6DB7}" type="slidenum">
              <a:rPr lang="en-US"/>
              <a:pPr/>
              <a:t>12</a:t>
            </a:fld>
            <a:endParaRPr lang="en-US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Keypad controller</a:t>
            </a:r>
          </a:p>
        </p:txBody>
      </p:sp>
      <p:grpSp>
        <p:nvGrpSpPr>
          <p:cNvPr id="16388" name="Group 200"/>
          <p:cNvGrpSpPr>
            <a:grpSpLocks/>
          </p:cNvGrpSpPr>
          <p:nvPr/>
        </p:nvGrpSpPr>
        <p:grpSpPr bwMode="auto">
          <a:xfrm>
            <a:off x="1600200" y="2025650"/>
            <a:ext cx="5788025" cy="3844925"/>
            <a:chOff x="1008" y="1276"/>
            <a:chExt cx="3646" cy="2422"/>
          </a:xfrm>
        </p:grpSpPr>
        <p:sp>
          <p:nvSpPr>
            <p:cNvPr id="16389" name="Text Box 5"/>
            <p:cNvSpPr txBox="1">
              <a:spLocks noChangeArrowheads="1"/>
            </p:cNvSpPr>
            <p:nvPr/>
          </p:nvSpPr>
          <p:spPr bwMode="auto">
            <a:xfrm>
              <a:off x="2761" y="1276"/>
              <a:ext cx="1032" cy="1737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endParaRPr lang="en-US" sz="1200"/>
            </a:p>
          </p:txBody>
        </p:sp>
        <p:sp>
          <p:nvSpPr>
            <p:cNvPr id="16390" name="Freeform 8"/>
            <p:cNvSpPr>
              <a:spLocks/>
            </p:cNvSpPr>
            <p:nvPr/>
          </p:nvSpPr>
          <p:spPr bwMode="auto">
            <a:xfrm>
              <a:off x="1014" y="2004"/>
              <a:ext cx="1402" cy="1"/>
            </a:xfrm>
            <a:custGeom>
              <a:avLst/>
              <a:gdLst>
                <a:gd name="T0" fmla="*/ 0 w 1402"/>
                <a:gd name="T1" fmla="*/ 0 h 1"/>
                <a:gd name="T2" fmla="*/ 1402 w 1402"/>
                <a:gd name="T3" fmla="*/ 1 h 1"/>
                <a:gd name="T4" fmla="*/ 0 60000 65536"/>
                <a:gd name="T5" fmla="*/ 0 60000 65536"/>
                <a:gd name="T6" fmla="*/ 0 w 1402"/>
                <a:gd name="T7" fmla="*/ 0 h 1"/>
                <a:gd name="T8" fmla="*/ 1402 w 1402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402" h="1">
                  <a:moveTo>
                    <a:pt x="0" y="0"/>
                  </a:moveTo>
                  <a:lnTo>
                    <a:pt x="1402" y="1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91" name="Freeform 10"/>
            <p:cNvSpPr>
              <a:spLocks/>
            </p:cNvSpPr>
            <p:nvPr/>
          </p:nvSpPr>
          <p:spPr bwMode="auto">
            <a:xfrm>
              <a:off x="1072" y="1848"/>
              <a:ext cx="129" cy="1"/>
            </a:xfrm>
            <a:custGeom>
              <a:avLst/>
              <a:gdLst>
                <a:gd name="T0" fmla="*/ 0 w 323"/>
                <a:gd name="T1" fmla="*/ 0 h 1"/>
                <a:gd name="T2" fmla="*/ 323 w 323"/>
                <a:gd name="T3" fmla="*/ 0 h 1"/>
                <a:gd name="T4" fmla="*/ 0 60000 65536"/>
                <a:gd name="T5" fmla="*/ 0 60000 65536"/>
                <a:gd name="T6" fmla="*/ 0 w 323"/>
                <a:gd name="T7" fmla="*/ 0 h 1"/>
                <a:gd name="T8" fmla="*/ 323 w 323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23" h="1">
                  <a:moveTo>
                    <a:pt x="0" y="0"/>
                  </a:moveTo>
                  <a:lnTo>
                    <a:pt x="323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92" name="Freeform 11"/>
            <p:cNvSpPr>
              <a:spLocks/>
            </p:cNvSpPr>
            <p:nvPr/>
          </p:nvSpPr>
          <p:spPr bwMode="auto">
            <a:xfrm>
              <a:off x="1139" y="1772"/>
              <a:ext cx="1" cy="76"/>
            </a:xfrm>
            <a:custGeom>
              <a:avLst/>
              <a:gdLst>
                <a:gd name="T0" fmla="*/ 2 w 2"/>
                <a:gd name="T1" fmla="*/ 0 h 133"/>
                <a:gd name="T2" fmla="*/ 0 w 2"/>
                <a:gd name="T3" fmla="*/ 133 h 133"/>
                <a:gd name="T4" fmla="*/ 0 60000 65536"/>
                <a:gd name="T5" fmla="*/ 0 60000 65536"/>
                <a:gd name="T6" fmla="*/ 0 w 2"/>
                <a:gd name="T7" fmla="*/ 0 h 133"/>
                <a:gd name="T8" fmla="*/ 2 w 2"/>
                <a:gd name="T9" fmla="*/ 133 h 13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" h="133">
                  <a:moveTo>
                    <a:pt x="2" y="0"/>
                  </a:moveTo>
                  <a:lnTo>
                    <a:pt x="0" y="133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93" name="Oval 12"/>
            <p:cNvSpPr>
              <a:spLocks noChangeArrowheads="1"/>
            </p:cNvSpPr>
            <p:nvPr/>
          </p:nvSpPr>
          <p:spPr bwMode="auto">
            <a:xfrm>
              <a:off x="1060" y="1888"/>
              <a:ext cx="23" cy="3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94" name="Oval 13"/>
            <p:cNvSpPr>
              <a:spLocks noChangeArrowheads="1"/>
            </p:cNvSpPr>
            <p:nvPr/>
          </p:nvSpPr>
          <p:spPr bwMode="auto">
            <a:xfrm>
              <a:off x="1192" y="1889"/>
              <a:ext cx="23" cy="3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95" name="Freeform 14"/>
            <p:cNvSpPr>
              <a:spLocks/>
            </p:cNvSpPr>
            <p:nvPr/>
          </p:nvSpPr>
          <p:spPr bwMode="auto">
            <a:xfrm>
              <a:off x="1011" y="1905"/>
              <a:ext cx="48" cy="1"/>
            </a:xfrm>
            <a:custGeom>
              <a:avLst/>
              <a:gdLst>
                <a:gd name="T0" fmla="*/ 118 w 118"/>
                <a:gd name="T1" fmla="*/ 0 h 1"/>
                <a:gd name="T2" fmla="*/ 0 w 118"/>
                <a:gd name="T3" fmla="*/ 0 h 1"/>
                <a:gd name="T4" fmla="*/ 0 60000 65536"/>
                <a:gd name="T5" fmla="*/ 0 60000 65536"/>
                <a:gd name="T6" fmla="*/ 0 w 118"/>
                <a:gd name="T7" fmla="*/ 0 h 1"/>
                <a:gd name="T8" fmla="*/ 118 w 118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8" h="1">
                  <a:moveTo>
                    <a:pt x="118" y="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96" name="Freeform 15"/>
            <p:cNvSpPr>
              <a:spLocks/>
            </p:cNvSpPr>
            <p:nvPr/>
          </p:nvSpPr>
          <p:spPr bwMode="auto">
            <a:xfrm>
              <a:off x="1008" y="1908"/>
              <a:ext cx="3" cy="102"/>
            </a:xfrm>
            <a:custGeom>
              <a:avLst/>
              <a:gdLst>
                <a:gd name="T0" fmla="*/ 3 w 3"/>
                <a:gd name="T1" fmla="*/ 0 h 102"/>
                <a:gd name="T2" fmla="*/ 0 w 3"/>
                <a:gd name="T3" fmla="*/ 102 h 102"/>
                <a:gd name="T4" fmla="*/ 0 60000 65536"/>
                <a:gd name="T5" fmla="*/ 0 60000 65536"/>
                <a:gd name="T6" fmla="*/ 0 w 3"/>
                <a:gd name="T7" fmla="*/ 0 h 102"/>
                <a:gd name="T8" fmla="*/ 3 w 3"/>
                <a:gd name="T9" fmla="*/ 102 h 10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" h="102">
                  <a:moveTo>
                    <a:pt x="3" y="0"/>
                  </a:moveTo>
                  <a:lnTo>
                    <a:pt x="0" y="102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97" name="Freeform 16"/>
            <p:cNvSpPr>
              <a:spLocks/>
            </p:cNvSpPr>
            <p:nvPr/>
          </p:nvSpPr>
          <p:spPr bwMode="auto">
            <a:xfrm>
              <a:off x="1218" y="1905"/>
              <a:ext cx="33" cy="1"/>
            </a:xfrm>
            <a:custGeom>
              <a:avLst/>
              <a:gdLst>
                <a:gd name="T0" fmla="*/ 0 w 83"/>
                <a:gd name="T1" fmla="*/ 1 h 1"/>
                <a:gd name="T2" fmla="*/ 83 w 83"/>
                <a:gd name="T3" fmla="*/ 0 h 1"/>
                <a:gd name="T4" fmla="*/ 0 60000 65536"/>
                <a:gd name="T5" fmla="*/ 0 60000 65536"/>
                <a:gd name="T6" fmla="*/ 0 w 83"/>
                <a:gd name="T7" fmla="*/ 0 h 1"/>
                <a:gd name="T8" fmla="*/ 83 w 83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3" h="1">
                  <a:moveTo>
                    <a:pt x="0" y="1"/>
                  </a:moveTo>
                  <a:lnTo>
                    <a:pt x="83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6398" name="Group 17"/>
            <p:cNvGrpSpPr>
              <a:grpSpLocks/>
            </p:cNvGrpSpPr>
            <p:nvPr/>
          </p:nvGrpSpPr>
          <p:grpSpPr bwMode="auto">
            <a:xfrm>
              <a:off x="1399" y="1772"/>
              <a:ext cx="239" cy="235"/>
              <a:chOff x="3462" y="1592"/>
              <a:chExt cx="599" cy="410"/>
            </a:xfrm>
          </p:grpSpPr>
          <p:sp>
            <p:nvSpPr>
              <p:cNvPr id="16564" name="Freeform 18"/>
              <p:cNvSpPr>
                <a:spLocks/>
              </p:cNvSpPr>
              <p:nvPr/>
            </p:nvSpPr>
            <p:spPr bwMode="auto">
              <a:xfrm>
                <a:off x="3614" y="1725"/>
                <a:ext cx="323" cy="1"/>
              </a:xfrm>
              <a:custGeom>
                <a:avLst/>
                <a:gdLst>
                  <a:gd name="T0" fmla="*/ 0 w 323"/>
                  <a:gd name="T1" fmla="*/ 0 h 1"/>
                  <a:gd name="T2" fmla="*/ 323 w 323"/>
                  <a:gd name="T3" fmla="*/ 0 h 1"/>
                  <a:gd name="T4" fmla="*/ 0 60000 65536"/>
                  <a:gd name="T5" fmla="*/ 0 60000 65536"/>
                  <a:gd name="T6" fmla="*/ 0 w 323"/>
                  <a:gd name="T7" fmla="*/ 0 h 1"/>
                  <a:gd name="T8" fmla="*/ 323 w 323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23" h="1">
                    <a:moveTo>
                      <a:pt x="0" y="0"/>
                    </a:moveTo>
                    <a:lnTo>
                      <a:pt x="323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65" name="Freeform 19"/>
              <p:cNvSpPr>
                <a:spLocks/>
              </p:cNvSpPr>
              <p:nvPr/>
            </p:nvSpPr>
            <p:spPr bwMode="auto">
              <a:xfrm>
                <a:off x="3781" y="1592"/>
                <a:ext cx="2" cy="133"/>
              </a:xfrm>
              <a:custGeom>
                <a:avLst/>
                <a:gdLst>
                  <a:gd name="T0" fmla="*/ 2 w 2"/>
                  <a:gd name="T1" fmla="*/ 0 h 133"/>
                  <a:gd name="T2" fmla="*/ 0 w 2"/>
                  <a:gd name="T3" fmla="*/ 133 h 133"/>
                  <a:gd name="T4" fmla="*/ 0 60000 65536"/>
                  <a:gd name="T5" fmla="*/ 0 60000 65536"/>
                  <a:gd name="T6" fmla="*/ 0 w 2"/>
                  <a:gd name="T7" fmla="*/ 0 h 133"/>
                  <a:gd name="T8" fmla="*/ 2 w 2"/>
                  <a:gd name="T9" fmla="*/ 133 h 13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" h="133">
                    <a:moveTo>
                      <a:pt x="2" y="0"/>
                    </a:moveTo>
                    <a:lnTo>
                      <a:pt x="0" y="133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66" name="Oval 20"/>
              <p:cNvSpPr>
                <a:spLocks noChangeArrowheads="1"/>
              </p:cNvSpPr>
              <p:nvPr/>
            </p:nvSpPr>
            <p:spPr bwMode="auto">
              <a:xfrm>
                <a:off x="3584" y="1795"/>
                <a:ext cx="58" cy="5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67" name="Oval 21"/>
              <p:cNvSpPr>
                <a:spLocks noChangeArrowheads="1"/>
              </p:cNvSpPr>
              <p:nvPr/>
            </p:nvSpPr>
            <p:spPr bwMode="auto">
              <a:xfrm>
                <a:off x="3913" y="1796"/>
                <a:ext cx="58" cy="5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68" name="Freeform 22"/>
              <p:cNvSpPr>
                <a:spLocks/>
              </p:cNvSpPr>
              <p:nvPr/>
            </p:nvSpPr>
            <p:spPr bwMode="auto">
              <a:xfrm>
                <a:off x="3463" y="1824"/>
                <a:ext cx="118" cy="1"/>
              </a:xfrm>
              <a:custGeom>
                <a:avLst/>
                <a:gdLst>
                  <a:gd name="T0" fmla="*/ 118 w 118"/>
                  <a:gd name="T1" fmla="*/ 0 h 1"/>
                  <a:gd name="T2" fmla="*/ 0 w 118"/>
                  <a:gd name="T3" fmla="*/ 0 h 1"/>
                  <a:gd name="T4" fmla="*/ 0 60000 65536"/>
                  <a:gd name="T5" fmla="*/ 0 60000 65536"/>
                  <a:gd name="T6" fmla="*/ 0 w 118"/>
                  <a:gd name="T7" fmla="*/ 0 h 1"/>
                  <a:gd name="T8" fmla="*/ 118 w 118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18" h="1">
                    <a:moveTo>
                      <a:pt x="118" y="0"/>
                    </a:move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69" name="Line 23"/>
              <p:cNvSpPr>
                <a:spLocks noChangeShapeType="1"/>
              </p:cNvSpPr>
              <p:nvPr/>
            </p:nvSpPr>
            <p:spPr bwMode="auto">
              <a:xfrm>
                <a:off x="3462" y="1830"/>
                <a:ext cx="0" cy="17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70" name="Freeform 24"/>
              <p:cNvSpPr>
                <a:spLocks/>
              </p:cNvSpPr>
              <p:nvPr/>
            </p:nvSpPr>
            <p:spPr bwMode="auto">
              <a:xfrm>
                <a:off x="3978" y="1824"/>
                <a:ext cx="83" cy="1"/>
              </a:xfrm>
              <a:custGeom>
                <a:avLst/>
                <a:gdLst>
                  <a:gd name="T0" fmla="*/ 0 w 83"/>
                  <a:gd name="T1" fmla="*/ 1 h 1"/>
                  <a:gd name="T2" fmla="*/ 83 w 83"/>
                  <a:gd name="T3" fmla="*/ 0 h 1"/>
                  <a:gd name="T4" fmla="*/ 0 60000 65536"/>
                  <a:gd name="T5" fmla="*/ 0 60000 65536"/>
                  <a:gd name="T6" fmla="*/ 0 w 83"/>
                  <a:gd name="T7" fmla="*/ 0 h 1"/>
                  <a:gd name="T8" fmla="*/ 83 w 83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83" h="1">
                    <a:moveTo>
                      <a:pt x="0" y="1"/>
                    </a:moveTo>
                    <a:lnTo>
                      <a:pt x="83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399" name="Group 25"/>
            <p:cNvGrpSpPr>
              <a:grpSpLocks/>
            </p:cNvGrpSpPr>
            <p:nvPr/>
          </p:nvGrpSpPr>
          <p:grpSpPr bwMode="auto">
            <a:xfrm>
              <a:off x="1782" y="1772"/>
              <a:ext cx="240" cy="235"/>
              <a:chOff x="4422" y="1592"/>
              <a:chExt cx="599" cy="410"/>
            </a:xfrm>
          </p:grpSpPr>
          <p:sp>
            <p:nvSpPr>
              <p:cNvPr id="16557" name="Freeform 26"/>
              <p:cNvSpPr>
                <a:spLocks/>
              </p:cNvSpPr>
              <p:nvPr/>
            </p:nvSpPr>
            <p:spPr bwMode="auto">
              <a:xfrm>
                <a:off x="4574" y="1725"/>
                <a:ext cx="323" cy="1"/>
              </a:xfrm>
              <a:custGeom>
                <a:avLst/>
                <a:gdLst>
                  <a:gd name="T0" fmla="*/ 0 w 323"/>
                  <a:gd name="T1" fmla="*/ 0 h 1"/>
                  <a:gd name="T2" fmla="*/ 323 w 323"/>
                  <a:gd name="T3" fmla="*/ 0 h 1"/>
                  <a:gd name="T4" fmla="*/ 0 60000 65536"/>
                  <a:gd name="T5" fmla="*/ 0 60000 65536"/>
                  <a:gd name="T6" fmla="*/ 0 w 323"/>
                  <a:gd name="T7" fmla="*/ 0 h 1"/>
                  <a:gd name="T8" fmla="*/ 323 w 323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23" h="1">
                    <a:moveTo>
                      <a:pt x="0" y="0"/>
                    </a:moveTo>
                    <a:lnTo>
                      <a:pt x="323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58" name="Freeform 27"/>
              <p:cNvSpPr>
                <a:spLocks/>
              </p:cNvSpPr>
              <p:nvPr/>
            </p:nvSpPr>
            <p:spPr bwMode="auto">
              <a:xfrm>
                <a:off x="4741" y="1592"/>
                <a:ext cx="2" cy="133"/>
              </a:xfrm>
              <a:custGeom>
                <a:avLst/>
                <a:gdLst>
                  <a:gd name="T0" fmla="*/ 2 w 2"/>
                  <a:gd name="T1" fmla="*/ 0 h 133"/>
                  <a:gd name="T2" fmla="*/ 0 w 2"/>
                  <a:gd name="T3" fmla="*/ 133 h 133"/>
                  <a:gd name="T4" fmla="*/ 0 60000 65536"/>
                  <a:gd name="T5" fmla="*/ 0 60000 65536"/>
                  <a:gd name="T6" fmla="*/ 0 w 2"/>
                  <a:gd name="T7" fmla="*/ 0 h 133"/>
                  <a:gd name="T8" fmla="*/ 2 w 2"/>
                  <a:gd name="T9" fmla="*/ 133 h 13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" h="133">
                    <a:moveTo>
                      <a:pt x="2" y="0"/>
                    </a:moveTo>
                    <a:lnTo>
                      <a:pt x="0" y="133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59" name="Oval 28"/>
              <p:cNvSpPr>
                <a:spLocks noChangeArrowheads="1"/>
              </p:cNvSpPr>
              <p:nvPr/>
            </p:nvSpPr>
            <p:spPr bwMode="auto">
              <a:xfrm>
                <a:off x="4544" y="1795"/>
                <a:ext cx="58" cy="5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60" name="Oval 29"/>
              <p:cNvSpPr>
                <a:spLocks noChangeArrowheads="1"/>
              </p:cNvSpPr>
              <p:nvPr/>
            </p:nvSpPr>
            <p:spPr bwMode="auto">
              <a:xfrm>
                <a:off x="4873" y="1796"/>
                <a:ext cx="58" cy="5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61" name="Freeform 30"/>
              <p:cNvSpPr>
                <a:spLocks/>
              </p:cNvSpPr>
              <p:nvPr/>
            </p:nvSpPr>
            <p:spPr bwMode="auto">
              <a:xfrm>
                <a:off x="4423" y="1824"/>
                <a:ext cx="118" cy="1"/>
              </a:xfrm>
              <a:custGeom>
                <a:avLst/>
                <a:gdLst>
                  <a:gd name="T0" fmla="*/ 118 w 118"/>
                  <a:gd name="T1" fmla="*/ 0 h 1"/>
                  <a:gd name="T2" fmla="*/ 0 w 118"/>
                  <a:gd name="T3" fmla="*/ 0 h 1"/>
                  <a:gd name="T4" fmla="*/ 0 60000 65536"/>
                  <a:gd name="T5" fmla="*/ 0 60000 65536"/>
                  <a:gd name="T6" fmla="*/ 0 w 118"/>
                  <a:gd name="T7" fmla="*/ 0 h 1"/>
                  <a:gd name="T8" fmla="*/ 118 w 118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18" h="1">
                    <a:moveTo>
                      <a:pt x="118" y="0"/>
                    </a:move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62" name="Line 31"/>
              <p:cNvSpPr>
                <a:spLocks noChangeShapeType="1"/>
              </p:cNvSpPr>
              <p:nvPr/>
            </p:nvSpPr>
            <p:spPr bwMode="auto">
              <a:xfrm>
                <a:off x="4422" y="1830"/>
                <a:ext cx="0" cy="17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63" name="Freeform 32"/>
              <p:cNvSpPr>
                <a:spLocks/>
              </p:cNvSpPr>
              <p:nvPr/>
            </p:nvSpPr>
            <p:spPr bwMode="auto">
              <a:xfrm>
                <a:off x="4938" y="1824"/>
                <a:ext cx="83" cy="1"/>
              </a:xfrm>
              <a:custGeom>
                <a:avLst/>
                <a:gdLst>
                  <a:gd name="T0" fmla="*/ 0 w 83"/>
                  <a:gd name="T1" fmla="*/ 1 h 1"/>
                  <a:gd name="T2" fmla="*/ 83 w 83"/>
                  <a:gd name="T3" fmla="*/ 0 h 1"/>
                  <a:gd name="T4" fmla="*/ 0 60000 65536"/>
                  <a:gd name="T5" fmla="*/ 0 60000 65536"/>
                  <a:gd name="T6" fmla="*/ 0 w 83"/>
                  <a:gd name="T7" fmla="*/ 0 h 1"/>
                  <a:gd name="T8" fmla="*/ 83 w 83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83" h="1">
                    <a:moveTo>
                      <a:pt x="0" y="1"/>
                    </a:moveTo>
                    <a:lnTo>
                      <a:pt x="83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6400" name="Freeform 34"/>
            <p:cNvSpPr>
              <a:spLocks/>
            </p:cNvSpPr>
            <p:nvPr/>
          </p:nvSpPr>
          <p:spPr bwMode="auto">
            <a:xfrm>
              <a:off x="2224" y="1848"/>
              <a:ext cx="129" cy="1"/>
            </a:xfrm>
            <a:custGeom>
              <a:avLst/>
              <a:gdLst>
                <a:gd name="T0" fmla="*/ 0 w 323"/>
                <a:gd name="T1" fmla="*/ 0 h 1"/>
                <a:gd name="T2" fmla="*/ 323 w 323"/>
                <a:gd name="T3" fmla="*/ 0 h 1"/>
                <a:gd name="T4" fmla="*/ 0 60000 65536"/>
                <a:gd name="T5" fmla="*/ 0 60000 65536"/>
                <a:gd name="T6" fmla="*/ 0 w 323"/>
                <a:gd name="T7" fmla="*/ 0 h 1"/>
                <a:gd name="T8" fmla="*/ 323 w 323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23" h="1">
                  <a:moveTo>
                    <a:pt x="0" y="0"/>
                  </a:moveTo>
                  <a:lnTo>
                    <a:pt x="323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01" name="Freeform 35"/>
            <p:cNvSpPr>
              <a:spLocks/>
            </p:cNvSpPr>
            <p:nvPr/>
          </p:nvSpPr>
          <p:spPr bwMode="auto">
            <a:xfrm>
              <a:off x="2291" y="1772"/>
              <a:ext cx="1" cy="76"/>
            </a:xfrm>
            <a:custGeom>
              <a:avLst/>
              <a:gdLst>
                <a:gd name="T0" fmla="*/ 2 w 2"/>
                <a:gd name="T1" fmla="*/ 0 h 133"/>
                <a:gd name="T2" fmla="*/ 0 w 2"/>
                <a:gd name="T3" fmla="*/ 133 h 133"/>
                <a:gd name="T4" fmla="*/ 0 60000 65536"/>
                <a:gd name="T5" fmla="*/ 0 60000 65536"/>
                <a:gd name="T6" fmla="*/ 0 w 2"/>
                <a:gd name="T7" fmla="*/ 0 h 133"/>
                <a:gd name="T8" fmla="*/ 2 w 2"/>
                <a:gd name="T9" fmla="*/ 133 h 13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" h="133">
                  <a:moveTo>
                    <a:pt x="2" y="0"/>
                  </a:moveTo>
                  <a:lnTo>
                    <a:pt x="0" y="133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02" name="Oval 36"/>
            <p:cNvSpPr>
              <a:spLocks noChangeArrowheads="1"/>
            </p:cNvSpPr>
            <p:nvPr/>
          </p:nvSpPr>
          <p:spPr bwMode="auto">
            <a:xfrm>
              <a:off x="2212" y="1888"/>
              <a:ext cx="23" cy="3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03" name="Oval 37"/>
            <p:cNvSpPr>
              <a:spLocks noChangeArrowheads="1"/>
            </p:cNvSpPr>
            <p:nvPr/>
          </p:nvSpPr>
          <p:spPr bwMode="auto">
            <a:xfrm>
              <a:off x="2344" y="1889"/>
              <a:ext cx="23" cy="3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04" name="Freeform 38"/>
            <p:cNvSpPr>
              <a:spLocks/>
            </p:cNvSpPr>
            <p:nvPr/>
          </p:nvSpPr>
          <p:spPr bwMode="auto">
            <a:xfrm>
              <a:off x="2163" y="1905"/>
              <a:ext cx="48" cy="1"/>
            </a:xfrm>
            <a:custGeom>
              <a:avLst/>
              <a:gdLst>
                <a:gd name="T0" fmla="*/ 118 w 118"/>
                <a:gd name="T1" fmla="*/ 0 h 1"/>
                <a:gd name="T2" fmla="*/ 0 w 118"/>
                <a:gd name="T3" fmla="*/ 0 h 1"/>
                <a:gd name="T4" fmla="*/ 0 60000 65536"/>
                <a:gd name="T5" fmla="*/ 0 60000 65536"/>
                <a:gd name="T6" fmla="*/ 0 w 118"/>
                <a:gd name="T7" fmla="*/ 0 h 1"/>
                <a:gd name="T8" fmla="*/ 118 w 118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8" h="1">
                  <a:moveTo>
                    <a:pt x="118" y="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05" name="Freeform 39"/>
            <p:cNvSpPr>
              <a:spLocks/>
            </p:cNvSpPr>
            <p:nvPr/>
          </p:nvSpPr>
          <p:spPr bwMode="auto">
            <a:xfrm>
              <a:off x="2160" y="1908"/>
              <a:ext cx="3" cy="90"/>
            </a:xfrm>
            <a:custGeom>
              <a:avLst/>
              <a:gdLst>
                <a:gd name="T0" fmla="*/ 3 w 3"/>
                <a:gd name="T1" fmla="*/ 0 h 90"/>
                <a:gd name="T2" fmla="*/ 0 w 3"/>
                <a:gd name="T3" fmla="*/ 90 h 90"/>
                <a:gd name="T4" fmla="*/ 0 60000 65536"/>
                <a:gd name="T5" fmla="*/ 0 60000 65536"/>
                <a:gd name="T6" fmla="*/ 0 w 3"/>
                <a:gd name="T7" fmla="*/ 0 h 90"/>
                <a:gd name="T8" fmla="*/ 3 w 3"/>
                <a:gd name="T9" fmla="*/ 90 h 9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" h="90">
                  <a:moveTo>
                    <a:pt x="3" y="0"/>
                  </a:moveTo>
                  <a:lnTo>
                    <a:pt x="0" y="9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06" name="Freeform 40"/>
            <p:cNvSpPr>
              <a:spLocks/>
            </p:cNvSpPr>
            <p:nvPr/>
          </p:nvSpPr>
          <p:spPr bwMode="auto">
            <a:xfrm>
              <a:off x="2370" y="1905"/>
              <a:ext cx="33" cy="1"/>
            </a:xfrm>
            <a:custGeom>
              <a:avLst/>
              <a:gdLst>
                <a:gd name="T0" fmla="*/ 0 w 83"/>
                <a:gd name="T1" fmla="*/ 1 h 1"/>
                <a:gd name="T2" fmla="*/ 83 w 83"/>
                <a:gd name="T3" fmla="*/ 0 h 1"/>
                <a:gd name="T4" fmla="*/ 0 60000 65536"/>
                <a:gd name="T5" fmla="*/ 0 60000 65536"/>
                <a:gd name="T6" fmla="*/ 0 w 83"/>
                <a:gd name="T7" fmla="*/ 0 h 1"/>
                <a:gd name="T8" fmla="*/ 83 w 83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3" h="1">
                  <a:moveTo>
                    <a:pt x="0" y="1"/>
                  </a:moveTo>
                  <a:lnTo>
                    <a:pt x="83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07" name="Oval 41"/>
            <p:cNvSpPr>
              <a:spLocks noChangeArrowheads="1"/>
            </p:cNvSpPr>
            <p:nvPr/>
          </p:nvSpPr>
          <p:spPr bwMode="auto">
            <a:xfrm>
              <a:off x="1385" y="1986"/>
              <a:ext cx="24" cy="33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08" name="Oval 42"/>
            <p:cNvSpPr>
              <a:spLocks noChangeArrowheads="1"/>
            </p:cNvSpPr>
            <p:nvPr/>
          </p:nvSpPr>
          <p:spPr bwMode="auto">
            <a:xfrm>
              <a:off x="1769" y="1982"/>
              <a:ext cx="23" cy="33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09" name="Oval 43"/>
            <p:cNvSpPr>
              <a:spLocks noChangeArrowheads="1"/>
            </p:cNvSpPr>
            <p:nvPr/>
          </p:nvSpPr>
          <p:spPr bwMode="auto">
            <a:xfrm>
              <a:off x="2150" y="1986"/>
              <a:ext cx="23" cy="33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10" name="Oval 44"/>
            <p:cNvSpPr>
              <a:spLocks noChangeArrowheads="1"/>
            </p:cNvSpPr>
            <p:nvPr/>
          </p:nvSpPr>
          <p:spPr bwMode="auto">
            <a:xfrm>
              <a:off x="1247" y="1884"/>
              <a:ext cx="23" cy="33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11" name="Oval 45"/>
            <p:cNvSpPr>
              <a:spLocks noChangeArrowheads="1"/>
            </p:cNvSpPr>
            <p:nvPr/>
          </p:nvSpPr>
          <p:spPr bwMode="auto">
            <a:xfrm>
              <a:off x="1631" y="1888"/>
              <a:ext cx="24" cy="33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12" name="Oval 46"/>
            <p:cNvSpPr>
              <a:spLocks noChangeArrowheads="1"/>
            </p:cNvSpPr>
            <p:nvPr/>
          </p:nvSpPr>
          <p:spPr bwMode="auto">
            <a:xfrm>
              <a:off x="2009" y="1883"/>
              <a:ext cx="23" cy="33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13" name="Oval 47"/>
            <p:cNvSpPr>
              <a:spLocks noChangeArrowheads="1"/>
            </p:cNvSpPr>
            <p:nvPr/>
          </p:nvSpPr>
          <p:spPr bwMode="auto">
            <a:xfrm>
              <a:off x="2399" y="1884"/>
              <a:ext cx="23" cy="33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14" name="Freeform 49"/>
            <p:cNvSpPr>
              <a:spLocks/>
            </p:cNvSpPr>
            <p:nvPr/>
          </p:nvSpPr>
          <p:spPr bwMode="auto">
            <a:xfrm>
              <a:off x="1008" y="2334"/>
              <a:ext cx="1405" cy="3"/>
            </a:xfrm>
            <a:custGeom>
              <a:avLst/>
              <a:gdLst>
                <a:gd name="T0" fmla="*/ 0 w 1405"/>
                <a:gd name="T1" fmla="*/ 0 h 3"/>
                <a:gd name="T2" fmla="*/ 1405 w 1405"/>
                <a:gd name="T3" fmla="*/ 3 h 3"/>
                <a:gd name="T4" fmla="*/ 0 60000 65536"/>
                <a:gd name="T5" fmla="*/ 0 60000 65536"/>
                <a:gd name="T6" fmla="*/ 0 w 1405"/>
                <a:gd name="T7" fmla="*/ 0 h 3"/>
                <a:gd name="T8" fmla="*/ 1405 w 1405"/>
                <a:gd name="T9" fmla="*/ 3 h 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405" h="3">
                  <a:moveTo>
                    <a:pt x="0" y="0"/>
                  </a:moveTo>
                  <a:lnTo>
                    <a:pt x="1405" y="3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15" name="Freeform 51"/>
            <p:cNvSpPr>
              <a:spLocks/>
            </p:cNvSpPr>
            <p:nvPr/>
          </p:nvSpPr>
          <p:spPr bwMode="auto">
            <a:xfrm>
              <a:off x="1072" y="2181"/>
              <a:ext cx="129" cy="0"/>
            </a:xfrm>
            <a:custGeom>
              <a:avLst/>
              <a:gdLst>
                <a:gd name="T0" fmla="*/ 0 w 323"/>
                <a:gd name="T1" fmla="*/ 0 h 1"/>
                <a:gd name="T2" fmla="*/ 323 w 323"/>
                <a:gd name="T3" fmla="*/ 0 h 1"/>
                <a:gd name="T4" fmla="*/ 0 60000 65536"/>
                <a:gd name="T5" fmla="*/ 0 60000 65536"/>
                <a:gd name="T6" fmla="*/ 0 w 323"/>
                <a:gd name="T7" fmla="*/ 0 h 1"/>
                <a:gd name="T8" fmla="*/ 323 w 323"/>
                <a:gd name="T9" fmla="*/ 0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23" h="1">
                  <a:moveTo>
                    <a:pt x="0" y="0"/>
                  </a:moveTo>
                  <a:lnTo>
                    <a:pt x="323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16" name="Freeform 52"/>
            <p:cNvSpPr>
              <a:spLocks/>
            </p:cNvSpPr>
            <p:nvPr/>
          </p:nvSpPr>
          <p:spPr bwMode="auto">
            <a:xfrm>
              <a:off x="1139" y="2104"/>
              <a:ext cx="1" cy="77"/>
            </a:xfrm>
            <a:custGeom>
              <a:avLst/>
              <a:gdLst>
                <a:gd name="T0" fmla="*/ 2 w 2"/>
                <a:gd name="T1" fmla="*/ 0 h 133"/>
                <a:gd name="T2" fmla="*/ 0 w 2"/>
                <a:gd name="T3" fmla="*/ 133 h 133"/>
                <a:gd name="T4" fmla="*/ 0 60000 65536"/>
                <a:gd name="T5" fmla="*/ 0 60000 65536"/>
                <a:gd name="T6" fmla="*/ 0 w 2"/>
                <a:gd name="T7" fmla="*/ 0 h 133"/>
                <a:gd name="T8" fmla="*/ 2 w 2"/>
                <a:gd name="T9" fmla="*/ 133 h 13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" h="133">
                  <a:moveTo>
                    <a:pt x="2" y="0"/>
                  </a:moveTo>
                  <a:lnTo>
                    <a:pt x="0" y="133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17" name="Oval 53"/>
            <p:cNvSpPr>
              <a:spLocks noChangeArrowheads="1"/>
            </p:cNvSpPr>
            <p:nvPr/>
          </p:nvSpPr>
          <p:spPr bwMode="auto">
            <a:xfrm>
              <a:off x="1060" y="2221"/>
              <a:ext cx="23" cy="3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18" name="Oval 54"/>
            <p:cNvSpPr>
              <a:spLocks noChangeArrowheads="1"/>
            </p:cNvSpPr>
            <p:nvPr/>
          </p:nvSpPr>
          <p:spPr bwMode="auto">
            <a:xfrm>
              <a:off x="1192" y="2221"/>
              <a:ext cx="23" cy="3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19" name="Freeform 55"/>
            <p:cNvSpPr>
              <a:spLocks/>
            </p:cNvSpPr>
            <p:nvPr/>
          </p:nvSpPr>
          <p:spPr bwMode="auto">
            <a:xfrm>
              <a:off x="1011" y="2238"/>
              <a:ext cx="48" cy="0"/>
            </a:xfrm>
            <a:custGeom>
              <a:avLst/>
              <a:gdLst>
                <a:gd name="T0" fmla="*/ 118 w 118"/>
                <a:gd name="T1" fmla="*/ 0 h 1"/>
                <a:gd name="T2" fmla="*/ 0 w 118"/>
                <a:gd name="T3" fmla="*/ 0 h 1"/>
                <a:gd name="T4" fmla="*/ 0 60000 65536"/>
                <a:gd name="T5" fmla="*/ 0 60000 65536"/>
                <a:gd name="T6" fmla="*/ 0 w 118"/>
                <a:gd name="T7" fmla="*/ 0 h 1"/>
                <a:gd name="T8" fmla="*/ 118 w 118"/>
                <a:gd name="T9" fmla="*/ 0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8" h="1">
                  <a:moveTo>
                    <a:pt x="118" y="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20" name="Freeform 56"/>
            <p:cNvSpPr>
              <a:spLocks/>
            </p:cNvSpPr>
            <p:nvPr/>
          </p:nvSpPr>
          <p:spPr bwMode="auto">
            <a:xfrm>
              <a:off x="1008" y="2241"/>
              <a:ext cx="3" cy="99"/>
            </a:xfrm>
            <a:custGeom>
              <a:avLst/>
              <a:gdLst>
                <a:gd name="T0" fmla="*/ 3 w 3"/>
                <a:gd name="T1" fmla="*/ 0 h 99"/>
                <a:gd name="T2" fmla="*/ 0 w 3"/>
                <a:gd name="T3" fmla="*/ 99 h 99"/>
                <a:gd name="T4" fmla="*/ 0 60000 65536"/>
                <a:gd name="T5" fmla="*/ 0 60000 65536"/>
                <a:gd name="T6" fmla="*/ 0 w 3"/>
                <a:gd name="T7" fmla="*/ 0 h 99"/>
                <a:gd name="T8" fmla="*/ 3 w 3"/>
                <a:gd name="T9" fmla="*/ 99 h 9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" h="99">
                  <a:moveTo>
                    <a:pt x="3" y="0"/>
                  </a:moveTo>
                  <a:lnTo>
                    <a:pt x="0" y="99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21" name="Freeform 57"/>
            <p:cNvSpPr>
              <a:spLocks/>
            </p:cNvSpPr>
            <p:nvPr/>
          </p:nvSpPr>
          <p:spPr bwMode="auto">
            <a:xfrm>
              <a:off x="1218" y="2238"/>
              <a:ext cx="33" cy="0"/>
            </a:xfrm>
            <a:custGeom>
              <a:avLst/>
              <a:gdLst>
                <a:gd name="T0" fmla="*/ 0 w 83"/>
                <a:gd name="T1" fmla="*/ 1 h 1"/>
                <a:gd name="T2" fmla="*/ 83 w 83"/>
                <a:gd name="T3" fmla="*/ 0 h 1"/>
                <a:gd name="T4" fmla="*/ 0 60000 65536"/>
                <a:gd name="T5" fmla="*/ 0 60000 65536"/>
                <a:gd name="T6" fmla="*/ 0 w 83"/>
                <a:gd name="T7" fmla="*/ 0 h 1"/>
                <a:gd name="T8" fmla="*/ 83 w 83"/>
                <a:gd name="T9" fmla="*/ 0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3" h="1">
                  <a:moveTo>
                    <a:pt x="0" y="1"/>
                  </a:moveTo>
                  <a:lnTo>
                    <a:pt x="83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6422" name="Group 58"/>
            <p:cNvGrpSpPr>
              <a:grpSpLocks/>
            </p:cNvGrpSpPr>
            <p:nvPr/>
          </p:nvGrpSpPr>
          <p:grpSpPr bwMode="auto">
            <a:xfrm>
              <a:off x="1398" y="2104"/>
              <a:ext cx="240" cy="236"/>
              <a:chOff x="3462" y="2169"/>
              <a:chExt cx="599" cy="410"/>
            </a:xfrm>
          </p:grpSpPr>
          <p:sp>
            <p:nvSpPr>
              <p:cNvPr id="16550" name="Freeform 59"/>
              <p:cNvSpPr>
                <a:spLocks/>
              </p:cNvSpPr>
              <p:nvPr/>
            </p:nvSpPr>
            <p:spPr bwMode="auto">
              <a:xfrm>
                <a:off x="3614" y="2302"/>
                <a:ext cx="323" cy="1"/>
              </a:xfrm>
              <a:custGeom>
                <a:avLst/>
                <a:gdLst>
                  <a:gd name="T0" fmla="*/ 0 w 323"/>
                  <a:gd name="T1" fmla="*/ 0 h 1"/>
                  <a:gd name="T2" fmla="*/ 323 w 323"/>
                  <a:gd name="T3" fmla="*/ 0 h 1"/>
                  <a:gd name="T4" fmla="*/ 0 60000 65536"/>
                  <a:gd name="T5" fmla="*/ 0 60000 65536"/>
                  <a:gd name="T6" fmla="*/ 0 w 323"/>
                  <a:gd name="T7" fmla="*/ 0 h 1"/>
                  <a:gd name="T8" fmla="*/ 323 w 323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23" h="1">
                    <a:moveTo>
                      <a:pt x="0" y="0"/>
                    </a:moveTo>
                    <a:lnTo>
                      <a:pt x="323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51" name="Freeform 60"/>
              <p:cNvSpPr>
                <a:spLocks/>
              </p:cNvSpPr>
              <p:nvPr/>
            </p:nvSpPr>
            <p:spPr bwMode="auto">
              <a:xfrm>
                <a:off x="3781" y="2169"/>
                <a:ext cx="2" cy="133"/>
              </a:xfrm>
              <a:custGeom>
                <a:avLst/>
                <a:gdLst>
                  <a:gd name="T0" fmla="*/ 2 w 2"/>
                  <a:gd name="T1" fmla="*/ 0 h 133"/>
                  <a:gd name="T2" fmla="*/ 0 w 2"/>
                  <a:gd name="T3" fmla="*/ 133 h 133"/>
                  <a:gd name="T4" fmla="*/ 0 60000 65536"/>
                  <a:gd name="T5" fmla="*/ 0 60000 65536"/>
                  <a:gd name="T6" fmla="*/ 0 w 2"/>
                  <a:gd name="T7" fmla="*/ 0 h 133"/>
                  <a:gd name="T8" fmla="*/ 2 w 2"/>
                  <a:gd name="T9" fmla="*/ 133 h 13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" h="133">
                    <a:moveTo>
                      <a:pt x="2" y="0"/>
                    </a:moveTo>
                    <a:lnTo>
                      <a:pt x="0" y="133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52" name="Oval 61"/>
              <p:cNvSpPr>
                <a:spLocks noChangeArrowheads="1"/>
              </p:cNvSpPr>
              <p:nvPr/>
            </p:nvSpPr>
            <p:spPr bwMode="auto">
              <a:xfrm>
                <a:off x="3584" y="2372"/>
                <a:ext cx="58" cy="5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53" name="Oval 62"/>
              <p:cNvSpPr>
                <a:spLocks noChangeArrowheads="1"/>
              </p:cNvSpPr>
              <p:nvPr/>
            </p:nvSpPr>
            <p:spPr bwMode="auto">
              <a:xfrm>
                <a:off x="3913" y="2373"/>
                <a:ext cx="58" cy="5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54" name="Freeform 63"/>
              <p:cNvSpPr>
                <a:spLocks/>
              </p:cNvSpPr>
              <p:nvPr/>
            </p:nvSpPr>
            <p:spPr bwMode="auto">
              <a:xfrm>
                <a:off x="3463" y="2401"/>
                <a:ext cx="118" cy="1"/>
              </a:xfrm>
              <a:custGeom>
                <a:avLst/>
                <a:gdLst>
                  <a:gd name="T0" fmla="*/ 118 w 118"/>
                  <a:gd name="T1" fmla="*/ 0 h 1"/>
                  <a:gd name="T2" fmla="*/ 0 w 118"/>
                  <a:gd name="T3" fmla="*/ 0 h 1"/>
                  <a:gd name="T4" fmla="*/ 0 60000 65536"/>
                  <a:gd name="T5" fmla="*/ 0 60000 65536"/>
                  <a:gd name="T6" fmla="*/ 0 w 118"/>
                  <a:gd name="T7" fmla="*/ 0 h 1"/>
                  <a:gd name="T8" fmla="*/ 118 w 118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18" h="1">
                    <a:moveTo>
                      <a:pt x="118" y="0"/>
                    </a:move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55" name="Line 64"/>
              <p:cNvSpPr>
                <a:spLocks noChangeShapeType="1"/>
              </p:cNvSpPr>
              <p:nvPr/>
            </p:nvSpPr>
            <p:spPr bwMode="auto">
              <a:xfrm>
                <a:off x="3462" y="2407"/>
                <a:ext cx="0" cy="17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56" name="Freeform 65"/>
              <p:cNvSpPr>
                <a:spLocks/>
              </p:cNvSpPr>
              <p:nvPr/>
            </p:nvSpPr>
            <p:spPr bwMode="auto">
              <a:xfrm>
                <a:off x="3978" y="2401"/>
                <a:ext cx="83" cy="1"/>
              </a:xfrm>
              <a:custGeom>
                <a:avLst/>
                <a:gdLst>
                  <a:gd name="T0" fmla="*/ 0 w 83"/>
                  <a:gd name="T1" fmla="*/ 1 h 1"/>
                  <a:gd name="T2" fmla="*/ 83 w 83"/>
                  <a:gd name="T3" fmla="*/ 0 h 1"/>
                  <a:gd name="T4" fmla="*/ 0 60000 65536"/>
                  <a:gd name="T5" fmla="*/ 0 60000 65536"/>
                  <a:gd name="T6" fmla="*/ 0 w 83"/>
                  <a:gd name="T7" fmla="*/ 0 h 1"/>
                  <a:gd name="T8" fmla="*/ 83 w 83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83" h="1">
                    <a:moveTo>
                      <a:pt x="0" y="1"/>
                    </a:moveTo>
                    <a:lnTo>
                      <a:pt x="83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423" name="Group 66"/>
            <p:cNvGrpSpPr>
              <a:grpSpLocks/>
            </p:cNvGrpSpPr>
            <p:nvPr/>
          </p:nvGrpSpPr>
          <p:grpSpPr bwMode="auto">
            <a:xfrm>
              <a:off x="1782" y="2104"/>
              <a:ext cx="240" cy="236"/>
              <a:chOff x="4422" y="2169"/>
              <a:chExt cx="599" cy="410"/>
            </a:xfrm>
          </p:grpSpPr>
          <p:sp>
            <p:nvSpPr>
              <p:cNvPr id="16543" name="Freeform 67"/>
              <p:cNvSpPr>
                <a:spLocks/>
              </p:cNvSpPr>
              <p:nvPr/>
            </p:nvSpPr>
            <p:spPr bwMode="auto">
              <a:xfrm>
                <a:off x="4574" y="2302"/>
                <a:ext cx="323" cy="1"/>
              </a:xfrm>
              <a:custGeom>
                <a:avLst/>
                <a:gdLst>
                  <a:gd name="T0" fmla="*/ 0 w 323"/>
                  <a:gd name="T1" fmla="*/ 0 h 1"/>
                  <a:gd name="T2" fmla="*/ 323 w 323"/>
                  <a:gd name="T3" fmla="*/ 0 h 1"/>
                  <a:gd name="T4" fmla="*/ 0 60000 65536"/>
                  <a:gd name="T5" fmla="*/ 0 60000 65536"/>
                  <a:gd name="T6" fmla="*/ 0 w 323"/>
                  <a:gd name="T7" fmla="*/ 0 h 1"/>
                  <a:gd name="T8" fmla="*/ 323 w 323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23" h="1">
                    <a:moveTo>
                      <a:pt x="0" y="0"/>
                    </a:moveTo>
                    <a:lnTo>
                      <a:pt x="323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44" name="Freeform 68"/>
              <p:cNvSpPr>
                <a:spLocks/>
              </p:cNvSpPr>
              <p:nvPr/>
            </p:nvSpPr>
            <p:spPr bwMode="auto">
              <a:xfrm>
                <a:off x="4741" y="2169"/>
                <a:ext cx="2" cy="133"/>
              </a:xfrm>
              <a:custGeom>
                <a:avLst/>
                <a:gdLst>
                  <a:gd name="T0" fmla="*/ 2 w 2"/>
                  <a:gd name="T1" fmla="*/ 0 h 133"/>
                  <a:gd name="T2" fmla="*/ 0 w 2"/>
                  <a:gd name="T3" fmla="*/ 133 h 133"/>
                  <a:gd name="T4" fmla="*/ 0 60000 65536"/>
                  <a:gd name="T5" fmla="*/ 0 60000 65536"/>
                  <a:gd name="T6" fmla="*/ 0 w 2"/>
                  <a:gd name="T7" fmla="*/ 0 h 133"/>
                  <a:gd name="T8" fmla="*/ 2 w 2"/>
                  <a:gd name="T9" fmla="*/ 133 h 13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" h="133">
                    <a:moveTo>
                      <a:pt x="2" y="0"/>
                    </a:moveTo>
                    <a:lnTo>
                      <a:pt x="0" y="133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45" name="Oval 69"/>
              <p:cNvSpPr>
                <a:spLocks noChangeArrowheads="1"/>
              </p:cNvSpPr>
              <p:nvPr/>
            </p:nvSpPr>
            <p:spPr bwMode="auto">
              <a:xfrm>
                <a:off x="4544" y="2372"/>
                <a:ext cx="58" cy="5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46" name="Oval 70"/>
              <p:cNvSpPr>
                <a:spLocks noChangeArrowheads="1"/>
              </p:cNvSpPr>
              <p:nvPr/>
            </p:nvSpPr>
            <p:spPr bwMode="auto">
              <a:xfrm>
                <a:off x="4873" y="2373"/>
                <a:ext cx="58" cy="5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47" name="Freeform 71"/>
              <p:cNvSpPr>
                <a:spLocks/>
              </p:cNvSpPr>
              <p:nvPr/>
            </p:nvSpPr>
            <p:spPr bwMode="auto">
              <a:xfrm>
                <a:off x="4423" y="2401"/>
                <a:ext cx="118" cy="1"/>
              </a:xfrm>
              <a:custGeom>
                <a:avLst/>
                <a:gdLst>
                  <a:gd name="T0" fmla="*/ 118 w 118"/>
                  <a:gd name="T1" fmla="*/ 0 h 1"/>
                  <a:gd name="T2" fmla="*/ 0 w 118"/>
                  <a:gd name="T3" fmla="*/ 0 h 1"/>
                  <a:gd name="T4" fmla="*/ 0 60000 65536"/>
                  <a:gd name="T5" fmla="*/ 0 60000 65536"/>
                  <a:gd name="T6" fmla="*/ 0 w 118"/>
                  <a:gd name="T7" fmla="*/ 0 h 1"/>
                  <a:gd name="T8" fmla="*/ 118 w 118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18" h="1">
                    <a:moveTo>
                      <a:pt x="118" y="0"/>
                    </a:move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48" name="Line 72"/>
              <p:cNvSpPr>
                <a:spLocks noChangeShapeType="1"/>
              </p:cNvSpPr>
              <p:nvPr/>
            </p:nvSpPr>
            <p:spPr bwMode="auto">
              <a:xfrm>
                <a:off x="4422" y="2407"/>
                <a:ext cx="0" cy="17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49" name="Freeform 73"/>
              <p:cNvSpPr>
                <a:spLocks/>
              </p:cNvSpPr>
              <p:nvPr/>
            </p:nvSpPr>
            <p:spPr bwMode="auto">
              <a:xfrm>
                <a:off x="4938" y="2401"/>
                <a:ext cx="83" cy="1"/>
              </a:xfrm>
              <a:custGeom>
                <a:avLst/>
                <a:gdLst>
                  <a:gd name="T0" fmla="*/ 0 w 83"/>
                  <a:gd name="T1" fmla="*/ 1 h 1"/>
                  <a:gd name="T2" fmla="*/ 83 w 83"/>
                  <a:gd name="T3" fmla="*/ 0 h 1"/>
                  <a:gd name="T4" fmla="*/ 0 60000 65536"/>
                  <a:gd name="T5" fmla="*/ 0 60000 65536"/>
                  <a:gd name="T6" fmla="*/ 0 w 83"/>
                  <a:gd name="T7" fmla="*/ 0 h 1"/>
                  <a:gd name="T8" fmla="*/ 83 w 83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83" h="1">
                    <a:moveTo>
                      <a:pt x="0" y="1"/>
                    </a:moveTo>
                    <a:lnTo>
                      <a:pt x="83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6424" name="Freeform 75"/>
            <p:cNvSpPr>
              <a:spLocks/>
            </p:cNvSpPr>
            <p:nvPr/>
          </p:nvSpPr>
          <p:spPr bwMode="auto">
            <a:xfrm>
              <a:off x="2224" y="2181"/>
              <a:ext cx="129" cy="0"/>
            </a:xfrm>
            <a:custGeom>
              <a:avLst/>
              <a:gdLst>
                <a:gd name="T0" fmla="*/ 0 w 323"/>
                <a:gd name="T1" fmla="*/ 0 h 1"/>
                <a:gd name="T2" fmla="*/ 323 w 323"/>
                <a:gd name="T3" fmla="*/ 0 h 1"/>
                <a:gd name="T4" fmla="*/ 0 60000 65536"/>
                <a:gd name="T5" fmla="*/ 0 60000 65536"/>
                <a:gd name="T6" fmla="*/ 0 w 323"/>
                <a:gd name="T7" fmla="*/ 0 h 1"/>
                <a:gd name="T8" fmla="*/ 323 w 323"/>
                <a:gd name="T9" fmla="*/ 0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23" h="1">
                  <a:moveTo>
                    <a:pt x="0" y="0"/>
                  </a:moveTo>
                  <a:lnTo>
                    <a:pt x="323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25" name="Freeform 76"/>
            <p:cNvSpPr>
              <a:spLocks/>
            </p:cNvSpPr>
            <p:nvPr/>
          </p:nvSpPr>
          <p:spPr bwMode="auto">
            <a:xfrm>
              <a:off x="2290" y="2104"/>
              <a:ext cx="1" cy="77"/>
            </a:xfrm>
            <a:custGeom>
              <a:avLst/>
              <a:gdLst>
                <a:gd name="T0" fmla="*/ 2 w 2"/>
                <a:gd name="T1" fmla="*/ 0 h 133"/>
                <a:gd name="T2" fmla="*/ 0 w 2"/>
                <a:gd name="T3" fmla="*/ 133 h 133"/>
                <a:gd name="T4" fmla="*/ 0 60000 65536"/>
                <a:gd name="T5" fmla="*/ 0 60000 65536"/>
                <a:gd name="T6" fmla="*/ 0 w 2"/>
                <a:gd name="T7" fmla="*/ 0 h 133"/>
                <a:gd name="T8" fmla="*/ 2 w 2"/>
                <a:gd name="T9" fmla="*/ 133 h 13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" h="133">
                  <a:moveTo>
                    <a:pt x="2" y="0"/>
                  </a:moveTo>
                  <a:lnTo>
                    <a:pt x="0" y="133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26" name="Oval 77"/>
            <p:cNvSpPr>
              <a:spLocks noChangeArrowheads="1"/>
            </p:cNvSpPr>
            <p:nvPr/>
          </p:nvSpPr>
          <p:spPr bwMode="auto">
            <a:xfrm>
              <a:off x="2212" y="2221"/>
              <a:ext cx="23" cy="3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27" name="Oval 78"/>
            <p:cNvSpPr>
              <a:spLocks noChangeArrowheads="1"/>
            </p:cNvSpPr>
            <p:nvPr/>
          </p:nvSpPr>
          <p:spPr bwMode="auto">
            <a:xfrm>
              <a:off x="2343" y="2221"/>
              <a:ext cx="23" cy="3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28" name="Freeform 79"/>
            <p:cNvSpPr>
              <a:spLocks/>
            </p:cNvSpPr>
            <p:nvPr/>
          </p:nvSpPr>
          <p:spPr bwMode="auto">
            <a:xfrm>
              <a:off x="2163" y="2238"/>
              <a:ext cx="47" cy="0"/>
            </a:xfrm>
            <a:custGeom>
              <a:avLst/>
              <a:gdLst>
                <a:gd name="T0" fmla="*/ 118 w 118"/>
                <a:gd name="T1" fmla="*/ 0 h 1"/>
                <a:gd name="T2" fmla="*/ 0 w 118"/>
                <a:gd name="T3" fmla="*/ 0 h 1"/>
                <a:gd name="T4" fmla="*/ 0 60000 65536"/>
                <a:gd name="T5" fmla="*/ 0 60000 65536"/>
                <a:gd name="T6" fmla="*/ 0 w 118"/>
                <a:gd name="T7" fmla="*/ 0 h 1"/>
                <a:gd name="T8" fmla="*/ 118 w 118"/>
                <a:gd name="T9" fmla="*/ 0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8" h="1">
                  <a:moveTo>
                    <a:pt x="118" y="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29" name="Freeform 80"/>
            <p:cNvSpPr>
              <a:spLocks/>
            </p:cNvSpPr>
            <p:nvPr/>
          </p:nvSpPr>
          <p:spPr bwMode="auto">
            <a:xfrm>
              <a:off x="2160" y="2241"/>
              <a:ext cx="3" cy="93"/>
            </a:xfrm>
            <a:custGeom>
              <a:avLst/>
              <a:gdLst>
                <a:gd name="T0" fmla="*/ 3 w 3"/>
                <a:gd name="T1" fmla="*/ 0 h 93"/>
                <a:gd name="T2" fmla="*/ 0 w 3"/>
                <a:gd name="T3" fmla="*/ 93 h 93"/>
                <a:gd name="T4" fmla="*/ 0 60000 65536"/>
                <a:gd name="T5" fmla="*/ 0 60000 65536"/>
                <a:gd name="T6" fmla="*/ 0 w 3"/>
                <a:gd name="T7" fmla="*/ 0 h 93"/>
                <a:gd name="T8" fmla="*/ 3 w 3"/>
                <a:gd name="T9" fmla="*/ 93 h 9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" h="93">
                  <a:moveTo>
                    <a:pt x="3" y="0"/>
                  </a:moveTo>
                  <a:lnTo>
                    <a:pt x="0" y="93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30" name="Freeform 81"/>
            <p:cNvSpPr>
              <a:spLocks/>
            </p:cNvSpPr>
            <p:nvPr/>
          </p:nvSpPr>
          <p:spPr bwMode="auto">
            <a:xfrm>
              <a:off x="2369" y="2238"/>
              <a:ext cx="33" cy="0"/>
            </a:xfrm>
            <a:custGeom>
              <a:avLst/>
              <a:gdLst>
                <a:gd name="T0" fmla="*/ 0 w 83"/>
                <a:gd name="T1" fmla="*/ 1 h 1"/>
                <a:gd name="T2" fmla="*/ 83 w 83"/>
                <a:gd name="T3" fmla="*/ 0 h 1"/>
                <a:gd name="T4" fmla="*/ 0 60000 65536"/>
                <a:gd name="T5" fmla="*/ 0 60000 65536"/>
                <a:gd name="T6" fmla="*/ 0 w 83"/>
                <a:gd name="T7" fmla="*/ 0 h 1"/>
                <a:gd name="T8" fmla="*/ 83 w 83"/>
                <a:gd name="T9" fmla="*/ 0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3" h="1">
                  <a:moveTo>
                    <a:pt x="0" y="1"/>
                  </a:moveTo>
                  <a:lnTo>
                    <a:pt x="83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31" name="Oval 82"/>
            <p:cNvSpPr>
              <a:spLocks noChangeArrowheads="1"/>
            </p:cNvSpPr>
            <p:nvPr/>
          </p:nvSpPr>
          <p:spPr bwMode="auto">
            <a:xfrm>
              <a:off x="1385" y="2319"/>
              <a:ext cx="23" cy="33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32" name="Oval 83"/>
            <p:cNvSpPr>
              <a:spLocks noChangeArrowheads="1"/>
            </p:cNvSpPr>
            <p:nvPr/>
          </p:nvSpPr>
          <p:spPr bwMode="auto">
            <a:xfrm>
              <a:off x="1769" y="2315"/>
              <a:ext cx="23" cy="33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33" name="Oval 84"/>
            <p:cNvSpPr>
              <a:spLocks noChangeArrowheads="1"/>
            </p:cNvSpPr>
            <p:nvPr/>
          </p:nvSpPr>
          <p:spPr bwMode="auto">
            <a:xfrm>
              <a:off x="2150" y="2319"/>
              <a:ext cx="23" cy="33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34" name="Oval 85"/>
            <p:cNvSpPr>
              <a:spLocks noChangeArrowheads="1"/>
            </p:cNvSpPr>
            <p:nvPr/>
          </p:nvSpPr>
          <p:spPr bwMode="auto">
            <a:xfrm>
              <a:off x="1247" y="2215"/>
              <a:ext cx="23" cy="34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35" name="Oval 86"/>
            <p:cNvSpPr>
              <a:spLocks noChangeArrowheads="1"/>
            </p:cNvSpPr>
            <p:nvPr/>
          </p:nvSpPr>
          <p:spPr bwMode="auto">
            <a:xfrm>
              <a:off x="1631" y="2220"/>
              <a:ext cx="24" cy="33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36" name="Oval 87"/>
            <p:cNvSpPr>
              <a:spLocks noChangeArrowheads="1"/>
            </p:cNvSpPr>
            <p:nvPr/>
          </p:nvSpPr>
          <p:spPr bwMode="auto">
            <a:xfrm>
              <a:off x="2009" y="2214"/>
              <a:ext cx="23" cy="34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37" name="Oval 88"/>
            <p:cNvSpPr>
              <a:spLocks noChangeArrowheads="1"/>
            </p:cNvSpPr>
            <p:nvPr/>
          </p:nvSpPr>
          <p:spPr bwMode="auto">
            <a:xfrm>
              <a:off x="2399" y="2215"/>
              <a:ext cx="23" cy="34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38" name="Freeform 90"/>
            <p:cNvSpPr>
              <a:spLocks/>
            </p:cNvSpPr>
            <p:nvPr/>
          </p:nvSpPr>
          <p:spPr bwMode="auto">
            <a:xfrm>
              <a:off x="1011" y="2676"/>
              <a:ext cx="1402" cy="2"/>
            </a:xfrm>
            <a:custGeom>
              <a:avLst/>
              <a:gdLst>
                <a:gd name="T0" fmla="*/ 0 w 3507"/>
                <a:gd name="T1" fmla="*/ 0 h 3"/>
                <a:gd name="T2" fmla="*/ 3507 w 3507"/>
                <a:gd name="T3" fmla="*/ 3 h 3"/>
                <a:gd name="T4" fmla="*/ 0 60000 65536"/>
                <a:gd name="T5" fmla="*/ 0 60000 65536"/>
                <a:gd name="T6" fmla="*/ 0 w 3507"/>
                <a:gd name="T7" fmla="*/ 0 h 3"/>
                <a:gd name="T8" fmla="*/ 3507 w 3507"/>
                <a:gd name="T9" fmla="*/ 3 h 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507" h="3">
                  <a:moveTo>
                    <a:pt x="0" y="0"/>
                  </a:moveTo>
                  <a:lnTo>
                    <a:pt x="3507" y="3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39" name="Freeform 92"/>
            <p:cNvSpPr>
              <a:spLocks/>
            </p:cNvSpPr>
            <p:nvPr/>
          </p:nvSpPr>
          <p:spPr bwMode="auto">
            <a:xfrm>
              <a:off x="1072" y="2517"/>
              <a:ext cx="129" cy="0"/>
            </a:xfrm>
            <a:custGeom>
              <a:avLst/>
              <a:gdLst>
                <a:gd name="T0" fmla="*/ 0 w 323"/>
                <a:gd name="T1" fmla="*/ 0 h 1"/>
                <a:gd name="T2" fmla="*/ 323 w 323"/>
                <a:gd name="T3" fmla="*/ 0 h 1"/>
                <a:gd name="T4" fmla="*/ 0 60000 65536"/>
                <a:gd name="T5" fmla="*/ 0 60000 65536"/>
                <a:gd name="T6" fmla="*/ 0 w 323"/>
                <a:gd name="T7" fmla="*/ 0 h 1"/>
                <a:gd name="T8" fmla="*/ 323 w 323"/>
                <a:gd name="T9" fmla="*/ 0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23" h="1">
                  <a:moveTo>
                    <a:pt x="0" y="0"/>
                  </a:moveTo>
                  <a:lnTo>
                    <a:pt x="323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0" name="Freeform 93"/>
            <p:cNvSpPr>
              <a:spLocks/>
            </p:cNvSpPr>
            <p:nvPr/>
          </p:nvSpPr>
          <p:spPr bwMode="auto">
            <a:xfrm>
              <a:off x="1139" y="2440"/>
              <a:ext cx="1" cy="77"/>
            </a:xfrm>
            <a:custGeom>
              <a:avLst/>
              <a:gdLst>
                <a:gd name="T0" fmla="*/ 2 w 2"/>
                <a:gd name="T1" fmla="*/ 0 h 133"/>
                <a:gd name="T2" fmla="*/ 0 w 2"/>
                <a:gd name="T3" fmla="*/ 133 h 133"/>
                <a:gd name="T4" fmla="*/ 0 60000 65536"/>
                <a:gd name="T5" fmla="*/ 0 60000 65536"/>
                <a:gd name="T6" fmla="*/ 0 w 2"/>
                <a:gd name="T7" fmla="*/ 0 h 133"/>
                <a:gd name="T8" fmla="*/ 2 w 2"/>
                <a:gd name="T9" fmla="*/ 133 h 13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" h="133">
                  <a:moveTo>
                    <a:pt x="2" y="0"/>
                  </a:moveTo>
                  <a:lnTo>
                    <a:pt x="0" y="133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1" name="Oval 94"/>
            <p:cNvSpPr>
              <a:spLocks noChangeArrowheads="1"/>
            </p:cNvSpPr>
            <p:nvPr/>
          </p:nvSpPr>
          <p:spPr bwMode="auto">
            <a:xfrm>
              <a:off x="1060" y="2557"/>
              <a:ext cx="23" cy="3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2" name="Oval 95"/>
            <p:cNvSpPr>
              <a:spLocks noChangeArrowheads="1"/>
            </p:cNvSpPr>
            <p:nvPr/>
          </p:nvSpPr>
          <p:spPr bwMode="auto">
            <a:xfrm>
              <a:off x="1192" y="2557"/>
              <a:ext cx="23" cy="3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3" name="Freeform 96"/>
            <p:cNvSpPr>
              <a:spLocks/>
            </p:cNvSpPr>
            <p:nvPr/>
          </p:nvSpPr>
          <p:spPr bwMode="auto">
            <a:xfrm>
              <a:off x="1011" y="2574"/>
              <a:ext cx="48" cy="0"/>
            </a:xfrm>
            <a:custGeom>
              <a:avLst/>
              <a:gdLst>
                <a:gd name="T0" fmla="*/ 118 w 118"/>
                <a:gd name="T1" fmla="*/ 0 h 1"/>
                <a:gd name="T2" fmla="*/ 0 w 118"/>
                <a:gd name="T3" fmla="*/ 0 h 1"/>
                <a:gd name="T4" fmla="*/ 0 60000 65536"/>
                <a:gd name="T5" fmla="*/ 0 60000 65536"/>
                <a:gd name="T6" fmla="*/ 0 w 118"/>
                <a:gd name="T7" fmla="*/ 0 h 1"/>
                <a:gd name="T8" fmla="*/ 118 w 118"/>
                <a:gd name="T9" fmla="*/ 0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8" h="1">
                  <a:moveTo>
                    <a:pt x="118" y="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4" name="Freeform 97"/>
            <p:cNvSpPr>
              <a:spLocks/>
            </p:cNvSpPr>
            <p:nvPr/>
          </p:nvSpPr>
          <p:spPr bwMode="auto">
            <a:xfrm>
              <a:off x="1008" y="2577"/>
              <a:ext cx="3" cy="105"/>
            </a:xfrm>
            <a:custGeom>
              <a:avLst/>
              <a:gdLst>
                <a:gd name="T0" fmla="*/ 3 w 3"/>
                <a:gd name="T1" fmla="*/ 0 h 105"/>
                <a:gd name="T2" fmla="*/ 0 w 3"/>
                <a:gd name="T3" fmla="*/ 105 h 105"/>
                <a:gd name="T4" fmla="*/ 0 60000 65536"/>
                <a:gd name="T5" fmla="*/ 0 60000 65536"/>
                <a:gd name="T6" fmla="*/ 0 w 3"/>
                <a:gd name="T7" fmla="*/ 0 h 105"/>
                <a:gd name="T8" fmla="*/ 3 w 3"/>
                <a:gd name="T9" fmla="*/ 105 h 10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" h="105">
                  <a:moveTo>
                    <a:pt x="3" y="0"/>
                  </a:moveTo>
                  <a:lnTo>
                    <a:pt x="0" y="105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5" name="Freeform 98"/>
            <p:cNvSpPr>
              <a:spLocks/>
            </p:cNvSpPr>
            <p:nvPr/>
          </p:nvSpPr>
          <p:spPr bwMode="auto">
            <a:xfrm>
              <a:off x="1218" y="2574"/>
              <a:ext cx="33" cy="0"/>
            </a:xfrm>
            <a:custGeom>
              <a:avLst/>
              <a:gdLst>
                <a:gd name="T0" fmla="*/ 0 w 83"/>
                <a:gd name="T1" fmla="*/ 1 h 1"/>
                <a:gd name="T2" fmla="*/ 83 w 83"/>
                <a:gd name="T3" fmla="*/ 0 h 1"/>
                <a:gd name="T4" fmla="*/ 0 60000 65536"/>
                <a:gd name="T5" fmla="*/ 0 60000 65536"/>
                <a:gd name="T6" fmla="*/ 0 w 83"/>
                <a:gd name="T7" fmla="*/ 0 h 1"/>
                <a:gd name="T8" fmla="*/ 83 w 83"/>
                <a:gd name="T9" fmla="*/ 0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3" h="1">
                  <a:moveTo>
                    <a:pt x="0" y="1"/>
                  </a:moveTo>
                  <a:lnTo>
                    <a:pt x="83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6446" name="Group 99"/>
            <p:cNvGrpSpPr>
              <a:grpSpLocks/>
            </p:cNvGrpSpPr>
            <p:nvPr/>
          </p:nvGrpSpPr>
          <p:grpSpPr bwMode="auto">
            <a:xfrm>
              <a:off x="1398" y="2440"/>
              <a:ext cx="240" cy="236"/>
              <a:chOff x="3462" y="2754"/>
              <a:chExt cx="599" cy="410"/>
            </a:xfrm>
          </p:grpSpPr>
          <p:sp>
            <p:nvSpPr>
              <p:cNvPr id="16536" name="Freeform 100"/>
              <p:cNvSpPr>
                <a:spLocks/>
              </p:cNvSpPr>
              <p:nvPr/>
            </p:nvSpPr>
            <p:spPr bwMode="auto">
              <a:xfrm>
                <a:off x="3614" y="2887"/>
                <a:ext cx="323" cy="1"/>
              </a:xfrm>
              <a:custGeom>
                <a:avLst/>
                <a:gdLst>
                  <a:gd name="T0" fmla="*/ 0 w 323"/>
                  <a:gd name="T1" fmla="*/ 0 h 1"/>
                  <a:gd name="T2" fmla="*/ 323 w 323"/>
                  <a:gd name="T3" fmla="*/ 0 h 1"/>
                  <a:gd name="T4" fmla="*/ 0 60000 65536"/>
                  <a:gd name="T5" fmla="*/ 0 60000 65536"/>
                  <a:gd name="T6" fmla="*/ 0 w 323"/>
                  <a:gd name="T7" fmla="*/ 0 h 1"/>
                  <a:gd name="T8" fmla="*/ 323 w 323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23" h="1">
                    <a:moveTo>
                      <a:pt x="0" y="0"/>
                    </a:moveTo>
                    <a:lnTo>
                      <a:pt x="323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37" name="Freeform 101"/>
              <p:cNvSpPr>
                <a:spLocks/>
              </p:cNvSpPr>
              <p:nvPr/>
            </p:nvSpPr>
            <p:spPr bwMode="auto">
              <a:xfrm>
                <a:off x="3781" y="2754"/>
                <a:ext cx="2" cy="133"/>
              </a:xfrm>
              <a:custGeom>
                <a:avLst/>
                <a:gdLst>
                  <a:gd name="T0" fmla="*/ 2 w 2"/>
                  <a:gd name="T1" fmla="*/ 0 h 133"/>
                  <a:gd name="T2" fmla="*/ 0 w 2"/>
                  <a:gd name="T3" fmla="*/ 133 h 133"/>
                  <a:gd name="T4" fmla="*/ 0 60000 65536"/>
                  <a:gd name="T5" fmla="*/ 0 60000 65536"/>
                  <a:gd name="T6" fmla="*/ 0 w 2"/>
                  <a:gd name="T7" fmla="*/ 0 h 133"/>
                  <a:gd name="T8" fmla="*/ 2 w 2"/>
                  <a:gd name="T9" fmla="*/ 133 h 13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" h="133">
                    <a:moveTo>
                      <a:pt x="2" y="0"/>
                    </a:moveTo>
                    <a:lnTo>
                      <a:pt x="0" y="133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38" name="Oval 102"/>
              <p:cNvSpPr>
                <a:spLocks noChangeArrowheads="1"/>
              </p:cNvSpPr>
              <p:nvPr/>
            </p:nvSpPr>
            <p:spPr bwMode="auto">
              <a:xfrm>
                <a:off x="3584" y="2957"/>
                <a:ext cx="58" cy="5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39" name="Oval 103"/>
              <p:cNvSpPr>
                <a:spLocks noChangeArrowheads="1"/>
              </p:cNvSpPr>
              <p:nvPr/>
            </p:nvSpPr>
            <p:spPr bwMode="auto">
              <a:xfrm>
                <a:off x="3913" y="2958"/>
                <a:ext cx="58" cy="5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40" name="Freeform 104"/>
              <p:cNvSpPr>
                <a:spLocks/>
              </p:cNvSpPr>
              <p:nvPr/>
            </p:nvSpPr>
            <p:spPr bwMode="auto">
              <a:xfrm>
                <a:off x="3463" y="2986"/>
                <a:ext cx="118" cy="1"/>
              </a:xfrm>
              <a:custGeom>
                <a:avLst/>
                <a:gdLst>
                  <a:gd name="T0" fmla="*/ 118 w 118"/>
                  <a:gd name="T1" fmla="*/ 0 h 1"/>
                  <a:gd name="T2" fmla="*/ 0 w 118"/>
                  <a:gd name="T3" fmla="*/ 0 h 1"/>
                  <a:gd name="T4" fmla="*/ 0 60000 65536"/>
                  <a:gd name="T5" fmla="*/ 0 60000 65536"/>
                  <a:gd name="T6" fmla="*/ 0 w 118"/>
                  <a:gd name="T7" fmla="*/ 0 h 1"/>
                  <a:gd name="T8" fmla="*/ 118 w 118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18" h="1">
                    <a:moveTo>
                      <a:pt x="118" y="0"/>
                    </a:move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41" name="Line 105"/>
              <p:cNvSpPr>
                <a:spLocks noChangeShapeType="1"/>
              </p:cNvSpPr>
              <p:nvPr/>
            </p:nvSpPr>
            <p:spPr bwMode="auto">
              <a:xfrm>
                <a:off x="3462" y="2992"/>
                <a:ext cx="0" cy="17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42" name="Freeform 106"/>
              <p:cNvSpPr>
                <a:spLocks/>
              </p:cNvSpPr>
              <p:nvPr/>
            </p:nvSpPr>
            <p:spPr bwMode="auto">
              <a:xfrm>
                <a:off x="3978" y="2986"/>
                <a:ext cx="83" cy="1"/>
              </a:xfrm>
              <a:custGeom>
                <a:avLst/>
                <a:gdLst>
                  <a:gd name="T0" fmla="*/ 0 w 83"/>
                  <a:gd name="T1" fmla="*/ 1 h 1"/>
                  <a:gd name="T2" fmla="*/ 83 w 83"/>
                  <a:gd name="T3" fmla="*/ 0 h 1"/>
                  <a:gd name="T4" fmla="*/ 0 60000 65536"/>
                  <a:gd name="T5" fmla="*/ 0 60000 65536"/>
                  <a:gd name="T6" fmla="*/ 0 w 83"/>
                  <a:gd name="T7" fmla="*/ 0 h 1"/>
                  <a:gd name="T8" fmla="*/ 83 w 83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83" h="1">
                    <a:moveTo>
                      <a:pt x="0" y="1"/>
                    </a:moveTo>
                    <a:lnTo>
                      <a:pt x="83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447" name="Group 107"/>
            <p:cNvGrpSpPr>
              <a:grpSpLocks/>
            </p:cNvGrpSpPr>
            <p:nvPr/>
          </p:nvGrpSpPr>
          <p:grpSpPr bwMode="auto">
            <a:xfrm>
              <a:off x="1782" y="2440"/>
              <a:ext cx="240" cy="236"/>
              <a:chOff x="4422" y="2754"/>
              <a:chExt cx="599" cy="410"/>
            </a:xfrm>
          </p:grpSpPr>
          <p:sp>
            <p:nvSpPr>
              <p:cNvPr id="16529" name="Freeform 108"/>
              <p:cNvSpPr>
                <a:spLocks/>
              </p:cNvSpPr>
              <p:nvPr/>
            </p:nvSpPr>
            <p:spPr bwMode="auto">
              <a:xfrm>
                <a:off x="4574" y="2887"/>
                <a:ext cx="323" cy="1"/>
              </a:xfrm>
              <a:custGeom>
                <a:avLst/>
                <a:gdLst>
                  <a:gd name="T0" fmla="*/ 0 w 323"/>
                  <a:gd name="T1" fmla="*/ 0 h 1"/>
                  <a:gd name="T2" fmla="*/ 323 w 323"/>
                  <a:gd name="T3" fmla="*/ 0 h 1"/>
                  <a:gd name="T4" fmla="*/ 0 60000 65536"/>
                  <a:gd name="T5" fmla="*/ 0 60000 65536"/>
                  <a:gd name="T6" fmla="*/ 0 w 323"/>
                  <a:gd name="T7" fmla="*/ 0 h 1"/>
                  <a:gd name="T8" fmla="*/ 323 w 323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23" h="1">
                    <a:moveTo>
                      <a:pt x="0" y="0"/>
                    </a:moveTo>
                    <a:lnTo>
                      <a:pt x="323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30" name="Freeform 109"/>
              <p:cNvSpPr>
                <a:spLocks/>
              </p:cNvSpPr>
              <p:nvPr/>
            </p:nvSpPr>
            <p:spPr bwMode="auto">
              <a:xfrm>
                <a:off x="4741" y="2754"/>
                <a:ext cx="2" cy="133"/>
              </a:xfrm>
              <a:custGeom>
                <a:avLst/>
                <a:gdLst>
                  <a:gd name="T0" fmla="*/ 2 w 2"/>
                  <a:gd name="T1" fmla="*/ 0 h 133"/>
                  <a:gd name="T2" fmla="*/ 0 w 2"/>
                  <a:gd name="T3" fmla="*/ 133 h 133"/>
                  <a:gd name="T4" fmla="*/ 0 60000 65536"/>
                  <a:gd name="T5" fmla="*/ 0 60000 65536"/>
                  <a:gd name="T6" fmla="*/ 0 w 2"/>
                  <a:gd name="T7" fmla="*/ 0 h 133"/>
                  <a:gd name="T8" fmla="*/ 2 w 2"/>
                  <a:gd name="T9" fmla="*/ 133 h 13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" h="133">
                    <a:moveTo>
                      <a:pt x="2" y="0"/>
                    </a:moveTo>
                    <a:lnTo>
                      <a:pt x="0" y="133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31" name="Oval 110"/>
              <p:cNvSpPr>
                <a:spLocks noChangeArrowheads="1"/>
              </p:cNvSpPr>
              <p:nvPr/>
            </p:nvSpPr>
            <p:spPr bwMode="auto">
              <a:xfrm>
                <a:off x="4544" y="2957"/>
                <a:ext cx="58" cy="5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32" name="Oval 111"/>
              <p:cNvSpPr>
                <a:spLocks noChangeArrowheads="1"/>
              </p:cNvSpPr>
              <p:nvPr/>
            </p:nvSpPr>
            <p:spPr bwMode="auto">
              <a:xfrm>
                <a:off x="4873" y="2958"/>
                <a:ext cx="58" cy="5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33" name="Freeform 112"/>
              <p:cNvSpPr>
                <a:spLocks/>
              </p:cNvSpPr>
              <p:nvPr/>
            </p:nvSpPr>
            <p:spPr bwMode="auto">
              <a:xfrm>
                <a:off x="4423" y="2986"/>
                <a:ext cx="118" cy="1"/>
              </a:xfrm>
              <a:custGeom>
                <a:avLst/>
                <a:gdLst>
                  <a:gd name="T0" fmla="*/ 118 w 118"/>
                  <a:gd name="T1" fmla="*/ 0 h 1"/>
                  <a:gd name="T2" fmla="*/ 0 w 118"/>
                  <a:gd name="T3" fmla="*/ 0 h 1"/>
                  <a:gd name="T4" fmla="*/ 0 60000 65536"/>
                  <a:gd name="T5" fmla="*/ 0 60000 65536"/>
                  <a:gd name="T6" fmla="*/ 0 w 118"/>
                  <a:gd name="T7" fmla="*/ 0 h 1"/>
                  <a:gd name="T8" fmla="*/ 118 w 118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18" h="1">
                    <a:moveTo>
                      <a:pt x="118" y="0"/>
                    </a:move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34" name="Line 113"/>
              <p:cNvSpPr>
                <a:spLocks noChangeShapeType="1"/>
              </p:cNvSpPr>
              <p:nvPr/>
            </p:nvSpPr>
            <p:spPr bwMode="auto">
              <a:xfrm>
                <a:off x="4422" y="2992"/>
                <a:ext cx="0" cy="17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35" name="Freeform 114"/>
              <p:cNvSpPr>
                <a:spLocks/>
              </p:cNvSpPr>
              <p:nvPr/>
            </p:nvSpPr>
            <p:spPr bwMode="auto">
              <a:xfrm>
                <a:off x="4938" y="2986"/>
                <a:ext cx="83" cy="1"/>
              </a:xfrm>
              <a:custGeom>
                <a:avLst/>
                <a:gdLst>
                  <a:gd name="T0" fmla="*/ 0 w 83"/>
                  <a:gd name="T1" fmla="*/ 1 h 1"/>
                  <a:gd name="T2" fmla="*/ 83 w 83"/>
                  <a:gd name="T3" fmla="*/ 0 h 1"/>
                  <a:gd name="T4" fmla="*/ 0 60000 65536"/>
                  <a:gd name="T5" fmla="*/ 0 60000 65536"/>
                  <a:gd name="T6" fmla="*/ 0 w 83"/>
                  <a:gd name="T7" fmla="*/ 0 h 1"/>
                  <a:gd name="T8" fmla="*/ 83 w 83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83" h="1">
                    <a:moveTo>
                      <a:pt x="0" y="1"/>
                    </a:moveTo>
                    <a:lnTo>
                      <a:pt x="83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6448" name="Freeform 116"/>
            <p:cNvSpPr>
              <a:spLocks/>
            </p:cNvSpPr>
            <p:nvPr/>
          </p:nvSpPr>
          <p:spPr bwMode="auto">
            <a:xfrm>
              <a:off x="2224" y="2517"/>
              <a:ext cx="129" cy="0"/>
            </a:xfrm>
            <a:custGeom>
              <a:avLst/>
              <a:gdLst>
                <a:gd name="T0" fmla="*/ 0 w 323"/>
                <a:gd name="T1" fmla="*/ 0 h 1"/>
                <a:gd name="T2" fmla="*/ 323 w 323"/>
                <a:gd name="T3" fmla="*/ 0 h 1"/>
                <a:gd name="T4" fmla="*/ 0 60000 65536"/>
                <a:gd name="T5" fmla="*/ 0 60000 65536"/>
                <a:gd name="T6" fmla="*/ 0 w 323"/>
                <a:gd name="T7" fmla="*/ 0 h 1"/>
                <a:gd name="T8" fmla="*/ 323 w 323"/>
                <a:gd name="T9" fmla="*/ 0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23" h="1">
                  <a:moveTo>
                    <a:pt x="0" y="0"/>
                  </a:moveTo>
                  <a:lnTo>
                    <a:pt x="323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49" name="Freeform 117"/>
            <p:cNvSpPr>
              <a:spLocks/>
            </p:cNvSpPr>
            <p:nvPr/>
          </p:nvSpPr>
          <p:spPr bwMode="auto">
            <a:xfrm>
              <a:off x="2290" y="2440"/>
              <a:ext cx="1" cy="77"/>
            </a:xfrm>
            <a:custGeom>
              <a:avLst/>
              <a:gdLst>
                <a:gd name="T0" fmla="*/ 2 w 2"/>
                <a:gd name="T1" fmla="*/ 0 h 133"/>
                <a:gd name="T2" fmla="*/ 0 w 2"/>
                <a:gd name="T3" fmla="*/ 133 h 133"/>
                <a:gd name="T4" fmla="*/ 0 60000 65536"/>
                <a:gd name="T5" fmla="*/ 0 60000 65536"/>
                <a:gd name="T6" fmla="*/ 0 w 2"/>
                <a:gd name="T7" fmla="*/ 0 h 133"/>
                <a:gd name="T8" fmla="*/ 2 w 2"/>
                <a:gd name="T9" fmla="*/ 133 h 13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" h="133">
                  <a:moveTo>
                    <a:pt x="2" y="0"/>
                  </a:moveTo>
                  <a:lnTo>
                    <a:pt x="0" y="133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50" name="Oval 118"/>
            <p:cNvSpPr>
              <a:spLocks noChangeArrowheads="1"/>
            </p:cNvSpPr>
            <p:nvPr/>
          </p:nvSpPr>
          <p:spPr bwMode="auto">
            <a:xfrm>
              <a:off x="2212" y="2557"/>
              <a:ext cx="23" cy="3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51" name="Oval 119"/>
            <p:cNvSpPr>
              <a:spLocks noChangeArrowheads="1"/>
            </p:cNvSpPr>
            <p:nvPr/>
          </p:nvSpPr>
          <p:spPr bwMode="auto">
            <a:xfrm>
              <a:off x="2343" y="2557"/>
              <a:ext cx="23" cy="3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52" name="Freeform 120"/>
            <p:cNvSpPr>
              <a:spLocks/>
            </p:cNvSpPr>
            <p:nvPr/>
          </p:nvSpPr>
          <p:spPr bwMode="auto">
            <a:xfrm>
              <a:off x="2163" y="2574"/>
              <a:ext cx="47" cy="0"/>
            </a:xfrm>
            <a:custGeom>
              <a:avLst/>
              <a:gdLst>
                <a:gd name="T0" fmla="*/ 118 w 118"/>
                <a:gd name="T1" fmla="*/ 0 h 1"/>
                <a:gd name="T2" fmla="*/ 0 w 118"/>
                <a:gd name="T3" fmla="*/ 0 h 1"/>
                <a:gd name="T4" fmla="*/ 0 60000 65536"/>
                <a:gd name="T5" fmla="*/ 0 60000 65536"/>
                <a:gd name="T6" fmla="*/ 0 w 118"/>
                <a:gd name="T7" fmla="*/ 0 h 1"/>
                <a:gd name="T8" fmla="*/ 118 w 118"/>
                <a:gd name="T9" fmla="*/ 0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8" h="1">
                  <a:moveTo>
                    <a:pt x="118" y="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53" name="Freeform 121"/>
            <p:cNvSpPr>
              <a:spLocks/>
            </p:cNvSpPr>
            <p:nvPr/>
          </p:nvSpPr>
          <p:spPr bwMode="auto">
            <a:xfrm>
              <a:off x="2160" y="2577"/>
              <a:ext cx="3" cy="105"/>
            </a:xfrm>
            <a:custGeom>
              <a:avLst/>
              <a:gdLst>
                <a:gd name="T0" fmla="*/ 3 w 3"/>
                <a:gd name="T1" fmla="*/ 0 h 105"/>
                <a:gd name="T2" fmla="*/ 0 w 3"/>
                <a:gd name="T3" fmla="*/ 105 h 105"/>
                <a:gd name="T4" fmla="*/ 0 60000 65536"/>
                <a:gd name="T5" fmla="*/ 0 60000 65536"/>
                <a:gd name="T6" fmla="*/ 0 w 3"/>
                <a:gd name="T7" fmla="*/ 0 h 105"/>
                <a:gd name="T8" fmla="*/ 3 w 3"/>
                <a:gd name="T9" fmla="*/ 105 h 10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" h="105">
                  <a:moveTo>
                    <a:pt x="3" y="0"/>
                  </a:moveTo>
                  <a:lnTo>
                    <a:pt x="0" y="105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54" name="Freeform 122"/>
            <p:cNvSpPr>
              <a:spLocks/>
            </p:cNvSpPr>
            <p:nvPr/>
          </p:nvSpPr>
          <p:spPr bwMode="auto">
            <a:xfrm>
              <a:off x="2369" y="2574"/>
              <a:ext cx="33" cy="0"/>
            </a:xfrm>
            <a:custGeom>
              <a:avLst/>
              <a:gdLst>
                <a:gd name="T0" fmla="*/ 0 w 83"/>
                <a:gd name="T1" fmla="*/ 1 h 1"/>
                <a:gd name="T2" fmla="*/ 83 w 83"/>
                <a:gd name="T3" fmla="*/ 0 h 1"/>
                <a:gd name="T4" fmla="*/ 0 60000 65536"/>
                <a:gd name="T5" fmla="*/ 0 60000 65536"/>
                <a:gd name="T6" fmla="*/ 0 w 83"/>
                <a:gd name="T7" fmla="*/ 0 h 1"/>
                <a:gd name="T8" fmla="*/ 83 w 83"/>
                <a:gd name="T9" fmla="*/ 0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3" h="1">
                  <a:moveTo>
                    <a:pt x="0" y="1"/>
                  </a:moveTo>
                  <a:lnTo>
                    <a:pt x="83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55" name="Oval 123"/>
            <p:cNvSpPr>
              <a:spLocks noChangeArrowheads="1"/>
            </p:cNvSpPr>
            <p:nvPr/>
          </p:nvSpPr>
          <p:spPr bwMode="auto">
            <a:xfrm>
              <a:off x="1385" y="2655"/>
              <a:ext cx="23" cy="33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56" name="Oval 124"/>
            <p:cNvSpPr>
              <a:spLocks noChangeArrowheads="1"/>
            </p:cNvSpPr>
            <p:nvPr/>
          </p:nvSpPr>
          <p:spPr bwMode="auto">
            <a:xfrm>
              <a:off x="1769" y="2651"/>
              <a:ext cx="23" cy="33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57" name="Oval 125"/>
            <p:cNvSpPr>
              <a:spLocks noChangeArrowheads="1"/>
            </p:cNvSpPr>
            <p:nvPr/>
          </p:nvSpPr>
          <p:spPr bwMode="auto">
            <a:xfrm>
              <a:off x="2150" y="2655"/>
              <a:ext cx="23" cy="33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58" name="Oval 126"/>
            <p:cNvSpPr>
              <a:spLocks noChangeArrowheads="1"/>
            </p:cNvSpPr>
            <p:nvPr/>
          </p:nvSpPr>
          <p:spPr bwMode="auto">
            <a:xfrm>
              <a:off x="1247" y="2552"/>
              <a:ext cx="23" cy="33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59" name="Oval 127"/>
            <p:cNvSpPr>
              <a:spLocks noChangeArrowheads="1"/>
            </p:cNvSpPr>
            <p:nvPr/>
          </p:nvSpPr>
          <p:spPr bwMode="auto">
            <a:xfrm>
              <a:off x="1631" y="2556"/>
              <a:ext cx="24" cy="34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60" name="Oval 128"/>
            <p:cNvSpPr>
              <a:spLocks noChangeArrowheads="1"/>
            </p:cNvSpPr>
            <p:nvPr/>
          </p:nvSpPr>
          <p:spPr bwMode="auto">
            <a:xfrm>
              <a:off x="2009" y="2552"/>
              <a:ext cx="23" cy="33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61" name="Oval 129"/>
            <p:cNvSpPr>
              <a:spLocks noChangeArrowheads="1"/>
            </p:cNvSpPr>
            <p:nvPr/>
          </p:nvSpPr>
          <p:spPr bwMode="auto">
            <a:xfrm>
              <a:off x="2399" y="2552"/>
              <a:ext cx="23" cy="33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62" name="Freeform 131"/>
            <p:cNvSpPr>
              <a:spLocks/>
            </p:cNvSpPr>
            <p:nvPr/>
          </p:nvSpPr>
          <p:spPr bwMode="auto">
            <a:xfrm>
              <a:off x="1011" y="3004"/>
              <a:ext cx="1405" cy="2"/>
            </a:xfrm>
            <a:custGeom>
              <a:avLst/>
              <a:gdLst>
                <a:gd name="T0" fmla="*/ 0 w 3513"/>
                <a:gd name="T1" fmla="*/ 0 h 3"/>
                <a:gd name="T2" fmla="*/ 3513 w 3513"/>
                <a:gd name="T3" fmla="*/ 3 h 3"/>
                <a:gd name="T4" fmla="*/ 0 60000 65536"/>
                <a:gd name="T5" fmla="*/ 0 60000 65536"/>
                <a:gd name="T6" fmla="*/ 0 w 3513"/>
                <a:gd name="T7" fmla="*/ 0 h 3"/>
                <a:gd name="T8" fmla="*/ 3513 w 3513"/>
                <a:gd name="T9" fmla="*/ 3 h 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513" h="3">
                  <a:moveTo>
                    <a:pt x="0" y="0"/>
                  </a:moveTo>
                  <a:lnTo>
                    <a:pt x="3513" y="3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63" name="Freeform 133"/>
            <p:cNvSpPr>
              <a:spLocks/>
            </p:cNvSpPr>
            <p:nvPr/>
          </p:nvSpPr>
          <p:spPr bwMode="auto">
            <a:xfrm>
              <a:off x="1072" y="2845"/>
              <a:ext cx="129" cy="0"/>
            </a:xfrm>
            <a:custGeom>
              <a:avLst/>
              <a:gdLst>
                <a:gd name="T0" fmla="*/ 0 w 323"/>
                <a:gd name="T1" fmla="*/ 0 h 1"/>
                <a:gd name="T2" fmla="*/ 323 w 323"/>
                <a:gd name="T3" fmla="*/ 0 h 1"/>
                <a:gd name="T4" fmla="*/ 0 60000 65536"/>
                <a:gd name="T5" fmla="*/ 0 60000 65536"/>
                <a:gd name="T6" fmla="*/ 0 w 323"/>
                <a:gd name="T7" fmla="*/ 0 h 1"/>
                <a:gd name="T8" fmla="*/ 323 w 323"/>
                <a:gd name="T9" fmla="*/ 0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23" h="1">
                  <a:moveTo>
                    <a:pt x="0" y="0"/>
                  </a:moveTo>
                  <a:lnTo>
                    <a:pt x="323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64" name="Freeform 134"/>
            <p:cNvSpPr>
              <a:spLocks/>
            </p:cNvSpPr>
            <p:nvPr/>
          </p:nvSpPr>
          <p:spPr bwMode="auto">
            <a:xfrm>
              <a:off x="1139" y="2768"/>
              <a:ext cx="1" cy="77"/>
            </a:xfrm>
            <a:custGeom>
              <a:avLst/>
              <a:gdLst>
                <a:gd name="T0" fmla="*/ 2 w 2"/>
                <a:gd name="T1" fmla="*/ 0 h 133"/>
                <a:gd name="T2" fmla="*/ 0 w 2"/>
                <a:gd name="T3" fmla="*/ 133 h 133"/>
                <a:gd name="T4" fmla="*/ 0 60000 65536"/>
                <a:gd name="T5" fmla="*/ 0 60000 65536"/>
                <a:gd name="T6" fmla="*/ 0 w 2"/>
                <a:gd name="T7" fmla="*/ 0 h 133"/>
                <a:gd name="T8" fmla="*/ 2 w 2"/>
                <a:gd name="T9" fmla="*/ 133 h 13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" h="133">
                  <a:moveTo>
                    <a:pt x="2" y="0"/>
                  </a:moveTo>
                  <a:lnTo>
                    <a:pt x="0" y="133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65" name="Oval 135"/>
            <p:cNvSpPr>
              <a:spLocks noChangeArrowheads="1"/>
            </p:cNvSpPr>
            <p:nvPr/>
          </p:nvSpPr>
          <p:spPr bwMode="auto">
            <a:xfrm>
              <a:off x="1060" y="2885"/>
              <a:ext cx="23" cy="3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66" name="Oval 136"/>
            <p:cNvSpPr>
              <a:spLocks noChangeArrowheads="1"/>
            </p:cNvSpPr>
            <p:nvPr/>
          </p:nvSpPr>
          <p:spPr bwMode="auto">
            <a:xfrm>
              <a:off x="1192" y="2885"/>
              <a:ext cx="23" cy="3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67" name="Freeform 137"/>
            <p:cNvSpPr>
              <a:spLocks/>
            </p:cNvSpPr>
            <p:nvPr/>
          </p:nvSpPr>
          <p:spPr bwMode="auto">
            <a:xfrm>
              <a:off x="1011" y="2902"/>
              <a:ext cx="48" cy="0"/>
            </a:xfrm>
            <a:custGeom>
              <a:avLst/>
              <a:gdLst>
                <a:gd name="T0" fmla="*/ 118 w 118"/>
                <a:gd name="T1" fmla="*/ 0 h 1"/>
                <a:gd name="T2" fmla="*/ 0 w 118"/>
                <a:gd name="T3" fmla="*/ 0 h 1"/>
                <a:gd name="T4" fmla="*/ 0 60000 65536"/>
                <a:gd name="T5" fmla="*/ 0 60000 65536"/>
                <a:gd name="T6" fmla="*/ 0 w 118"/>
                <a:gd name="T7" fmla="*/ 0 h 1"/>
                <a:gd name="T8" fmla="*/ 118 w 118"/>
                <a:gd name="T9" fmla="*/ 0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8" h="1">
                  <a:moveTo>
                    <a:pt x="118" y="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68" name="Freeform 138"/>
            <p:cNvSpPr>
              <a:spLocks/>
            </p:cNvSpPr>
            <p:nvPr/>
          </p:nvSpPr>
          <p:spPr bwMode="auto">
            <a:xfrm>
              <a:off x="1008" y="2905"/>
              <a:ext cx="3" cy="101"/>
            </a:xfrm>
            <a:custGeom>
              <a:avLst/>
              <a:gdLst>
                <a:gd name="T0" fmla="*/ 3 w 3"/>
                <a:gd name="T1" fmla="*/ 0 h 101"/>
                <a:gd name="T2" fmla="*/ 0 w 3"/>
                <a:gd name="T3" fmla="*/ 101 h 101"/>
                <a:gd name="T4" fmla="*/ 0 60000 65536"/>
                <a:gd name="T5" fmla="*/ 0 60000 65536"/>
                <a:gd name="T6" fmla="*/ 0 w 3"/>
                <a:gd name="T7" fmla="*/ 0 h 101"/>
                <a:gd name="T8" fmla="*/ 3 w 3"/>
                <a:gd name="T9" fmla="*/ 101 h 10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" h="101">
                  <a:moveTo>
                    <a:pt x="3" y="0"/>
                  </a:moveTo>
                  <a:lnTo>
                    <a:pt x="0" y="101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69" name="Freeform 139"/>
            <p:cNvSpPr>
              <a:spLocks/>
            </p:cNvSpPr>
            <p:nvPr/>
          </p:nvSpPr>
          <p:spPr bwMode="auto">
            <a:xfrm>
              <a:off x="1218" y="2902"/>
              <a:ext cx="33" cy="0"/>
            </a:xfrm>
            <a:custGeom>
              <a:avLst/>
              <a:gdLst>
                <a:gd name="T0" fmla="*/ 0 w 83"/>
                <a:gd name="T1" fmla="*/ 1 h 1"/>
                <a:gd name="T2" fmla="*/ 83 w 83"/>
                <a:gd name="T3" fmla="*/ 0 h 1"/>
                <a:gd name="T4" fmla="*/ 0 60000 65536"/>
                <a:gd name="T5" fmla="*/ 0 60000 65536"/>
                <a:gd name="T6" fmla="*/ 0 w 83"/>
                <a:gd name="T7" fmla="*/ 0 h 1"/>
                <a:gd name="T8" fmla="*/ 83 w 83"/>
                <a:gd name="T9" fmla="*/ 0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3" h="1">
                  <a:moveTo>
                    <a:pt x="0" y="1"/>
                  </a:moveTo>
                  <a:lnTo>
                    <a:pt x="83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6470" name="Group 140"/>
            <p:cNvGrpSpPr>
              <a:grpSpLocks/>
            </p:cNvGrpSpPr>
            <p:nvPr/>
          </p:nvGrpSpPr>
          <p:grpSpPr bwMode="auto">
            <a:xfrm>
              <a:off x="1399" y="2768"/>
              <a:ext cx="239" cy="236"/>
              <a:chOff x="3462" y="3324"/>
              <a:chExt cx="599" cy="410"/>
            </a:xfrm>
          </p:grpSpPr>
          <p:sp>
            <p:nvSpPr>
              <p:cNvPr id="16522" name="Freeform 141"/>
              <p:cNvSpPr>
                <a:spLocks/>
              </p:cNvSpPr>
              <p:nvPr/>
            </p:nvSpPr>
            <p:spPr bwMode="auto">
              <a:xfrm>
                <a:off x="3614" y="3457"/>
                <a:ext cx="323" cy="1"/>
              </a:xfrm>
              <a:custGeom>
                <a:avLst/>
                <a:gdLst>
                  <a:gd name="T0" fmla="*/ 0 w 323"/>
                  <a:gd name="T1" fmla="*/ 0 h 1"/>
                  <a:gd name="T2" fmla="*/ 323 w 323"/>
                  <a:gd name="T3" fmla="*/ 0 h 1"/>
                  <a:gd name="T4" fmla="*/ 0 60000 65536"/>
                  <a:gd name="T5" fmla="*/ 0 60000 65536"/>
                  <a:gd name="T6" fmla="*/ 0 w 323"/>
                  <a:gd name="T7" fmla="*/ 0 h 1"/>
                  <a:gd name="T8" fmla="*/ 323 w 323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23" h="1">
                    <a:moveTo>
                      <a:pt x="0" y="0"/>
                    </a:moveTo>
                    <a:lnTo>
                      <a:pt x="323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23" name="Freeform 142"/>
              <p:cNvSpPr>
                <a:spLocks/>
              </p:cNvSpPr>
              <p:nvPr/>
            </p:nvSpPr>
            <p:spPr bwMode="auto">
              <a:xfrm>
                <a:off x="3781" y="3324"/>
                <a:ext cx="2" cy="133"/>
              </a:xfrm>
              <a:custGeom>
                <a:avLst/>
                <a:gdLst>
                  <a:gd name="T0" fmla="*/ 2 w 2"/>
                  <a:gd name="T1" fmla="*/ 0 h 133"/>
                  <a:gd name="T2" fmla="*/ 0 w 2"/>
                  <a:gd name="T3" fmla="*/ 133 h 133"/>
                  <a:gd name="T4" fmla="*/ 0 60000 65536"/>
                  <a:gd name="T5" fmla="*/ 0 60000 65536"/>
                  <a:gd name="T6" fmla="*/ 0 w 2"/>
                  <a:gd name="T7" fmla="*/ 0 h 133"/>
                  <a:gd name="T8" fmla="*/ 2 w 2"/>
                  <a:gd name="T9" fmla="*/ 133 h 13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" h="133">
                    <a:moveTo>
                      <a:pt x="2" y="0"/>
                    </a:moveTo>
                    <a:lnTo>
                      <a:pt x="0" y="133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24" name="Oval 143"/>
              <p:cNvSpPr>
                <a:spLocks noChangeArrowheads="1"/>
              </p:cNvSpPr>
              <p:nvPr/>
            </p:nvSpPr>
            <p:spPr bwMode="auto">
              <a:xfrm>
                <a:off x="3584" y="3527"/>
                <a:ext cx="58" cy="5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25" name="Oval 144"/>
              <p:cNvSpPr>
                <a:spLocks noChangeArrowheads="1"/>
              </p:cNvSpPr>
              <p:nvPr/>
            </p:nvSpPr>
            <p:spPr bwMode="auto">
              <a:xfrm>
                <a:off x="3913" y="3528"/>
                <a:ext cx="58" cy="5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26" name="Freeform 145"/>
              <p:cNvSpPr>
                <a:spLocks/>
              </p:cNvSpPr>
              <p:nvPr/>
            </p:nvSpPr>
            <p:spPr bwMode="auto">
              <a:xfrm>
                <a:off x="3463" y="3556"/>
                <a:ext cx="118" cy="1"/>
              </a:xfrm>
              <a:custGeom>
                <a:avLst/>
                <a:gdLst>
                  <a:gd name="T0" fmla="*/ 118 w 118"/>
                  <a:gd name="T1" fmla="*/ 0 h 1"/>
                  <a:gd name="T2" fmla="*/ 0 w 118"/>
                  <a:gd name="T3" fmla="*/ 0 h 1"/>
                  <a:gd name="T4" fmla="*/ 0 60000 65536"/>
                  <a:gd name="T5" fmla="*/ 0 60000 65536"/>
                  <a:gd name="T6" fmla="*/ 0 w 118"/>
                  <a:gd name="T7" fmla="*/ 0 h 1"/>
                  <a:gd name="T8" fmla="*/ 118 w 118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18" h="1">
                    <a:moveTo>
                      <a:pt x="118" y="0"/>
                    </a:move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27" name="Line 146"/>
              <p:cNvSpPr>
                <a:spLocks noChangeShapeType="1"/>
              </p:cNvSpPr>
              <p:nvPr/>
            </p:nvSpPr>
            <p:spPr bwMode="auto">
              <a:xfrm>
                <a:off x="3462" y="3562"/>
                <a:ext cx="0" cy="17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28" name="Freeform 147"/>
              <p:cNvSpPr>
                <a:spLocks/>
              </p:cNvSpPr>
              <p:nvPr/>
            </p:nvSpPr>
            <p:spPr bwMode="auto">
              <a:xfrm>
                <a:off x="3978" y="3556"/>
                <a:ext cx="83" cy="1"/>
              </a:xfrm>
              <a:custGeom>
                <a:avLst/>
                <a:gdLst>
                  <a:gd name="T0" fmla="*/ 0 w 83"/>
                  <a:gd name="T1" fmla="*/ 1 h 1"/>
                  <a:gd name="T2" fmla="*/ 83 w 83"/>
                  <a:gd name="T3" fmla="*/ 0 h 1"/>
                  <a:gd name="T4" fmla="*/ 0 60000 65536"/>
                  <a:gd name="T5" fmla="*/ 0 60000 65536"/>
                  <a:gd name="T6" fmla="*/ 0 w 83"/>
                  <a:gd name="T7" fmla="*/ 0 h 1"/>
                  <a:gd name="T8" fmla="*/ 83 w 83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83" h="1">
                    <a:moveTo>
                      <a:pt x="0" y="1"/>
                    </a:moveTo>
                    <a:lnTo>
                      <a:pt x="83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6471" name="Group 148"/>
            <p:cNvGrpSpPr>
              <a:grpSpLocks/>
            </p:cNvGrpSpPr>
            <p:nvPr/>
          </p:nvGrpSpPr>
          <p:grpSpPr bwMode="auto">
            <a:xfrm>
              <a:off x="1782" y="2768"/>
              <a:ext cx="240" cy="236"/>
              <a:chOff x="4422" y="3324"/>
              <a:chExt cx="599" cy="410"/>
            </a:xfrm>
          </p:grpSpPr>
          <p:sp>
            <p:nvSpPr>
              <p:cNvPr id="16515" name="Freeform 149"/>
              <p:cNvSpPr>
                <a:spLocks/>
              </p:cNvSpPr>
              <p:nvPr/>
            </p:nvSpPr>
            <p:spPr bwMode="auto">
              <a:xfrm>
                <a:off x="4574" y="3457"/>
                <a:ext cx="323" cy="1"/>
              </a:xfrm>
              <a:custGeom>
                <a:avLst/>
                <a:gdLst>
                  <a:gd name="T0" fmla="*/ 0 w 323"/>
                  <a:gd name="T1" fmla="*/ 0 h 1"/>
                  <a:gd name="T2" fmla="*/ 323 w 323"/>
                  <a:gd name="T3" fmla="*/ 0 h 1"/>
                  <a:gd name="T4" fmla="*/ 0 60000 65536"/>
                  <a:gd name="T5" fmla="*/ 0 60000 65536"/>
                  <a:gd name="T6" fmla="*/ 0 w 323"/>
                  <a:gd name="T7" fmla="*/ 0 h 1"/>
                  <a:gd name="T8" fmla="*/ 323 w 323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23" h="1">
                    <a:moveTo>
                      <a:pt x="0" y="0"/>
                    </a:moveTo>
                    <a:lnTo>
                      <a:pt x="323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16" name="Freeform 150"/>
              <p:cNvSpPr>
                <a:spLocks/>
              </p:cNvSpPr>
              <p:nvPr/>
            </p:nvSpPr>
            <p:spPr bwMode="auto">
              <a:xfrm>
                <a:off x="4741" y="3324"/>
                <a:ext cx="2" cy="133"/>
              </a:xfrm>
              <a:custGeom>
                <a:avLst/>
                <a:gdLst>
                  <a:gd name="T0" fmla="*/ 2 w 2"/>
                  <a:gd name="T1" fmla="*/ 0 h 133"/>
                  <a:gd name="T2" fmla="*/ 0 w 2"/>
                  <a:gd name="T3" fmla="*/ 133 h 133"/>
                  <a:gd name="T4" fmla="*/ 0 60000 65536"/>
                  <a:gd name="T5" fmla="*/ 0 60000 65536"/>
                  <a:gd name="T6" fmla="*/ 0 w 2"/>
                  <a:gd name="T7" fmla="*/ 0 h 133"/>
                  <a:gd name="T8" fmla="*/ 2 w 2"/>
                  <a:gd name="T9" fmla="*/ 133 h 13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" h="133">
                    <a:moveTo>
                      <a:pt x="2" y="0"/>
                    </a:moveTo>
                    <a:lnTo>
                      <a:pt x="0" y="133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17" name="Oval 151"/>
              <p:cNvSpPr>
                <a:spLocks noChangeArrowheads="1"/>
              </p:cNvSpPr>
              <p:nvPr/>
            </p:nvSpPr>
            <p:spPr bwMode="auto">
              <a:xfrm>
                <a:off x="4544" y="3527"/>
                <a:ext cx="58" cy="5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18" name="Oval 152"/>
              <p:cNvSpPr>
                <a:spLocks noChangeArrowheads="1"/>
              </p:cNvSpPr>
              <p:nvPr/>
            </p:nvSpPr>
            <p:spPr bwMode="auto">
              <a:xfrm>
                <a:off x="4873" y="3528"/>
                <a:ext cx="58" cy="58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19" name="Freeform 153"/>
              <p:cNvSpPr>
                <a:spLocks/>
              </p:cNvSpPr>
              <p:nvPr/>
            </p:nvSpPr>
            <p:spPr bwMode="auto">
              <a:xfrm>
                <a:off x="4423" y="3556"/>
                <a:ext cx="118" cy="1"/>
              </a:xfrm>
              <a:custGeom>
                <a:avLst/>
                <a:gdLst>
                  <a:gd name="T0" fmla="*/ 118 w 118"/>
                  <a:gd name="T1" fmla="*/ 0 h 1"/>
                  <a:gd name="T2" fmla="*/ 0 w 118"/>
                  <a:gd name="T3" fmla="*/ 0 h 1"/>
                  <a:gd name="T4" fmla="*/ 0 60000 65536"/>
                  <a:gd name="T5" fmla="*/ 0 60000 65536"/>
                  <a:gd name="T6" fmla="*/ 0 w 118"/>
                  <a:gd name="T7" fmla="*/ 0 h 1"/>
                  <a:gd name="T8" fmla="*/ 118 w 118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18" h="1">
                    <a:moveTo>
                      <a:pt x="118" y="0"/>
                    </a:move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20" name="Line 154"/>
              <p:cNvSpPr>
                <a:spLocks noChangeShapeType="1"/>
              </p:cNvSpPr>
              <p:nvPr/>
            </p:nvSpPr>
            <p:spPr bwMode="auto">
              <a:xfrm>
                <a:off x="4422" y="3562"/>
                <a:ext cx="0" cy="17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21" name="Freeform 155"/>
              <p:cNvSpPr>
                <a:spLocks/>
              </p:cNvSpPr>
              <p:nvPr/>
            </p:nvSpPr>
            <p:spPr bwMode="auto">
              <a:xfrm>
                <a:off x="4938" y="3556"/>
                <a:ext cx="83" cy="1"/>
              </a:xfrm>
              <a:custGeom>
                <a:avLst/>
                <a:gdLst>
                  <a:gd name="T0" fmla="*/ 0 w 83"/>
                  <a:gd name="T1" fmla="*/ 1 h 1"/>
                  <a:gd name="T2" fmla="*/ 83 w 83"/>
                  <a:gd name="T3" fmla="*/ 0 h 1"/>
                  <a:gd name="T4" fmla="*/ 0 60000 65536"/>
                  <a:gd name="T5" fmla="*/ 0 60000 65536"/>
                  <a:gd name="T6" fmla="*/ 0 w 83"/>
                  <a:gd name="T7" fmla="*/ 0 h 1"/>
                  <a:gd name="T8" fmla="*/ 83 w 83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83" h="1">
                    <a:moveTo>
                      <a:pt x="0" y="1"/>
                    </a:moveTo>
                    <a:lnTo>
                      <a:pt x="83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6472" name="Freeform 157"/>
            <p:cNvSpPr>
              <a:spLocks/>
            </p:cNvSpPr>
            <p:nvPr/>
          </p:nvSpPr>
          <p:spPr bwMode="auto">
            <a:xfrm>
              <a:off x="2224" y="2845"/>
              <a:ext cx="129" cy="0"/>
            </a:xfrm>
            <a:custGeom>
              <a:avLst/>
              <a:gdLst>
                <a:gd name="T0" fmla="*/ 0 w 323"/>
                <a:gd name="T1" fmla="*/ 0 h 1"/>
                <a:gd name="T2" fmla="*/ 323 w 323"/>
                <a:gd name="T3" fmla="*/ 0 h 1"/>
                <a:gd name="T4" fmla="*/ 0 60000 65536"/>
                <a:gd name="T5" fmla="*/ 0 60000 65536"/>
                <a:gd name="T6" fmla="*/ 0 w 323"/>
                <a:gd name="T7" fmla="*/ 0 h 1"/>
                <a:gd name="T8" fmla="*/ 323 w 323"/>
                <a:gd name="T9" fmla="*/ 0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23" h="1">
                  <a:moveTo>
                    <a:pt x="0" y="0"/>
                  </a:moveTo>
                  <a:lnTo>
                    <a:pt x="323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73" name="Freeform 158"/>
            <p:cNvSpPr>
              <a:spLocks/>
            </p:cNvSpPr>
            <p:nvPr/>
          </p:nvSpPr>
          <p:spPr bwMode="auto">
            <a:xfrm>
              <a:off x="2291" y="2768"/>
              <a:ext cx="1" cy="77"/>
            </a:xfrm>
            <a:custGeom>
              <a:avLst/>
              <a:gdLst>
                <a:gd name="T0" fmla="*/ 2 w 2"/>
                <a:gd name="T1" fmla="*/ 0 h 133"/>
                <a:gd name="T2" fmla="*/ 0 w 2"/>
                <a:gd name="T3" fmla="*/ 133 h 133"/>
                <a:gd name="T4" fmla="*/ 0 60000 65536"/>
                <a:gd name="T5" fmla="*/ 0 60000 65536"/>
                <a:gd name="T6" fmla="*/ 0 w 2"/>
                <a:gd name="T7" fmla="*/ 0 h 133"/>
                <a:gd name="T8" fmla="*/ 2 w 2"/>
                <a:gd name="T9" fmla="*/ 133 h 13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" h="133">
                  <a:moveTo>
                    <a:pt x="2" y="0"/>
                  </a:moveTo>
                  <a:lnTo>
                    <a:pt x="0" y="133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74" name="Oval 159"/>
            <p:cNvSpPr>
              <a:spLocks noChangeArrowheads="1"/>
            </p:cNvSpPr>
            <p:nvPr/>
          </p:nvSpPr>
          <p:spPr bwMode="auto">
            <a:xfrm>
              <a:off x="2212" y="2885"/>
              <a:ext cx="23" cy="3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75" name="Oval 160"/>
            <p:cNvSpPr>
              <a:spLocks noChangeArrowheads="1"/>
            </p:cNvSpPr>
            <p:nvPr/>
          </p:nvSpPr>
          <p:spPr bwMode="auto">
            <a:xfrm>
              <a:off x="2344" y="2885"/>
              <a:ext cx="23" cy="3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76" name="Freeform 161"/>
            <p:cNvSpPr>
              <a:spLocks/>
            </p:cNvSpPr>
            <p:nvPr/>
          </p:nvSpPr>
          <p:spPr bwMode="auto">
            <a:xfrm>
              <a:off x="2163" y="2902"/>
              <a:ext cx="48" cy="0"/>
            </a:xfrm>
            <a:custGeom>
              <a:avLst/>
              <a:gdLst>
                <a:gd name="T0" fmla="*/ 118 w 118"/>
                <a:gd name="T1" fmla="*/ 0 h 1"/>
                <a:gd name="T2" fmla="*/ 0 w 118"/>
                <a:gd name="T3" fmla="*/ 0 h 1"/>
                <a:gd name="T4" fmla="*/ 0 60000 65536"/>
                <a:gd name="T5" fmla="*/ 0 60000 65536"/>
                <a:gd name="T6" fmla="*/ 0 w 118"/>
                <a:gd name="T7" fmla="*/ 0 h 1"/>
                <a:gd name="T8" fmla="*/ 118 w 118"/>
                <a:gd name="T9" fmla="*/ 0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8" h="1">
                  <a:moveTo>
                    <a:pt x="118" y="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77" name="Freeform 162"/>
            <p:cNvSpPr>
              <a:spLocks/>
            </p:cNvSpPr>
            <p:nvPr/>
          </p:nvSpPr>
          <p:spPr bwMode="auto">
            <a:xfrm>
              <a:off x="2160" y="2905"/>
              <a:ext cx="3" cy="101"/>
            </a:xfrm>
            <a:custGeom>
              <a:avLst/>
              <a:gdLst>
                <a:gd name="T0" fmla="*/ 3 w 3"/>
                <a:gd name="T1" fmla="*/ 0 h 101"/>
                <a:gd name="T2" fmla="*/ 0 w 3"/>
                <a:gd name="T3" fmla="*/ 101 h 101"/>
                <a:gd name="T4" fmla="*/ 0 60000 65536"/>
                <a:gd name="T5" fmla="*/ 0 60000 65536"/>
                <a:gd name="T6" fmla="*/ 0 w 3"/>
                <a:gd name="T7" fmla="*/ 0 h 101"/>
                <a:gd name="T8" fmla="*/ 3 w 3"/>
                <a:gd name="T9" fmla="*/ 101 h 10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" h="101">
                  <a:moveTo>
                    <a:pt x="3" y="0"/>
                  </a:moveTo>
                  <a:lnTo>
                    <a:pt x="0" y="101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78" name="Freeform 163"/>
            <p:cNvSpPr>
              <a:spLocks/>
            </p:cNvSpPr>
            <p:nvPr/>
          </p:nvSpPr>
          <p:spPr bwMode="auto">
            <a:xfrm>
              <a:off x="2370" y="2902"/>
              <a:ext cx="33" cy="0"/>
            </a:xfrm>
            <a:custGeom>
              <a:avLst/>
              <a:gdLst>
                <a:gd name="T0" fmla="*/ 0 w 83"/>
                <a:gd name="T1" fmla="*/ 1 h 1"/>
                <a:gd name="T2" fmla="*/ 83 w 83"/>
                <a:gd name="T3" fmla="*/ 0 h 1"/>
                <a:gd name="T4" fmla="*/ 0 60000 65536"/>
                <a:gd name="T5" fmla="*/ 0 60000 65536"/>
                <a:gd name="T6" fmla="*/ 0 w 83"/>
                <a:gd name="T7" fmla="*/ 0 h 1"/>
                <a:gd name="T8" fmla="*/ 83 w 83"/>
                <a:gd name="T9" fmla="*/ 0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3" h="1">
                  <a:moveTo>
                    <a:pt x="0" y="1"/>
                  </a:moveTo>
                  <a:lnTo>
                    <a:pt x="83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79" name="Oval 164"/>
            <p:cNvSpPr>
              <a:spLocks noChangeArrowheads="1"/>
            </p:cNvSpPr>
            <p:nvPr/>
          </p:nvSpPr>
          <p:spPr bwMode="auto">
            <a:xfrm>
              <a:off x="1385" y="2983"/>
              <a:ext cx="24" cy="33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80" name="Oval 165"/>
            <p:cNvSpPr>
              <a:spLocks noChangeArrowheads="1"/>
            </p:cNvSpPr>
            <p:nvPr/>
          </p:nvSpPr>
          <p:spPr bwMode="auto">
            <a:xfrm>
              <a:off x="1769" y="2979"/>
              <a:ext cx="23" cy="33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81" name="Oval 166"/>
            <p:cNvSpPr>
              <a:spLocks noChangeArrowheads="1"/>
            </p:cNvSpPr>
            <p:nvPr/>
          </p:nvSpPr>
          <p:spPr bwMode="auto">
            <a:xfrm>
              <a:off x="2150" y="2983"/>
              <a:ext cx="23" cy="33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82" name="Oval 167"/>
            <p:cNvSpPr>
              <a:spLocks noChangeArrowheads="1"/>
            </p:cNvSpPr>
            <p:nvPr/>
          </p:nvSpPr>
          <p:spPr bwMode="auto">
            <a:xfrm>
              <a:off x="1247" y="2879"/>
              <a:ext cx="23" cy="34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83" name="Oval 168"/>
            <p:cNvSpPr>
              <a:spLocks noChangeArrowheads="1"/>
            </p:cNvSpPr>
            <p:nvPr/>
          </p:nvSpPr>
          <p:spPr bwMode="auto">
            <a:xfrm>
              <a:off x="1631" y="2884"/>
              <a:ext cx="24" cy="33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84" name="Oval 169"/>
            <p:cNvSpPr>
              <a:spLocks noChangeArrowheads="1"/>
            </p:cNvSpPr>
            <p:nvPr/>
          </p:nvSpPr>
          <p:spPr bwMode="auto">
            <a:xfrm>
              <a:off x="2009" y="2879"/>
              <a:ext cx="23" cy="34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85" name="Oval 170"/>
            <p:cNvSpPr>
              <a:spLocks noChangeArrowheads="1"/>
            </p:cNvSpPr>
            <p:nvPr/>
          </p:nvSpPr>
          <p:spPr bwMode="auto">
            <a:xfrm>
              <a:off x="2399" y="2879"/>
              <a:ext cx="23" cy="34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86" name="Freeform 171"/>
            <p:cNvSpPr>
              <a:spLocks/>
            </p:cNvSpPr>
            <p:nvPr/>
          </p:nvSpPr>
          <p:spPr bwMode="auto">
            <a:xfrm>
              <a:off x="2021" y="1594"/>
              <a:ext cx="1" cy="1407"/>
            </a:xfrm>
            <a:custGeom>
              <a:avLst/>
              <a:gdLst>
                <a:gd name="T0" fmla="*/ 3 w 3"/>
                <a:gd name="T1" fmla="*/ 0 h 2444"/>
                <a:gd name="T2" fmla="*/ 0 w 3"/>
                <a:gd name="T3" fmla="*/ 2444 h 2444"/>
                <a:gd name="T4" fmla="*/ 0 60000 65536"/>
                <a:gd name="T5" fmla="*/ 0 60000 65536"/>
                <a:gd name="T6" fmla="*/ 0 w 3"/>
                <a:gd name="T7" fmla="*/ 0 h 2444"/>
                <a:gd name="T8" fmla="*/ 3 w 3"/>
                <a:gd name="T9" fmla="*/ 2444 h 244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" h="2444">
                  <a:moveTo>
                    <a:pt x="3" y="0"/>
                  </a:moveTo>
                  <a:lnTo>
                    <a:pt x="0" y="2444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87" name="Freeform 172"/>
            <p:cNvSpPr>
              <a:spLocks/>
            </p:cNvSpPr>
            <p:nvPr/>
          </p:nvSpPr>
          <p:spPr bwMode="auto">
            <a:xfrm>
              <a:off x="2416" y="1706"/>
              <a:ext cx="0" cy="1300"/>
            </a:xfrm>
            <a:custGeom>
              <a:avLst/>
              <a:gdLst>
                <a:gd name="T0" fmla="*/ 2 w 2"/>
                <a:gd name="T1" fmla="*/ 0 h 2261"/>
                <a:gd name="T2" fmla="*/ 0 w 2"/>
                <a:gd name="T3" fmla="*/ 2261 h 2261"/>
                <a:gd name="T4" fmla="*/ 0 60000 65536"/>
                <a:gd name="T5" fmla="*/ 0 60000 65536"/>
                <a:gd name="T6" fmla="*/ 0 w 2"/>
                <a:gd name="T7" fmla="*/ 0 h 2261"/>
                <a:gd name="T8" fmla="*/ 0 w 2"/>
                <a:gd name="T9" fmla="*/ 2261 h 226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" h="2261">
                  <a:moveTo>
                    <a:pt x="2" y="0"/>
                  </a:moveTo>
                  <a:lnTo>
                    <a:pt x="0" y="2261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88" name="Freeform 173"/>
            <p:cNvSpPr>
              <a:spLocks/>
            </p:cNvSpPr>
            <p:nvPr/>
          </p:nvSpPr>
          <p:spPr bwMode="auto">
            <a:xfrm>
              <a:off x="1259" y="1388"/>
              <a:ext cx="1" cy="1617"/>
            </a:xfrm>
            <a:custGeom>
              <a:avLst/>
              <a:gdLst>
                <a:gd name="T0" fmla="*/ 0 w 1"/>
                <a:gd name="T1" fmla="*/ 0 h 2811"/>
                <a:gd name="T2" fmla="*/ 0 w 1"/>
                <a:gd name="T3" fmla="*/ 2811 h 2811"/>
                <a:gd name="T4" fmla="*/ 0 60000 65536"/>
                <a:gd name="T5" fmla="*/ 0 60000 65536"/>
                <a:gd name="T6" fmla="*/ 0 w 1"/>
                <a:gd name="T7" fmla="*/ 0 h 2811"/>
                <a:gd name="T8" fmla="*/ 1 w 1"/>
                <a:gd name="T9" fmla="*/ 2811 h 281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2811">
                  <a:moveTo>
                    <a:pt x="0" y="0"/>
                  </a:moveTo>
                  <a:lnTo>
                    <a:pt x="0" y="2811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89" name="Freeform 174"/>
            <p:cNvSpPr>
              <a:spLocks/>
            </p:cNvSpPr>
            <p:nvPr/>
          </p:nvSpPr>
          <p:spPr bwMode="auto">
            <a:xfrm>
              <a:off x="1643" y="1498"/>
              <a:ext cx="0" cy="1507"/>
            </a:xfrm>
            <a:custGeom>
              <a:avLst/>
              <a:gdLst>
                <a:gd name="T0" fmla="*/ 0 w 1"/>
                <a:gd name="T1" fmla="*/ 0 h 2619"/>
                <a:gd name="T2" fmla="*/ 0 w 1"/>
                <a:gd name="T3" fmla="*/ 2619 h 2619"/>
                <a:gd name="T4" fmla="*/ 0 60000 65536"/>
                <a:gd name="T5" fmla="*/ 0 60000 65536"/>
                <a:gd name="T6" fmla="*/ 0 w 1"/>
                <a:gd name="T7" fmla="*/ 0 h 2619"/>
                <a:gd name="T8" fmla="*/ 0 w 1"/>
                <a:gd name="T9" fmla="*/ 2619 h 261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2619">
                  <a:moveTo>
                    <a:pt x="0" y="0"/>
                  </a:moveTo>
                  <a:lnTo>
                    <a:pt x="0" y="2619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90" name="Freeform 175"/>
            <p:cNvSpPr>
              <a:spLocks/>
            </p:cNvSpPr>
            <p:nvPr/>
          </p:nvSpPr>
          <p:spPr bwMode="auto">
            <a:xfrm>
              <a:off x="2413" y="1704"/>
              <a:ext cx="342" cy="1"/>
            </a:xfrm>
            <a:custGeom>
              <a:avLst/>
              <a:gdLst>
                <a:gd name="T0" fmla="*/ 0 w 853"/>
                <a:gd name="T1" fmla="*/ 3 h 3"/>
                <a:gd name="T2" fmla="*/ 853 w 853"/>
                <a:gd name="T3" fmla="*/ 0 h 3"/>
                <a:gd name="T4" fmla="*/ 0 60000 65536"/>
                <a:gd name="T5" fmla="*/ 0 60000 65536"/>
                <a:gd name="T6" fmla="*/ 0 w 853"/>
                <a:gd name="T7" fmla="*/ 0 h 3"/>
                <a:gd name="T8" fmla="*/ 853 w 853"/>
                <a:gd name="T9" fmla="*/ 3 h 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53" h="3">
                  <a:moveTo>
                    <a:pt x="0" y="3"/>
                  </a:moveTo>
                  <a:lnTo>
                    <a:pt x="853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91" name="Freeform 176"/>
            <p:cNvSpPr>
              <a:spLocks/>
            </p:cNvSpPr>
            <p:nvPr/>
          </p:nvSpPr>
          <p:spPr bwMode="auto">
            <a:xfrm>
              <a:off x="2022" y="1594"/>
              <a:ext cx="733" cy="3"/>
            </a:xfrm>
            <a:custGeom>
              <a:avLst/>
              <a:gdLst>
                <a:gd name="T0" fmla="*/ 0 w 1831"/>
                <a:gd name="T1" fmla="*/ 0 h 3"/>
                <a:gd name="T2" fmla="*/ 1831 w 1831"/>
                <a:gd name="T3" fmla="*/ 3 h 3"/>
                <a:gd name="T4" fmla="*/ 0 60000 65536"/>
                <a:gd name="T5" fmla="*/ 0 60000 65536"/>
                <a:gd name="T6" fmla="*/ 0 w 1831"/>
                <a:gd name="T7" fmla="*/ 0 h 3"/>
                <a:gd name="T8" fmla="*/ 1831 w 1831"/>
                <a:gd name="T9" fmla="*/ 3 h 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31" h="3">
                  <a:moveTo>
                    <a:pt x="0" y="0"/>
                  </a:moveTo>
                  <a:lnTo>
                    <a:pt x="1831" y="3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92" name="Freeform 177"/>
            <p:cNvSpPr>
              <a:spLocks/>
            </p:cNvSpPr>
            <p:nvPr/>
          </p:nvSpPr>
          <p:spPr bwMode="auto">
            <a:xfrm>
              <a:off x="1650" y="1498"/>
              <a:ext cx="1105" cy="2"/>
            </a:xfrm>
            <a:custGeom>
              <a:avLst/>
              <a:gdLst>
                <a:gd name="T0" fmla="*/ 0 w 1105"/>
                <a:gd name="T1" fmla="*/ 2 h 2"/>
                <a:gd name="T2" fmla="*/ 1105 w 1105"/>
                <a:gd name="T3" fmla="*/ 0 h 2"/>
                <a:gd name="T4" fmla="*/ 0 60000 65536"/>
                <a:gd name="T5" fmla="*/ 0 60000 65536"/>
                <a:gd name="T6" fmla="*/ 0 w 1105"/>
                <a:gd name="T7" fmla="*/ 0 h 2"/>
                <a:gd name="T8" fmla="*/ 1105 w 1105"/>
                <a:gd name="T9" fmla="*/ 2 h 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05" h="2">
                  <a:moveTo>
                    <a:pt x="0" y="2"/>
                  </a:moveTo>
                  <a:lnTo>
                    <a:pt x="1105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93" name="Freeform 178"/>
            <p:cNvSpPr>
              <a:spLocks/>
            </p:cNvSpPr>
            <p:nvPr/>
          </p:nvSpPr>
          <p:spPr bwMode="auto">
            <a:xfrm>
              <a:off x="1257" y="1384"/>
              <a:ext cx="1500" cy="5"/>
            </a:xfrm>
            <a:custGeom>
              <a:avLst/>
              <a:gdLst>
                <a:gd name="T0" fmla="*/ 0 w 3752"/>
                <a:gd name="T1" fmla="*/ 0 h 9"/>
                <a:gd name="T2" fmla="*/ 3752 w 3752"/>
                <a:gd name="T3" fmla="*/ 9 h 9"/>
                <a:gd name="T4" fmla="*/ 0 60000 65536"/>
                <a:gd name="T5" fmla="*/ 0 60000 65536"/>
                <a:gd name="T6" fmla="*/ 0 w 3752"/>
                <a:gd name="T7" fmla="*/ 0 h 9"/>
                <a:gd name="T8" fmla="*/ 3752 w 3752"/>
                <a:gd name="T9" fmla="*/ 9 h 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752" h="9">
                  <a:moveTo>
                    <a:pt x="0" y="0"/>
                  </a:moveTo>
                  <a:lnTo>
                    <a:pt x="3752" y="9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94" name="Freeform 179"/>
            <p:cNvSpPr>
              <a:spLocks/>
            </p:cNvSpPr>
            <p:nvPr/>
          </p:nvSpPr>
          <p:spPr bwMode="auto">
            <a:xfrm>
              <a:off x="2418" y="2369"/>
              <a:ext cx="342" cy="640"/>
            </a:xfrm>
            <a:custGeom>
              <a:avLst/>
              <a:gdLst>
                <a:gd name="T0" fmla="*/ 0 w 342"/>
                <a:gd name="T1" fmla="*/ 640 h 640"/>
                <a:gd name="T2" fmla="*/ 228 w 342"/>
                <a:gd name="T3" fmla="*/ 637 h 640"/>
                <a:gd name="T4" fmla="*/ 230 w 342"/>
                <a:gd name="T5" fmla="*/ 0 h 640"/>
                <a:gd name="T6" fmla="*/ 342 w 342"/>
                <a:gd name="T7" fmla="*/ 1 h 6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42"/>
                <a:gd name="T13" fmla="*/ 0 h 640"/>
                <a:gd name="T14" fmla="*/ 342 w 342"/>
                <a:gd name="T15" fmla="*/ 640 h 6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42" h="640">
                  <a:moveTo>
                    <a:pt x="0" y="640"/>
                  </a:moveTo>
                  <a:lnTo>
                    <a:pt x="228" y="637"/>
                  </a:lnTo>
                  <a:lnTo>
                    <a:pt x="230" y="0"/>
                  </a:lnTo>
                  <a:lnTo>
                    <a:pt x="342" y="1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95" name="Freeform 180"/>
            <p:cNvSpPr>
              <a:spLocks/>
            </p:cNvSpPr>
            <p:nvPr/>
          </p:nvSpPr>
          <p:spPr bwMode="auto">
            <a:xfrm>
              <a:off x="2416" y="2244"/>
              <a:ext cx="344" cy="435"/>
            </a:xfrm>
            <a:custGeom>
              <a:avLst/>
              <a:gdLst>
                <a:gd name="T0" fmla="*/ 0 w 344"/>
                <a:gd name="T1" fmla="*/ 435 h 435"/>
                <a:gd name="T2" fmla="*/ 164 w 344"/>
                <a:gd name="T3" fmla="*/ 432 h 435"/>
                <a:gd name="T4" fmla="*/ 167 w 344"/>
                <a:gd name="T5" fmla="*/ 3 h 435"/>
                <a:gd name="T6" fmla="*/ 344 w 344"/>
                <a:gd name="T7" fmla="*/ 0 h 43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44"/>
                <a:gd name="T13" fmla="*/ 0 h 435"/>
                <a:gd name="T14" fmla="*/ 344 w 344"/>
                <a:gd name="T15" fmla="*/ 435 h 43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44" h="435">
                  <a:moveTo>
                    <a:pt x="0" y="435"/>
                  </a:moveTo>
                  <a:lnTo>
                    <a:pt x="164" y="432"/>
                  </a:lnTo>
                  <a:lnTo>
                    <a:pt x="167" y="3"/>
                  </a:lnTo>
                  <a:lnTo>
                    <a:pt x="344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96" name="Freeform 181"/>
            <p:cNvSpPr>
              <a:spLocks/>
            </p:cNvSpPr>
            <p:nvPr/>
          </p:nvSpPr>
          <p:spPr bwMode="auto">
            <a:xfrm>
              <a:off x="2430" y="2110"/>
              <a:ext cx="331" cy="224"/>
            </a:xfrm>
            <a:custGeom>
              <a:avLst/>
              <a:gdLst>
                <a:gd name="T0" fmla="*/ 0 w 331"/>
                <a:gd name="T1" fmla="*/ 224 h 224"/>
                <a:gd name="T2" fmla="*/ 84 w 331"/>
                <a:gd name="T3" fmla="*/ 224 h 224"/>
                <a:gd name="T4" fmla="*/ 87 w 331"/>
                <a:gd name="T5" fmla="*/ 0 h 224"/>
                <a:gd name="T6" fmla="*/ 331 w 331"/>
                <a:gd name="T7" fmla="*/ 0 h 22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1"/>
                <a:gd name="T13" fmla="*/ 0 h 224"/>
                <a:gd name="T14" fmla="*/ 331 w 331"/>
                <a:gd name="T15" fmla="*/ 224 h 22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1" h="224">
                  <a:moveTo>
                    <a:pt x="0" y="224"/>
                  </a:moveTo>
                  <a:lnTo>
                    <a:pt x="84" y="224"/>
                  </a:lnTo>
                  <a:lnTo>
                    <a:pt x="87" y="0"/>
                  </a:lnTo>
                  <a:lnTo>
                    <a:pt x="331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97" name="Freeform 182"/>
            <p:cNvSpPr>
              <a:spLocks/>
            </p:cNvSpPr>
            <p:nvPr/>
          </p:nvSpPr>
          <p:spPr bwMode="auto">
            <a:xfrm>
              <a:off x="2418" y="2009"/>
              <a:ext cx="334" cy="1"/>
            </a:xfrm>
            <a:custGeom>
              <a:avLst/>
              <a:gdLst>
                <a:gd name="T0" fmla="*/ 0 w 533"/>
                <a:gd name="T1" fmla="*/ 0 h 1"/>
                <a:gd name="T2" fmla="*/ 533 w 533"/>
                <a:gd name="T3" fmla="*/ 0 h 1"/>
                <a:gd name="T4" fmla="*/ 0 60000 65536"/>
                <a:gd name="T5" fmla="*/ 0 60000 65536"/>
                <a:gd name="T6" fmla="*/ 0 w 533"/>
                <a:gd name="T7" fmla="*/ 0 h 1"/>
                <a:gd name="T8" fmla="*/ 533 w 533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33" h="1">
                  <a:moveTo>
                    <a:pt x="0" y="0"/>
                  </a:moveTo>
                  <a:lnTo>
                    <a:pt x="533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98" name="Text Box 183"/>
            <p:cNvSpPr txBox="1">
              <a:spLocks noChangeArrowheads="1"/>
            </p:cNvSpPr>
            <p:nvPr/>
          </p:nvSpPr>
          <p:spPr bwMode="auto">
            <a:xfrm>
              <a:off x="2788" y="1303"/>
              <a:ext cx="160" cy="1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lg" len="med"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N1</a:t>
              </a:r>
            </a:p>
          </p:txBody>
        </p:sp>
        <p:sp>
          <p:nvSpPr>
            <p:cNvPr id="16499" name="Text Box 184"/>
            <p:cNvSpPr txBox="1">
              <a:spLocks noChangeArrowheads="1"/>
            </p:cNvSpPr>
            <p:nvPr/>
          </p:nvSpPr>
          <p:spPr bwMode="auto">
            <a:xfrm>
              <a:off x="2788" y="1410"/>
              <a:ext cx="160" cy="1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lg" len="med"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N2</a:t>
              </a:r>
            </a:p>
          </p:txBody>
        </p:sp>
        <p:sp>
          <p:nvSpPr>
            <p:cNvPr id="16500" name="Text Box 185"/>
            <p:cNvSpPr txBox="1">
              <a:spLocks noChangeArrowheads="1"/>
            </p:cNvSpPr>
            <p:nvPr/>
          </p:nvSpPr>
          <p:spPr bwMode="auto">
            <a:xfrm>
              <a:off x="2788" y="1522"/>
              <a:ext cx="160" cy="1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lg" len="med"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N3</a:t>
              </a:r>
            </a:p>
          </p:txBody>
        </p:sp>
        <p:sp>
          <p:nvSpPr>
            <p:cNvPr id="16501" name="Text Box 186"/>
            <p:cNvSpPr txBox="1">
              <a:spLocks noChangeArrowheads="1"/>
            </p:cNvSpPr>
            <p:nvPr/>
          </p:nvSpPr>
          <p:spPr bwMode="auto">
            <a:xfrm>
              <a:off x="2788" y="1629"/>
              <a:ext cx="160" cy="1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lg" len="med"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N4</a:t>
              </a:r>
            </a:p>
          </p:txBody>
        </p:sp>
        <p:sp>
          <p:nvSpPr>
            <p:cNvPr id="16502" name="Text Box 187"/>
            <p:cNvSpPr txBox="1">
              <a:spLocks noChangeArrowheads="1"/>
            </p:cNvSpPr>
            <p:nvPr/>
          </p:nvSpPr>
          <p:spPr bwMode="auto">
            <a:xfrm>
              <a:off x="2779" y="1909"/>
              <a:ext cx="201" cy="1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lg" len="med"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M1</a:t>
              </a:r>
            </a:p>
          </p:txBody>
        </p:sp>
        <p:sp>
          <p:nvSpPr>
            <p:cNvPr id="16503" name="Text Box 188"/>
            <p:cNvSpPr txBox="1">
              <a:spLocks noChangeArrowheads="1"/>
            </p:cNvSpPr>
            <p:nvPr/>
          </p:nvSpPr>
          <p:spPr bwMode="auto">
            <a:xfrm>
              <a:off x="2779" y="2028"/>
              <a:ext cx="216" cy="1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lg" len="med"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M2</a:t>
              </a:r>
            </a:p>
          </p:txBody>
        </p:sp>
        <p:sp>
          <p:nvSpPr>
            <p:cNvPr id="16504" name="Text Box 189"/>
            <p:cNvSpPr txBox="1">
              <a:spLocks noChangeArrowheads="1"/>
            </p:cNvSpPr>
            <p:nvPr/>
          </p:nvSpPr>
          <p:spPr bwMode="auto">
            <a:xfrm>
              <a:off x="2779" y="2165"/>
              <a:ext cx="206" cy="1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lg" len="med"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M3</a:t>
              </a:r>
            </a:p>
          </p:txBody>
        </p:sp>
        <p:sp>
          <p:nvSpPr>
            <p:cNvPr id="16505" name="Text Box 190"/>
            <p:cNvSpPr txBox="1">
              <a:spLocks noChangeArrowheads="1"/>
            </p:cNvSpPr>
            <p:nvPr/>
          </p:nvSpPr>
          <p:spPr bwMode="auto">
            <a:xfrm>
              <a:off x="2779" y="2290"/>
              <a:ext cx="201" cy="1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lg" len="med"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M4</a:t>
              </a:r>
            </a:p>
          </p:txBody>
        </p:sp>
        <p:sp>
          <p:nvSpPr>
            <p:cNvPr id="16506" name="Freeform 191"/>
            <p:cNvSpPr>
              <a:spLocks/>
            </p:cNvSpPr>
            <p:nvPr/>
          </p:nvSpPr>
          <p:spPr bwMode="auto">
            <a:xfrm>
              <a:off x="3793" y="1632"/>
              <a:ext cx="239" cy="3"/>
            </a:xfrm>
            <a:custGeom>
              <a:avLst/>
              <a:gdLst>
                <a:gd name="T0" fmla="*/ 0 w 239"/>
                <a:gd name="T1" fmla="*/ 3 h 3"/>
                <a:gd name="T2" fmla="*/ 239 w 239"/>
                <a:gd name="T3" fmla="*/ 0 h 3"/>
                <a:gd name="T4" fmla="*/ 0 60000 65536"/>
                <a:gd name="T5" fmla="*/ 0 60000 65536"/>
                <a:gd name="T6" fmla="*/ 0 w 239"/>
                <a:gd name="T7" fmla="*/ 0 h 3"/>
                <a:gd name="T8" fmla="*/ 239 w 239"/>
                <a:gd name="T9" fmla="*/ 3 h 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39" h="3">
                  <a:moveTo>
                    <a:pt x="0" y="3"/>
                  </a:moveTo>
                  <a:lnTo>
                    <a:pt x="239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07" name="Line 192"/>
            <p:cNvSpPr>
              <a:spLocks noChangeShapeType="1"/>
            </p:cNvSpPr>
            <p:nvPr/>
          </p:nvSpPr>
          <p:spPr bwMode="auto">
            <a:xfrm>
              <a:off x="3738" y="2569"/>
              <a:ext cx="35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08" name="Text Box 193"/>
            <p:cNvSpPr txBox="1">
              <a:spLocks noChangeArrowheads="1"/>
            </p:cNvSpPr>
            <p:nvPr/>
          </p:nvSpPr>
          <p:spPr bwMode="auto">
            <a:xfrm>
              <a:off x="3085" y="2479"/>
              <a:ext cx="647" cy="22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200"/>
                <a:t>key_code</a:t>
              </a:r>
            </a:p>
            <a:p>
              <a:pPr>
                <a:spcBef>
                  <a:spcPct val="0"/>
                </a:spcBef>
              </a:pPr>
              <a:endParaRPr lang="en-US" sz="1200"/>
            </a:p>
          </p:txBody>
        </p:sp>
        <p:sp>
          <p:nvSpPr>
            <p:cNvPr id="16509" name="Text Box 194"/>
            <p:cNvSpPr txBox="1">
              <a:spLocks noChangeArrowheads="1"/>
            </p:cNvSpPr>
            <p:nvPr/>
          </p:nvSpPr>
          <p:spPr bwMode="auto">
            <a:xfrm>
              <a:off x="2827" y="3034"/>
              <a:ext cx="891" cy="1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200"/>
                <a:t>keypad controller</a:t>
              </a:r>
            </a:p>
          </p:txBody>
        </p:sp>
        <p:sp>
          <p:nvSpPr>
            <p:cNvPr id="16510" name="Text Box 195"/>
            <p:cNvSpPr txBox="1">
              <a:spLocks noChangeArrowheads="1"/>
            </p:cNvSpPr>
            <p:nvPr/>
          </p:nvSpPr>
          <p:spPr bwMode="auto">
            <a:xfrm>
              <a:off x="4104" y="1548"/>
              <a:ext cx="525" cy="1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k_pressed</a:t>
              </a:r>
            </a:p>
          </p:txBody>
        </p:sp>
        <p:sp>
          <p:nvSpPr>
            <p:cNvPr id="16511" name="Text Box 196"/>
            <p:cNvSpPr txBox="1">
              <a:spLocks noChangeArrowheads="1"/>
            </p:cNvSpPr>
            <p:nvPr/>
          </p:nvSpPr>
          <p:spPr bwMode="auto">
            <a:xfrm>
              <a:off x="4129" y="2479"/>
              <a:ext cx="525" cy="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key_code</a:t>
              </a:r>
            </a:p>
          </p:txBody>
        </p:sp>
        <p:sp>
          <p:nvSpPr>
            <p:cNvPr id="16512" name="Line 197"/>
            <p:cNvSpPr>
              <a:spLocks noChangeShapeType="1"/>
            </p:cNvSpPr>
            <p:nvPr/>
          </p:nvSpPr>
          <p:spPr bwMode="auto">
            <a:xfrm flipH="1">
              <a:off x="3868" y="2484"/>
              <a:ext cx="47" cy="16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513" name="Text Box 198"/>
            <p:cNvSpPr txBox="1">
              <a:spLocks noChangeArrowheads="1"/>
            </p:cNvSpPr>
            <p:nvPr/>
          </p:nvSpPr>
          <p:spPr bwMode="auto">
            <a:xfrm>
              <a:off x="3887" y="2315"/>
              <a:ext cx="90" cy="1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4</a:t>
              </a:r>
            </a:p>
          </p:txBody>
        </p:sp>
        <p:sp>
          <p:nvSpPr>
            <p:cNvPr id="16514" name="Text Box 199"/>
            <p:cNvSpPr txBox="1">
              <a:spLocks noChangeArrowheads="1"/>
            </p:cNvSpPr>
            <p:nvPr/>
          </p:nvSpPr>
          <p:spPr bwMode="auto">
            <a:xfrm>
              <a:off x="2220" y="3498"/>
              <a:ext cx="1128" cy="200"/>
            </a:xfrm>
            <a:prstGeom prst="rect">
              <a:avLst/>
            </a:prstGeom>
            <a:noFill/>
            <a:ln w="9525" cap="sq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/>
              <a:r>
                <a:rPr lang="en-US" sz="1400"/>
                <a:t>N=4, M=4</a:t>
              </a:r>
              <a:endParaRPr lang="en-US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9FA85098-929A-467D-92E0-FF0B1D31430D}" type="slidenum">
              <a:rPr lang="en-US"/>
              <a:pPr/>
              <a:t>13</a:t>
            </a:fld>
            <a:endParaRPr lang="en-US"/>
          </a:p>
        </p:txBody>
      </p:sp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Stepper motor controller</a:t>
            </a:r>
          </a:p>
        </p:txBody>
      </p:sp>
      <p:grpSp>
        <p:nvGrpSpPr>
          <p:cNvPr id="5125" name="Group 111"/>
          <p:cNvGrpSpPr>
            <a:grpSpLocks/>
          </p:cNvGrpSpPr>
          <p:nvPr/>
        </p:nvGrpSpPr>
        <p:grpSpPr bwMode="auto">
          <a:xfrm>
            <a:off x="5959475" y="4959350"/>
            <a:ext cx="2224088" cy="949325"/>
            <a:chOff x="376" y="2020"/>
            <a:chExt cx="1401" cy="598"/>
          </a:xfrm>
        </p:grpSpPr>
        <p:sp>
          <p:nvSpPr>
            <p:cNvPr id="5177" name="Oval 112"/>
            <p:cNvSpPr>
              <a:spLocks noChangeArrowheads="1"/>
            </p:cNvSpPr>
            <p:nvPr/>
          </p:nvSpPr>
          <p:spPr bwMode="auto">
            <a:xfrm>
              <a:off x="376" y="2020"/>
              <a:ext cx="534" cy="59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78" name="Freeform 113"/>
            <p:cNvSpPr>
              <a:spLocks/>
            </p:cNvSpPr>
            <p:nvPr/>
          </p:nvSpPr>
          <p:spPr bwMode="auto">
            <a:xfrm>
              <a:off x="710" y="2318"/>
              <a:ext cx="69" cy="151"/>
            </a:xfrm>
            <a:custGeom>
              <a:avLst/>
              <a:gdLst>
                <a:gd name="T0" fmla="*/ 150 w 150"/>
                <a:gd name="T1" fmla="*/ 1 h 289"/>
                <a:gd name="T2" fmla="*/ 105 w 150"/>
                <a:gd name="T3" fmla="*/ 2 h 289"/>
                <a:gd name="T4" fmla="*/ 60 w 150"/>
                <a:gd name="T5" fmla="*/ 1 h 289"/>
                <a:gd name="T6" fmla="*/ 39 w 150"/>
                <a:gd name="T7" fmla="*/ 7 h 289"/>
                <a:gd name="T8" fmla="*/ 18 w 150"/>
                <a:gd name="T9" fmla="*/ 25 h 289"/>
                <a:gd name="T10" fmla="*/ 3 w 150"/>
                <a:gd name="T11" fmla="*/ 68 h 289"/>
                <a:gd name="T12" fmla="*/ 36 w 150"/>
                <a:gd name="T13" fmla="*/ 122 h 289"/>
                <a:gd name="T14" fmla="*/ 78 w 150"/>
                <a:gd name="T15" fmla="*/ 125 h 289"/>
                <a:gd name="T16" fmla="*/ 126 w 150"/>
                <a:gd name="T17" fmla="*/ 98 h 289"/>
                <a:gd name="T18" fmla="*/ 123 w 150"/>
                <a:gd name="T19" fmla="*/ 74 h 289"/>
                <a:gd name="T20" fmla="*/ 99 w 150"/>
                <a:gd name="T21" fmla="*/ 68 h 289"/>
                <a:gd name="T22" fmla="*/ 9 w 150"/>
                <a:gd name="T23" fmla="*/ 101 h 289"/>
                <a:gd name="T24" fmla="*/ 3 w 150"/>
                <a:gd name="T25" fmla="*/ 137 h 289"/>
                <a:gd name="T26" fmla="*/ 9 w 150"/>
                <a:gd name="T27" fmla="*/ 197 h 289"/>
                <a:gd name="T28" fmla="*/ 78 w 150"/>
                <a:gd name="T29" fmla="*/ 215 h 289"/>
                <a:gd name="T30" fmla="*/ 135 w 150"/>
                <a:gd name="T31" fmla="*/ 185 h 289"/>
                <a:gd name="T32" fmla="*/ 84 w 150"/>
                <a:gd name="T33" fmla="*/ 149 h 289"/>
                <a:gd name="T34" fmla="*/ 12 w 150"/>
                <a:gd name="T35" fmla="*/ 182 h 289"/>
                <a:gd name="T36" fmla="*/ 18 w 150"/>
                <a:gd name="T37" fmla="*/ 244 h 289"/>
                <a:gd name="T38" fmla="*/ 39 w 150"/>
                <a:gd name="T39" fmla="*/ 265 h 289"/>
                <a:gd name="T40" fmla="*/ 75 w 150"/>
                <a:gd name="T41" fmla="*/ 283 h 289"/>
                <a:gd name="T42" fmla="*/ 141 w 150"/>
                <a:gd name="T43" fmla="*/ 289 h 289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50"/>
                <a:gd name="T67" fmla="*/ 0 h 289"/>
                <a:gd name="T68" fmla="*/ 150 w 150"/>
                <a:gd name="T69" fmla="*/ 289 h 289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50" h="289">
                  <a:moveTo>
                    <a:pt x="150" y="1"/>
                  </a:moveTo>
                  <a:cubicBezTo>
                    <a:pt x="147" y="1"/>
                    <a:pt x="120" y="2"/>
                    <a:pt x="105" y="2"/>
                  </a:cubicBezTo>
                  <a:cubicBezTo>
                    <a:pt x="90" y="2"/>
                    <a:pt x="71" y="0"/>
                    <a:pt x="60" y="1"/>
                  </a:cubicBezTo>
                  <a:cubicBezTo>
                    <a:pt x="49" y="2"/>
                    <a:pt x="46" y="3"/>
                    <a:pt x="39" y="7"/>
                  </a:cubicBezTo>
                  <a:cubicBezTo>
                    <a:pt x="33" y="8"/>
                    <a:pt x="18" y="25"/>
                    <a:pt x="18" y="25"/>
                  </a:cubicBezTo>
                  <a:cubicBezTo>
                    <a:pt x="4" y="46"/>
                    <a:pt x="3" y="50"/>
                    <a:pt x="3" y="68"/>
                  </a:cubicBezTo>
                  <a:cubicBezTo>
                    <a:pt x="0" y="89"/>
                    <a:pt x="23" y="118"/>
                    <a:pt x="36" y="122"/>
                  </a:cubicBezTo>
                  <a:cubicBezTo>
                    <a:pt x="42" y="124"/>
                    <a:pt x="78" y="125"/>
                    <a:pt x="78" y="125"/>
                  </a:cubicBezTo>
                  <a:cubicBezTo>
                    <a:pt x="94" y="124"/>
                    <a:pt x="125" y="114"/>
                    <a:pt x="126" y="98"/>
                  </a:cubicBezTo>
                  <a:cubicBezTo>
                    <a:pt x="127" y="90"/>
                    <a:pt x="128" y="80"/>
                    <a:pt x="123" y="74"/>
                  </a:cubicBezTo>
                  <a:cubicBezTo>
                    <a:pt x="117" y="68"/>
                    <a:pt x="99" y="68"/>
                    <a:pt x="99" y="68"/>
                  </a:cubicBezTo>
                  <a:cubicBezTo>
                    <a:pt x="62" y="71"/>
                    <a:pt x="34" y="76"/>
                    <a:pt x="9" y="101"/>
                  </a:cubicBezTo>
                  <a:cubicBezTo>
                    <a:pt x="7" y="107"/>
                    <a:pt x="3" y="130"/>
                    <a:pt x="3" y="137"/>
                  </a:cubicBezTo>
                  <a:cubicBezTo>
                    <a:pt x="2" y="155"/>
                    <a:pt x="6" y="173"/>
                    <a:pt x="9" y="197"/>
                  </a:cubicBezTo>
                  <a:cubicBezTo>
                    <a:pt x="29" y="217"/>
                    <a:pt x="52" y="211"/>
                    <a:pt x="78" y="215"/>
                  </a:cubicBezTo>
                  <a:cubicBezTo>
                    <a:pt x="102" y="209"/>
                    <a:pt x="126" y="218"/>
                    <a:pt x="135" y="185"/>
                  </a:cubicBezTo>
                  <a:cubicBezTo>
                    <a:pt x="131" y="160"/>
                    <a:pt x="106" y="155"/>
                    <a:pt x="84" y="149"/>
                  </a:cubicBezTo>
                  <a:cubicBezTo>
                    <a:pt x="28" y="153"/>
                    <a:pt x="44" y="150"/>
                    <a:pt x="12" y="182"/>
                  </a:cubicBezTo>
                  <a:cubicBezTo>
                    <a:pt x="5" y="203"/>
                    <a:pt x="1" y="227"/>
                    <a:pt x="18" y="244"/>
                  </a:cubicBezTo>
                  <a:cubicBezTo>
                    <a:pt x="26" y="252"/>
                    <a:pt x="29" y="262"/>
                    <a:pt x="39" y="265"/>
                  </a:cubicBezTo>
                  <a:cubicBezTo>
                    <a:pt x="45" y="267"/>
                    <a:pt x="75" y="283"/>
                    <a:pt x="75" y="283"/>
                  </a:cubicBezTo>
                  <a:cubicBezTo>
                    <a:pt x="77" y="283"/>
                    <a:pt x="128" y="285"/>
                    <a:pt x="141" y="289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79" name="Line 114"/>
            <p:cNvSpPr>
              <a:spLocks noChangeShapeType="1"/>
            </p:cNvSpPr>
            <p:nvPr/>
          </p:nvSpPr>
          <p:spPr bwMode="auto">
            <a:xfrm>
              <a:off x="776" y="2095"/>
              <a:ext cx="33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80" name="Freeform 115"/>
            <p:cNvSpPr>
              <a:spLocks/>
            </p:cNvSpPr>
            <p:nvPr/>
          </p:nvSpPr>
          <p:spPr bwMode="auto">
            <a:xfrm>
              <a:off x="776" y="2244"/>
              <a:ext cx="334" cy="1"/>
            </a:xfrm>
            <a:custGeom>
              <a:avLst/>
              <a:gdLst>
                <a:gd name="T0" fmla="*/ 0 w 720"/>
                <a:gd name="T1" fmla="*/ 0 h 1"/>
                <a:gd name="T2" fmla="*/ 327 w 720"/>
                <a:gd name="T3" fmla="*/ 0 h 1"/>
                <a:gd name="T4" fmla="*/ 720 w 720"/>
                <a:gd name="T5" fmla="*/ 1 h 1"/>
                <a:gd name="T6" fmla="*/ 0 60000 65536"/>
                <a:gd name="T7" fmla="*/ 0 60000 65536"/>
                <a:gd name="T8" fmla="*/ 0 60000 65536"/>
                <a:gd name="T9" fmla="*/ 0 w 720"/>
                <a:gd name="T10" fmla="*/ 0 h 1"/>
                <a:gd name="T11" fmla="*/ 720 w 720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20" h="1">
                  <a:moveTo>
                    <a:pt x="0" y="0"/>
                  </a:moveTo>
                  <a:lnTo>
                    <a:pt x="327" y="0"/>
                  </a:lnTo>
                  <a:lnTo>
                    <a:pt x="720" y="1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81" name="Line 116"/>
            <p:cNvSpPr>
              <a:spLocks noChangeShapeType="1"/>
            </p:cNvSpPr>
            <p:nvPr/>
          </p:nvSpPr>
          <p:spPr bwMode="auto">
            <a:xfrm>
              <a:off x="776" y="2319"/>
              <a:ext cx="33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82" name="Line 117"/>
            <p:cNvSpPr>
              <a:spLocks noChangeShapeType="1"/>
            </p:cNvSpPr>
            <p:nvPr/>
          </p:nvSpPr>
          <p:spPr bwMode="auto">
            <a:xfrm>
              <a:off x="776" y="2469"/>
              <a:ext cx="33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83" name="Freeform 118"/>
            <p:cNvSpPr>
              <a:spLocks/>
            </p:cNvSpPr>
            <p:nvPr/>
          </p:nvSpPr>
          <p:spPr bwMode="auto">
            <a:xfrm>
              <a:off x="709" y="2095"/>
              <a:ext cx="70" cy="150"/>
            </a:xfrm>
            <a:custGeom>
              <a:avLst/>
              <a:gdLst>
                <a:gd name="T0" fmla="*/ 152 w 152"/>
                <a:gd name="T1" fmla="*/ 1 h 289"/>
                <a:gd name="T2" fmla="*/ 104 w 152"/>
                <a:gd name="T3" fmla="*/ 0 h 289"/>
                <a:gd name="T4" fmla="*/ 62 w 152"/>
                <a:gd name="T5" fmla="*/ 1 h 289"/>
                <a:gd name="T6" fmla="*/ 41 w 152"/>
                <a:gd name="T7" fmla="*/ 7 h 289"/>
                <a:gd name="T8" fmla="*/ 20 w 152"/>
                <a:gd name="T9" fmla="*/ 25 h 289"/>
                <a:gd name="T10" fmla="*/ 5 w 152"/>
                <a:gd name="T11" fmla="*/ 68 h 289"/>
                <a:gd name="T12" fmla="*/ 38 w 152"/>
                <a:gd name="T13" fmla="*/ 122 h 289"/>
                <a:gd name="T14" fmla="*/ 80 w 152"/>
                <a:gd name="T15" fmla="*/ 125 h 289"/>
                <a:gd name="T16" fmla="*/ 128 w 152"/>
                <a:gd name="T17" fmla="*/ 98 h 289"/>
                <a:gd name="T18" fmla="*/ 125 w 152"/>
                <a:gd name="T19" fmla="*/ 74 h 289"/>
                <a:gd name="T20" fmla="*/ 101 w 152"/>
                <a:gd name="T21" fmla="*/ 68 h 289"/>
                <a:gd name="T22" fmla="*/ 11 w 152"/>
                <a:gd name="T23" fmla="*/ 101 h 289"/>
                <a:gd name="T24" fmla="*/ 5 w 152"/>
                <a:gd name="T25" fmla="*/ 137 h 289"/>
                <a:gd name="T26" fmla="*/ 11 w 152"/>
                <a:gd name="T27" fmla="*/ 197 h 289"/>
                <a:gd name="T28" fmla="*/ 80 w 152"/>
                <a:gd name="T29" fmla="*/ 215 h 289"/>
                <a:gd name="T30" fmla="*/ 137 w 152"/>
                <a:gd name="T31" fmla="*/ 185 h 289"/>
                <a:gd name="T32" fmla="*/ 86 w 152"/>
                <a:gd name="T33" fmla="*/ 149 h 289"/>
                <a:gd name="T34" fmla="*/ 14 w 152"/>
                <a:gd name="T35" fmla="*/ 182 h 289"/>
                <a:gd name="T36" fmla="*/ 17 w 152"/>
                <a:gd name="T37" fmla="*/ 252 h 289"/>
                <a:gd name="T38" fmla="*/ 38 w 152"/>
                <a:gd name="T39" fmla="*/ 273 h 289"/>
                <a:gd name="T40" fmla="*/ 68 w 152"/>
                <a:gd name="T41" fmla="*/ 288 h 289"/>
                <a:gd name="T42" fmla="*/ 143 w 152"/>
                <a:gd name="T43" fmla="*/ 289 h 289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152"/>
                <a:gd name="T67" fmla="*/ 0 h 289"/>
                <a:gd name="T68" fmla="*/ 152 w 152"/>
                <a:gd name="T69" fmla="*/ 289 h 289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152" h="289">
                  <a:moveTo>
                    <a:pt x="152" y="1"/>
                  </a:moveTo>
                  <a:cubicBezTo>
                    <a:pt x="149" y="1"/>
                    <a:pt x="119" y="0"/>
                    <a:pt x="104" y="0"/>
                  </a:cubicBezTo>
                  <a:cubicBezTo>
                    <a:pt x="89" y="0"/>
                    <a:pt x="72" y="0"/>
                    <a:pt x="62" y="1"/>
                  </a:cubicBezTo>
                  <a:cubicBezTo>
                    <a:pt x="52" y="2"/>
                    <a:pt x="48" y="3"/>
                    <a:pt x="41" y="7"/>
                  </a:cubicBezTo>
                  <a:cubicBezTo>
                    <a:pt x="35" y="8"/>
                    <a:pt x="20" y="25"/>
                    <a:pt x="20" y="25"/>
                  </a:cubicBezTo>
                  <a:cubicBezTo>
                    <a:pt x="6" y="46"/>
                    <a:pt x="5" y="50"/>
                    <a:pt x="5" y="68"/>
                  </a:cubicBezTo>
                  <a:cubicBezTo>
                    <a:pt x="2" y="89"/>
                    <a:pt x="25" y="118"/>
                    <a:pt x="38" y="122"/>
                  </a:cubicBezTo>
                  <a:cubicBezTo>
                    <a:pt x="44" y="124"/>
                    <a:pt x="80" y="125"/>
                    <a:pt x="80" y="125"/>
                  </a:cubicBezTo>
                  <a:cubicBezTo>
                    <a:pt x="96" y="124"/>
                    <a:pt x="127" y="114"/>
                    <a:pt x="128" y="98"/>
                  </a:cubicBezTo>
                  <a:cubicBezTo>
                    <a:pt x="129" y="90"/>
                    <a:pt x="130" y="80"/>
                    <a:pt x="125" y="74"/>
                  </a:cubicBezTo>
                  <a:cubicBezTo>
                    <a:pt x="119" y="68"/>
                    <a:pt x="101" y="68"/>
                    <a:pt x="101" y="68"/>
                  </a:cubicBezTo>
                  <a:cubicBezTo>
                    <a:pt x="64" y="71"/>
                    <a:pt x="36" y="76"/>
                    <a:pt x="11" y="101"/>
                  </a:cubicBezTo>
                  <a:cubicBezTo>
                    <a:pt x="9" y="107"/>
                    <a:pt x="5" y="130"/>
                    <a:pt x="5" y="137"/>
                  </a:cubicBezTo>
                  <a:cubicBezTo>
                    <a:pt x="4" y="155"/>
                    <a:pt x="8" y="173"/>
                    <a:pt x="11" y="197"/>
                  </a:cubicBezTo>
                  <a:cubicBezTo>
                    <a:pt x="31" y="217"/>
                    <a:pt x="54" y="211"/>
                    <a:pt x="80" y="215"/>
                  </a:cubicBezTo>
                  <a:cubicBezTo>
                    <a:pt x="104" y="209"/>
                    <a:pt x="128" y="218"/>
                    <a:pt x="137" y="185"/>
                  </a:cubicBezTo>
                  <a:cubicBezTo>
                    <a:pt x="133" y="160"/>
                    <a:pt x="108" y="155"/>
                    <a:pt x="86" y="149"/>
                  </a:cubicBezTo>
                  <a:cubicBezTo>
                    <a:pt x="30" y="153"/>
                    <a:pt x="46" y="150"/>
                    <a:pt x="14" y="182"/>
                  </a:cubicBezTo>
                  <a:cubicBezTo>
                    <a:pt x="7" y="203"/>
                    <a:pt x="0" y="235"/>
                    <a:pt x="17" y="252"/>
                  </a:cubicBezTo>
                  <a:cubicBezTo>
                    <a:pt x="25" y="260"/>
                    <a:pt x="28" y="270"/>
                    <a:pt x="38" y="273"/>
                  </a:cubicBezTo>
                  <a:cubicBezTo>
                    <a:pt x="44" y="275"/>
                    <a:pt x="68" y="288"/>
                    <a:pt x="68" y="288"/>
                  </a:cubicBezTo>
                  <a:cubicBezTo>
                    <a:pt x="70" y="288"/>
                    <a:pt x="130" y="285"/>
                    <a:pt x="143" y="289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84" name="Text Box 119"/>
            <p:cNvSpPr txBox="1">
              <a:spLocks noChangeArrowheads="1"/>
            </p:cNvSpPr>
            <p:nvPr/>
          </p:nvSpPr>
          <p:spPr bwMode="auto">
            <a:xfrm>
              <a:off x="1110" y="2044"/>
              <a:ext cx="600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Red          A</a:t>
              </a:r>
            </a:p>
          </p:txBody>
        </p:sp>
        <p:sp>
          <p:nvSpPr>
            <p:cNvPr id="5185" name="Text Box 120"/>
            <p:cNvSpPr txBox="1">
              <a:spLocks noChangeArrowheads="1"/>
            </p:cNvSpPr>
            <p:nvPr/>
          </p:nvSpPr>
          <p:spPr bwMode="auto">
            <a:xfrm>
              <a:off x="1110" y="2170"/>
              <a:ext cx="667" cy="1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White       A’</a:t>
              </a:r>
            </a:p>
          </p:txBody>
        </p:sp>
        <p:sp>
          <p:nvSpPr>
            <p:cNvPr id="5186" name="Text Box 121"/>
            <p:cNvSpPr txBox="1">
              <a:spLocks noChangeArrowheads="1"/>
            </p:cNvSpPr>
            <p:nvPr/>
          </p:nvSpPr>
          <p:spPr bwMode="auto">
            <a:xfrm>
              <a:off x="1110" y="2280"/>
              <a:ext cx="667" cy="1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Yellow     B</a:t>
              </a:r>
            </a:p>
          </p:txBody>
        </p:sp>
        <p:sp>
          <p:nvSpPr>
            <p:cNvPr id="5187" name="Text Box 122"/>
            <p:cNvSpPr txBox="1">
              <a:spLocks noChangeArrowheads="1"/>
            </p:cNvSpPr>
            <p:nvPr/>
          </p:nvSpPr>
          <p:spPr bwMode="auto">
            <a:xfrm>
              <a:off x="1110" y="2424"/>
              <a:ext cx="667" cy="1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Black       B’</a:t>
              </a:r>
            </a:p>
          </p:txBody>
        </p:sp>
      </p:grpSp>
      <p:grpSp>
        <p:nvGrpSpPr>
          <p:cNvPr id="5126" name="Group 175"/>
          <p:cNvGrpSpPr>
            <a:grpSpLocks/>
          </p:cNvGrpSpPr>
          <p:nvPr/>
        </p:nvGrpSpPr>
        <p:grpSpPr bwMode="auto">
          <a:xfrm>
            <a:off x="5845175" y="3170238"/>
            <a:ext cx="2824163" cy="1554162"/>
            <a:chOff x="274" y="2045"/>
            <a:chExt cx="1779" cy="979"/>
          </a:xfrm>
        </p:grpSpPr>
        <p:grpSp>
          <p:nvGrpSpPr>
            <p:cNvPr id="5128" name="Group 174"/>
            <p:cNvGrpSpPr>
              <a:grpSpLocks/>
            </p:cNvGrpSpPr>
            <p:nvPr/>
          </p:nvGrpSpPr>
          <p:grpSpPr bwMode="auto">
            <a:xfrm>
              <a:off x="645" y="2045"/>
              <a:ext cx="815" cy="979"/>
              <a:chOff x="645" y="2045"/>
              <a:chExt cx="815" cy="979"/>
            </a:xfrm>
          </p:grpSpPr>
          <p:grpSp>
            <p:nvGrpSpPr>
              <p:cNvPr id="5143" name="Group 125"/>
              <p:cNvGrpSpPr>
                <a:grpSpLocks/>
              </p:cNvGrpSpPr>
              <p:nvPr/>
            </p:nvGrpSpPr>
            <p:grpSpPr bwMode="auto">
              <a:xfrm>
                <a:off x="645" y="2045"/>
                <a:ext cx="815" cy="979"/>
                <a:chOff x="2160" y="6912"/>
                <a:chExt cx="1584" cy="2448"/>
              </a:xfrm>
            </p:grpSpPr>
            <p:sp>
              <p:nvSpPr>
                <p:cNvPr id="5160" name="Text Box 126"/>
                <p:cNvSpPr txBox="1">
                  <a:spLocks noChangeArrowheads="1"/>
                </p:cNvSpPr>
                <p:nvPr/>
              </p:nvSpPr>
              <p:spPr bwMode="auto">
                <a:xfrm>
                  <a:off x="2448" y="6912"/>
                  <a:ext cx="1008" cy="2448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pPr>
                    <a:spcBef>
                      <a:spcPct val="0"/>
                    </a:spcBef>
                  </a:pPr>
                  <a:endParaRPr lang="en-US" sz="1000"/>
                </a:p>
                <a:p>
                  <a:pPr algn="ctr">
                    <a:spcBef>
                      <a:spcPct val="0"/>
                    </a:spcBef>
                  </a:pPr>
                  <a:r>
                    <a:rPr lang="en-US" sz="1000"/>
                    <a:t>MC3479P</a:t>
                  </a:r>
                </a:p>
              </p:txBody>
            </p:sp>
            <p:sp>
              <p:nvSpPr>
                <p:cNvPr id="5161" name="Rectangle 127"/>
                <p:cNvSpPr>
                  <a:spLocks noChangeArrowheads="1"/>
                </p:cNvSpPr>
                <p:nvPr/>
              </p:nvSpPr>
              <p:spPr bwMode="auto">
                <a:xfrm>
                  <a:off x="2160" y="9072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62" name="Rectangle 128"/>
                <p:cNvSpPr>
                  <a:spLocks noChangeArrowheads="1"/>
                </p:cNvSpPr>
                <p:nvPr/>
              </p:nvSpPr>
              <p:spPr bwMode="auto">
                <a:xfrm>
                  <a:off x="2160" y="8784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63" name="Rectangle 129"/>
                <p:cNvSpPr>
                  <a:spLocks noChangeArrowheads="1"/>
                </p:cNvSpPr>
                <p:nvPr/>
              </p:nvSpPr>
              <p:spPr bwMode="auto">
                <a:xfrm>
                  <a:off x="2160" y="8496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64" name="Rectangle 130"/>
                <p:cNvSpPr>
                  <a:spLocks noChangeArrowheads="1"/>
                </p:cNvSpPr>
                <p:nvPr/>
              </p:nvSpPr>
              <p:spPr bwMode="auto">
                <a:xfrm>
                  <a:off x="2160" y="8208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65" name="Rectangle 131"/>
                <p:cNvSpPr>
                  <a:spLocks noChangeArrowheads="1"/>
                </p:cNvSpPr>
                <p:nvPr/>
              </p:nvSpPr>
              <p:spPr bwMode="auto">
                <a:xfrm>
                  <a:off x="2160" y="792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66" name="Rectangle 132"/>
                <p:cNvSpPr>
                  <a:spLocks noChangeArrowheads="1"/>
                </p:cNvSpPr>
                <p:nvPr/>
              </p:nvSpPr>
              <p:spPr bwMode="auto">
                <a:xfrm>
                  <a:off x="2160" y="7632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67" name="Rectangle 133"/>
                <p:cNvSpPr>
                  <a:spLocks noChangeArrowheads="1"/>
                </p:cNvSpPr>
                <p:nvPr/>
              </p:nvSpPr>
              <p:spPr bwMode="auto">
                <a:xfrm>
                  <a:off x="2160" y="7344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68" name="Rectangle 134"/>
                <p:cNvSpPr>
                  <a:spLocks noChangeArrowheads="1"/>
                </p:cNvSpPr>
                <p:nvPr/>
              </p:nvSpPr>
              <p:spPr bwMode="auto">
                <a:xfrm>
                  <a:off x="2160" y="7056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69" name="Rectangle 135"/>
                <p:cNvSpPr>
                  <a:spLocks noChangeArrowheads="1"/>
                </p:cNvSpPr>
                <p:nvPr/>
              </p:nvSpPr>
              <p:spPr bwMode="auto">
                <a:xfrm>
                  <a:off x="3456" y="9072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70" name="Rectangle 136"/>
                <p:cNvSpPr>
                  <a:spLocks noChangeArrowheads="1"/>
                </p:cNvSpPr>
                <p:nvPr/>
              </p:nvSpPr>
              <p:spPr bwMode="auto">
                <a:xfrm>
                  <a:off x="3456" y="8784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71" name="Rectangle 137"/>
                <p:cNvSpPr>
                  <a:spLocks noChangeArrowheads="1"/>
                </p:cNvSpPr>
                <p:nvPr/>
              </p:nvSpPr>
              <p:spPr bwMode="auto">
                <a:xfrm>
                  <a:off x="3456" y="7632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72" name="Rectangle 138"/>
                <p:cNvSpPr>
                  <a:spLocks noChangeArrowheads="1"/>
                </p:cNvSpPr>
                <p:nvPr/>
              </p:nvSpPr>
              <p:spPr bwMode="auto">
                <a:xfrm>
                  <a:off x="3456" y="8208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73" name="Rectangle 139"/>
                <p:cNvSpPr>
                  <a:spLocks noChangeArrowheads="1"/>
                </p:cNvSpPr>
                <p:nvPr/>
              </p:nvSpPr>
              <p:spPr bwMode="auto">
                <a:xfrm>
                  <a:off x="3456" y="7920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74" name="Rectangle 140"/>
                <p:cNvSpPr>
                  <a:spLocks noChangeArrowheads="1"/>
                </p:cNvSpPr>
                <p:nvPr/>
              </p:nvSpPr>
              <p:spPr bwMode="auto">
                <a:xfrm>
                  <a:off x="3456" y="8496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75" name="Rectangle 141"/>
                <p:cNvSpPr>
                  <a:spLocks noChangeArrowheads="1"/>
                </p:cNvSpPr>
                <p:nvPr/>
              </p:nvSpPr>
              <p:spPr bwMode="auto">
                <a:xfrm>
                  <a:off x="3456" y="7056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76" name="Rectangle 142"/>
                <p:cNvSpPr>
                  <a:spLocks noChangeArrowheads="1"/>
                </p:cNvSpPr>
                <p:nvPr/>
              </p:nvSpPr>
              <p:spPr bwMode="auto">
                <a:xfrm>
                  <a:off x="3456" y="7344"/>
                  <a:ext cx="288" cy="144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144" name="Text Box 143"/>
              <p:cNvSpPr txBox="1">
                <a:spLocks noChangeArrowheads="1"/>
              </p:cNvSpPr>
              <p:nvPr/>
            </p:nvSpPr>
            <p:spPr bwMode="auto">
              <a:xfrm>
                <a:off x="793" y="2103"/>
                <a:ext cx="74" cy="1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>
                  <a:spcBef>
                    <a:spcPct val="0"/>
                  </a:spcBef>
                </a:pPr>
                <a:r>
                  <a:rPr lang="en-US" sz="800"/>
                  <a:t> 1</a:t>
                </a:r>
              </a:p>
            </p:txBody>
          </p:sp>
          <p:sp>
            <p:nvSpPr>
              <p:cNvPr id="5145" name="Text Box 144"/>
              <p:cNvSpPr txBox="1">
                <a:spLocks noChangeArrowheads="1"/>
              </p:cNvSpPr>
              <p:nvPr/>
            </p:nvSpPr>
            <p:spPr bwMode="auto">
              <a:xfrm>
                <a:off x="793" y="2563"/>
                <a:ext cx="74" cy="1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>
                  <a:spcBef>
                    <a:spcPct val="0"/>
                  </a:spcBef>
                </a:pPr>
                <a:r>
                  <a:rPr lang="en-US" sz="800"/>
                  <a:t> 5</a:t>
                </a:r>
              </a:p>
            </p:txBody>
          </p:sp>
          <p:sp>
            <p:nvSpPr>
              <p:cNvPr id="5146" name="Text Box 145"/>
              <p:cNvSpPr txBox="1">
                <a:spLocks noChangeArrowheads="1"/>
              </p:cNvSpPr>
              <p:nvPr/>
            </p:nvSpPr>
            <p:spPr bwMode="auto">
              <a:xfrm>
                <a:off x="793" y="2448"/>
                <a:ext cx="74" cy="1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>
                  <a:spcBef>
                    <a:spcPct val="0"/>
                  </a:spcBef>
                </a:pPr>
                <a:r>
                  <a:rPr lang="en-US" sz="800"/>
                  <a:t> 4</a:t>
                </a:r>
              </a:p>
            </p:txBody>
          </p:sp>
          <p:sp>
            <p:nvSpPr>
              <p:cNvPr id="5147" name="Text Box 146"/>
              <p:cNvSpPr txBox="1">
                <a:spLocks noChangeArrowheads="1"/>
              </p:cNvSpPr>
              <p:nvPr/>
            </p:nvSpPr>
            <p:spPr bwMode="auto">
              <a:xfrm>
                <a:off x="793" y="2333"/>
                <a:ext cx="74" cy="1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>
                  <a:spcBef>
                    <a:spcPct val="0"/>
                  </a:spcBef>
                </a:pPr>
                <a:r>
                  <a:rPr lang="en-US" sz="800"/>
                  <a:t> 3</a:t>
                </a:r>
              </a:p>
            </p:txBody>
          </p:sp>
          <p:sp>
            <p:nvSpPr>
              <p:cNvPr id="5148" name="Text Box 147"/>
              <p:cNvSpPr txBox="1">
                <a:spLocks noChangeArrowheads="1"/>
              </p:cNvSpPr>
              <p:nvPr/>
            </p:nvSpPr>
            <p:spPr bwMode="auto">
              <a:xfrm>
                <a:off x="793" y="2218"/>
                <a:ext cx="74" cy="1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>
                  <a:spcBef>
                    <a:spcPct val="0"/>
                  </a:spcBef>
                </a:pPr>
                <a:r>
                  <a:rPr lang="en-US" sz="800"/>
                  <a:t> 2</a:t>
                </a:r>
              </a:p>
            </p:txBody>
          </p:sp>
          <p:sp>
            <p:nvSpPr>
              <p:cNvPr id="5149" name="Text Box 148"/>
              <p:cNvSpPr txBox="1">
                <a:spLocks noChangeArrowheads="1"/>
              </p:cNvSpPr>
              <p:nvPr/>
            </p:nvSpPr>
            <p:spPr bwMode="auto">
              <a:xfrm>
                <a:off x="793" y="2794"/>
                <a:ext cx="74" cy="1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>
                  <a:spcBef>
                    <a:spcPct val="0"/>
                  </a:spcBef>
                </a:pPr>
                <a:r>
                  <a:rPr lang="en-US" sz="800"/>
                  <a:t> 7</a:t>
                </a:r>
              </a:p>
            </p:txBody>
          </p:sp>
          <p:sp>
            <p:nvSpPr>
              <p:cNvPr id="5150" name="Text Box 149"/>
              <p:cNvSpPr txBox="1">
                <a:spLocks noChangeArrowheads="1"/>
              </p:cNvSpPr>
              <p:nvPr/>
            </p:nvSpPr>
            <p:spPr bwMode="auto">
              <a:xfrm>
                <a:off x="793" y="2909"/>
                <a:ext cx="74" cy="1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>
                  <a:spcBef>
                    <a:spcPct val="0"/>
                  </a:spcBef>
                </a:pPr>
                <a:r>
                  <a:rPr lang="en-US" sz="800"/>
                  <a:t> 8</a:t>
                </a:r>
              </a:p>
            </p:txBody>
          </p:sp>
          <p:sp>
            <p:nvSpPr>
              <p:cNvPr id="5151" name="Text Box 150"/>
              <p:cNvSpPr txBox="1">
                <a:spLocks noChangeArrowheads="1"/>
              </p:cNvSpPr>
              <p:nvPr/>
            </p:nvSpPr>
            <p:spPr bwMode="auto">
              <a:xfrm>
                <a:off x="793" y="2678"/>
                <a:ext cx="74" cy="11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>
                  <a:spcBef>
                    <a:spcPct val="0"/>
                  </a:spcBef>
                </a:pPr>
                <a:r>
                  <a:rPr lang="en-US" sz="800"/>
                  <a:t> 6</a:t>
                </a:r>
              </a:p>
            </p:txBody>
          </p:sp>
          <p:sp>
            <p:nvSpPr>
              <p:cNvPr id="5152" name="Text Box 151"/>
              <p:cNvSpPr txBox="1">
                <a:spLocks noChangeArrowheads="1"/>
              </p:cNvSpPr>
              <p:nvPr/>
            </p:nvSpPr>
            <p:spPr bwMode="auto">
              <a:xfrm>
                <a:off x="1218" y="2103"/>
                <a:ext cx="148" cy="1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>
                  <a:spcBef>
                    <a:spcPct val="0"/>
                  </a:spcBef>
                </a:pPr>
                <a:r>
                  <a:rPr lang="en-US" sz="800"/>
                  <a:t> 16</a:t>
                </a:r>
              </a:p>
            </p:txBody>
          </p:sp>
          <p:sp>
            <p:nvSpPr>
              <p:cNvPr id="5153" name="Text Box 152"/>
              <p:cNvSpPr txBox="1">
                <a:spLocks noChangeArrowheads="1"/>
              </p:cNvSpPr>
              <p:nvPr/>
            </p:nvSpPr>
            <p:spPr bwMode="auto">
              <a:xfrm>
                <a:off x="1218" y="2218"/>
                <a:ext cx="148" cy="1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>
                  <a:spcBef>
                    <a:spcPct val="0"/>
                  </a:spcBef>
                </a:pPr>
                <a:r>
                  <a:rPr lang="en-US" sz="800"/>
                  <a:t> 15</a:t>
                </a:r>
              </a:p>
            </p:txBody>
          </p:sp>
          <p:sp>
            <p:nvSpPr>
              <p:cNvPr id="5154" name="Text Box 153"/>
              <p:cNvSpPr txBox="1">
                <a:spLocks noChangeArrowheads="1"/>
              </p:cNvSpPr>
              <p:nvPr/>
            </p:nvSpPr>
            <p:spPr bwMode="auto">
              <a:xfrm>
                <a:off x="1218" y="2333"/>
                <a:ext cx="148" cy="1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>
                  <a:spcBef>
                    <a:spcPct val="0"/>
                  </a:spcBef>
                </a:pPr>
                <a:r>
                  <a:rPr lang="en-US" sz="800"/>
                  <a:t> 14</a:t>
                </a:r>
              </a:p>
            </p:txBody>
          </p:sp>
          <p:sp>
            <p:nvSpPr>
              <p:cNvPr id="5155" name="Text Box 154"/>
              <p:cNvSpPr txBox="1">
                <a:spLocks noChangeArrowheads="1"/>
              </p:cNvSpPr>
              <p:nvPr/>
            </p:nvSpPr>
            <p:spPr bwMode="auto">
              <a:xfrm>
                <a:off x="1218" y="2448"/>
                <a:ext cx="148" cy="1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>
                  <a:spcBef>
                    <a:spcPct val="0"/>
                  </a:spcBef>
                </a:pPr>
                <a:r>
                  <a:rPr lang="en-US" sz="800"/>
                  <a:t> 13</a:t>
                </a:r>
              </a:p>
            </p:txBody>
          </p:sp>
          <p:sp>
            <p:nvSpPr>
              <p:cNvPr id="5156" name="Text Box 155"/>
              <p:cNvSpPr txBox="1">
                <a:spLocks noChangeArrowheads="1"/>
              </p:cNvSpPr>
              <p:nvPr/>
            </p:nvSpPr>
            <p:spPr bwMode="auto">
              <a:xfrm>
                <a:off x="1218" y="2563"/>
                <a:ext cx="148" cy="1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>
                  <a:spcBef>
                    <a:spcPct val="0"/>
                  </a:spcBef>
                </a:pPr>
                <a:r>
                  <a:rPr lang="en-US" sz="800"/>
                  <a:t> 12</a:t>
                </a:r>
              </a:p>
            </p:txBody>
          </p:sp>
          <p:sp>
            <p:nvSpPr>
              <p:cNvPr id="5157" name="Text Box 156"/>
              <p:cNvSpPr txBox="1">
                <a:spLocks noChangeArrowheads="1"/>
              </p:cNvSpPr>
              <p:nvPr/>
            </p:nvSpPr>
            <p:spPr bwMode="auto">
              <a:xfrm>
                <a:off x="1218" y="2678"/>
                <a:ext cx="148" cy="11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>
                  <a:spcBef>
                    <a:spcPct val="0"/>
                  </a:spcBef>
                </a:pPr>
                <a:r>
                  <a:rPr lang="en-US" sz="800"/>
                  <a:t> 11</a:t>
                </a:r>
              </a:p>
            </p:txBody>
          </p:sp>
          <p:sp>
            <p:nvSpPr>
              <p:cNvPr id="5158" name="Text Box 157"/>
              <p:cNvSpPr txBox="1">
                <a:spLocks noChangeArrowheads="1"/>
              </p:cNvSpPr>
              <p:nvPr/>
            </p:nvSpPr>
            <p:spPr bwMode="auto">
              <a:xfrm>
                <a:off x="1218" y="2794"/>
                <a:ext cx="148" cy="1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>
                  <a:spcBef>
                    <a:spcPct val="0"/>
                  </a:spcBef>
                </a:pPr>
                <a:r>
                  <a:rPr lang="en-US" sz="800"/>
                  <a:t> 10</a:t>
                </a:r>
              </a:p>
            </p:txBody>
          </p:sp>
          <p:sp>
            <p:nvSpPr>
              <p:cNvPr id="5159" name="Text Box 158"/>
              <p:cNvSpPr txBox="1">
                <a:spLocks noChangeArrowheads="1"/>
              </p:cNvSpPr>
              <p:nvPr/>
            </p:nvSpPr>
            <p:spPr bwMode="auto">
              <a:xfrm>
                <a:off x="1218" y="2909"/>
                <a:ext cx="148" cy="1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>
                  <a:spcBef>
                    <a:spcPct val="0"/>
                  </a:spcBef>
                </a:pPr>
                <a:r>
                  <a:rPr lang="en-US" sz="800"/>
                  <a:t> 9</a:t>
                </a:r>
              </a:p>
            </p:txBody>
          </p:sp>
        </p:grpSp>
        <p:sp>
          <p:nvSpPr>
            <p:cNvPr id="5129" name="Text Box 159"/>
            <p:cNvSpPr txBox="1">
              <a:spLocks noChangeArrowheads="1"/>
            </p:cNvSpPr>
            <p:nvPr/>
          </p:nvSpPr>
          <p:spPr bwMode="auto">
            <a:xfrm>
              <a:off x="422" y="2103"/>
              <a:ext cx="22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800"/>
                <a:t>Vd</a:t>
              </a:r>
            </a:p>
          </p:txBody>
        </p:sp>
        <p:sp>
          <p:nvSpPr>
            <p:cNvPr id="5130" name="Text Box 160"/>
            <p:cNvSpPr txBox="1">
              <a:spLocks noChangeArrowheads="1"/>
            </p:cNvSpPr>
            <p:nvPr/>
          </p:nvSpPr>
          <p:spPr bwMode="auto">
            <a:xfrm>
              <a:off x="422" y="2218"/>
              <a:ext cx="22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800"/>
                <a:t>A’</a:t>
              </a:r>
            </a:p>
          </p:txBody>
        </p:sp>
        <p:sp>
          <p:nvSpPr>
            <p:cNvPr id="5131" name="Text Box 161"/>
            <p:cNvSpPr txBox="1">
              <a:spLocks noChangeArrowheads="1"/>
            </p:cNvSpPr>
            <p:nvPr/>
          </p:nvSpPr>
          <p:spPr bwMode="auto">
            <a:xfrm>
              <a:off x="422" y="2333"/>
              <a:ext cx="22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800"/>
                <a:t>A</a:t>
              </a:r>
            </a:p>
          </p:txBody>
        </p:sp>
        <p:sp>
          <p:nvSpPr>
            <p:cNvPr id="5132" name="Text Box 162"/>
            <p:cNvSpPr txBox="1">
              <a:spLocks noChangeArrowheads="1"/>
            </p:cNvSpPr>
            <p:nvPr/>
          </p:nvSpPr>
          <p:spPr bwMode="auto">
            <a:xfrm>
              <a:off x="348" y="2506"/>
              <a:ext cx="223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800"/>
                <a:t>GND</a:t>
              </a:r>
            </a:p>
          </p:txBody>
        </p:sp>
        <p:sp>
          <p:nvSpPr>
            <p:cNvPr id="5133" name="Text Box 163"/>
            <p:cNvSpPr txBox="1">
              <a:spLocks noChangeArrowheads="1"/>
            </p:cNvSpPr>
            <p:nvPr/>
          </p:nvSpPr>
          <p:spPr bwMode="auto">
            <a:xfrm>
              <a:off x="274" y="2678"/>
              <a:ext cx="346" cy="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800"/>
                <a:t>Bias’/Set</a:t>
              </a:r>
            </a:p>
          </p:txBody>
        </p:sp>
        <p:sp>
          <p:nvSpPr>
            <p:cNvPr id="5134" name="Text Box 164"/>
            <p:cNvSpPr txBox="1">
              <a:spLocks noChangeArrowheads="1"/>
            </p:cNvSpPr>
            <p:nvPr/>
          </p:nvSpPr>
          <p:spPr bwMode="auto">
            <a:xfrm>
              <a:off x="422" y="2794"/>
              <a:ext cx="22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800"/>
                <a:t>Clk</a:t>
              </a:r>
            </a:p>
          </p:txBody>
        </p:sp>
        <p:sp>
          <p:nvSpPr>
            <p:cNvPr id="5135" name="Text Box 165"/>
            <p:cNvSpPr txBox="1">
              <a:spLocks noChangeArrowheads="1"/>
            </p:cNvSpPr>
            <p:nvPr/>
          </p:nvSpPr>
          <p:spPr bwMode="auto">
            <a:xfrm>
              <a:off x="422" y="2909"/>
              <a:ext cx="22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800"/>
                <a:t>O|C</a:t>
              </a:r>
            </a:p>
          </p:txBody>
        </p:sp>
        <p:sp>
          <p:nvSpPr>
            <p:cNvPr id="5136" name="Text Box 166"/>
            <p:cNvSpPr txBox="1">
              <a:spLocks noChangeArrowheads="1"/>
            </p:cNvSpPr>
            <p:nvPr/>
          </p:nvSpPr>
          <p:spPr bwMode="auto">
            <a:xfrm>
              <a:off x="1534" y="2103"/>
              <a:ext cx="22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800"/>
                <a:t>Vm</a:t>
              </a:r>
            </a:p>
          </p:txBody>
        </p:sp>
        <p:sp>
          <p:nvSpPr>
            <p:cNvPr id="5137" name="Text Box 167"/>
            <p:cNvSpPr txBox="1">
              <a:spLocks noChangeArrowheads="1"/>
            </p:cNvSpPr>
            <p:nvPr/>
          </p:nvSpPr>
          <p:spPr bwMode="auto">
            <a:xfrm>
              <a:off x="1534" y="2218"/>
              <a:ext cx="22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800"/>
                <a:t>B</a:t>
              </a:r>
            </a:p>
          </p:txBody>
        </p:sp>
        <p:sp>
          <p:nvSpPr>
            <p:cNvPr id="5138" name="Text Box 168"/>
            <p:cNvSpPr txBox="1">
              <a:spLocks noChangeArrowheads="1"/>
            </p:cNvSpPr>
            <p:nvPr/>
          </p:nvSpPr>
          <p:spPr bwMode="auto">
            <a:xfrm>
              <a:off x="1534" y="2333"/>
              <a:ext cx="22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800"/>
                <a:t>B’</a:t>
              </a:r>
            </a:p>
          </p:txBody>
        </p:sp>
        <p:sp>
          <p:nvSpPr>
            <p:cNvPr id="5139" name="Text Box 169"/>
            <p:cNvSpPr txBox="1">
              <a:spLocks noChangeArrowheads="1"/>
            </p:cNvSpPr>
            <p:nvPr/>
          </p:nvSpPr>
          <p:spPr bwMode="auto">
            <a:xfrm>
              <a:off x="1534" y="2506"/>
              <a:ext cx="223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800"/>
                <a:t>GND</a:t>
              </a:r>
            </a:p>
          </p:txBody>
        </p:sp>
        <p:sp>
          <p:nvSpPr>
            <p:cNvPr id="5140" name="Text Box 170"/>
            <p:cNvSpPr txBox="1">
              <a:spLocks noChangeArrowheads="1"/>
            </p:cNvSpPr>
            <p:nvPr/>
          </p:nvSpPr>
          <p:spPr bwMode="auto">
            <a:xfrm>
              <a:off x="1534" y="2678"/>
              <a:ext cx="321" cy="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800"/>
                <a:t>Phase A’</a:t>
              </a:r>
            </a:p>
          </p:txBody>
        </p:sp>
        <p:sp>
          <p:nvSpPr>
            <p:cNvPr id="5141" name="Text Box 171"/>
            <p:cNvSpPr txBox="1">
              <a:spLocks noChangeArrowheads="1"/>
            </p:cNvSpPr>
            <p:nvPr/>
          </p:nvSpPr>
          <p:spPr bwMode="auto">
            <a:xfrm>
              <a:off x="1534" y="2794"/>
              <a:ext cx="420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800"/>
                <a:t>CW’/CCW</a:t>
              </a:r>
            </a:p>
          </p:txBody>
        </p:sp>
        <p:sp>
          <p:nvSpPr>
            <p:cNvPr id="5142" name="Text Box 172"/>
            <p:cNvSpPr txBox="1">
              <a:spLocks noChangeArrowheads="1"/>
            </p:cNvSpPr>
            <p:nvPr/>
          </p:nvSpPr>
          <p:spPr bwMode="auto">
            <a:xfrm>
              <a:off x="1534" y="2909"/>
              <a:ext cx="519" cy="1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800"/>
                <a:t>Full’/Half Step</a:t>
              </a:r>
            </a:p>
          </p:txBody>
        </p:sp>
      </p:grpSp>
      <p:graphicFrame>
        <p:nvGraphicFramePr>
          <p:cNvPr id="5122" name="Object 173"/>
          <p:cNvGraphicFramePr>
            <a:graphicFrameLocks noChangeAspect="1"/>
          </p:cNvGraphicFramePr>
          <p:nvPr/>
        </p:nvGraphicFramePr>
        <p:xfrm>
          <a:off x="5721350" y="1562100"/>
          <a:ext cx="2457450" cy="155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Document" r:id="rId4" imgW="2464920" imgH="1598760" progId="Word.Document.8">
                  <p:embed/>
                </p:oleObj>
              </mc:Choice>
              <mc:Fallback>
                <p:oleObj name="Document" r:id="rId4" imgW="2464920" imgH="1598760" progId="Word.Document.8">
                  <p:embed/>
                  <p:pic>
                    <p:nvPicPr>
                      <p:cNvPr id="0" name="Object 1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1350" y="1562100"/>
                        <a:ext cx="2457450" cy="1552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7" name="Rectangle 177"/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5133975" cy="4229100"/>
          </a:xfrm>
          <a:noFill/>
        </p:spPr>
        <p:txBody>
          <a:bodyPr/>
          <a:lstStyle/>
          <a:p>
            <a:r>
              <a:rPr lang="en-US" sz="2400" smtClean="0"/>
              <a:t>Stepper motor: rotates fixed number of degrees when given a “step” signal</a:t>
            </a:r>
          </a:p>
          <a:p>
            <a:pPr lvl="1"/>
            <a:r>
              <a:rPr lang="en-US" sz="2000" smtClean="0"/>
              <a:t>In contrast, DC motor just rotates when power applied, coasts to stop</a:t>
            </a:r>
          </a:p>
          <a:p>
            <a:r>
              <a:rPr lang="en-US" sz="2400" smtClean="0"/>
              <a:t>Rotation achieved by applying specific voltage sequence to coils</a:t>
            </a:r>
          </a:p>
          <a:p>
            <a:r>
              <a:rPr lang="en-US" sz="2400" smtClean="0"/>
              <a:t>Controller greatly simplifies this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A1E30089-EE02-4C9A-9661-3B01BDAEFE29}" type="slidenum">
              <a:rPr lang="en-US"/>
              <a:pPr/>
              <a:t>14</a:t>
            </a:fld>
            <a:endParaRPr lang="en-US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Analog-to-digital converters</a:t>
            </a:r>
          </a:p>
        </p:txBody>
      </p:sp>
      <p:grpSp>
        <p:nvGrpSpPr>
          <p:cNvPr id="18436" name="Group 130"/>
          <p:cNvGrpSpPr>
            <a:grpSpLocks/>
          </p:cNvGrpSpPr>
          <p:nvPr/>
        </p:nvGrpSpPr>
        <p:grpSpPr bwMode="auto">
          <a:xfrm>
            <a:off x="257175" y="1936750"/>
            <a:ext cx="2208213" cy="3762375"/>
            <a:chOff x="162" y="1220"/>
            <a:chExt cx="1391" cy="2370"/>
          </a:xfrm>
        </p:grpSpPr>
        <p:sp>
          <p:nvSpPr>
            <p:cNvPr id="18508" name="Text Box 5"/>
            <p:cNvSpPr txBox="1">
              <a:spLocks noChangeArrowheads="1"/>
            </p:cNvSpPr>
            <p:nvPr/>
          </p:nvSpPr>
          <p:spPr bwMode="auto">
            <a:xfrm>
              <a:off x="416" y="3428"/>
              <a:ext cx="1137" cy="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200" b="1"/>
                <a:t>proportionality</a:t>
              </a:r>
            </a:p>
          </p:txBody>
        </p:sp>
        <p:sp>
          <p:nvSpPr>
            <p:cNvPr id="18509" name="Text Box 6"/>
            <p:cNvSpPr txBox="1">
              <a:spLocks noChangeArrowheads="1"/>
            </p:cNvSpPr>
            <p:nvPr/>
          </p:nvSpPr>
          <p:spPr bwMode="auto">
            <a:xfrm>
              <a:off x="162" y="1220"/>
              <a:ext cx="575" cy="2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r">
                <a:spcBef>
                  <a:spcPct val="0"/>
                </a:spcBef>
              </a:pPr>
              <a:r>
                <a:rPr lang="en-US" sz="1200"/>
                <a:t>V</a:t>
              </a:r>
              <a:r>
                <a:rPr lang="en-US" sz="1200" baseline="-25000"/>
                <a:t>max </a:t>
              </a:r>
              <a:r>
                <a:rPr lang="en-US" sz="1200"/>
                <a:t>= 7.5V</a:t>
              </a:r>
              <a:endParaRPr lang="en-US" sz="1200" baseline="-25000"/>
            </a:p>
          </p:txBody>
        </p:sp>
        <p:sp>
          <p:nvSpPr>
            <p:cNvPr id="18510" name="Text Box 7"/>
            <p:cNvSpPr txBox="1">
              <a:spLocks noChangeArrowheads="1"/>
            </p:cNvSpPr>
            <p:nvPr/>
          </p:nvSpPr>
          <p:spPr bwMode="auto">
            <a:xfrm>
              <a:off x="458" y="3127"/>
              <a:ext cx="279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r">
                <a:spcBef>
                  <a:spcPct val="0"/>
                </a:spcBef>
              </a:pPr>
              <a:r>
                <a:rPr lang="en-US" sz="1200"/>
                <a:t>0V</a:t>
              </a:r>
              <a:endParaRPr lang="en-US" sz="1200" baseline="-25000"/>
            </a:p>
          </p:txBody>
        </p:sp>
        <p:sp>
          <p:nvSpPr>
            <p:cNvPr id="18511" name="Line 8"/>
            <p:cNvSpPr>
              <a:spLocks noChangeShapeType="1"/>
            </p:cNvSpPr>
            <p:nvPr/>
          </p:nvSpPr>
          <p:spPr bwMode="auto">
            <a:xfrm flipH="1">
              <a:off x="960" y="1261"/>
              <a:ext cx="0" cy="198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12" name="Line 9"/>
            <p:cNvSpPr>
              <a:spLocks noChangeShapeType="1"/>
            </p:cNvSpPr>
            <p:nvPr/>
          </p:nvSpPr>
          <p:spPr bwMode="auto">
            <a:xfrm>
              <a:off x="809" y="1302"/>
              <a:ext cx="3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13" name="Line 10"/>
            <p:cNvSpPr>
              <a:spLocks noChangeShapeType="1"/>
            </p:cNvSpPr>
            <p:nvPr/>
          </p:nvSpPr>
          <p:spPr bwMode="auto">
            <a:xfrm>
              <a:off x="804" y="1429"/>
              <a:ext cx="32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14" name="Line 11"/>
            <p:cNvSpPr>
              <a:spLocks noChangeShapeType="1"/>
            </p:cNvSpPr>
            <p:nvPr/>
          </p:nvSpPr>
          <p:spPr bwMode="auto">
            <a:xfrm>
              <a:off x="804" y="1556"/>
              <a:ext cx="32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15" name="Line 12"/>
            <p:cNvSpPr>
              <a:spLocks noChangeShapeType="1"/>
            </p:cNvSpPr>
            <p:nvPr/>
          </p:nvSpPr>
          <p:spPr bwMode="auto">
            <a:xfrm>
              <a:off x="804" y="1683"/>
              <a:ext cx="32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16" name="Line 13"/>
            <p:cNvSpPr>
              <a:spLocks noChangeShapeType="1"/>
            </p:cNvSpPr>
            <p:nvPr/>
          </p:nvSpPr>
          <p:spPr bwMode="auto">
            <a:xfrm>
              <a:off x="804" y="1810"/>
              <a:ext cx="32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17" name="Line 14"/>
            <p:cNvSpPr>
              <a:spLocks noChangeShapeType="1"/>
            </p:cNvSpPr>
            <p:nvPr/>
          </p:nvSpPr>
          <p:spPr bwMode="auto">
            <a:xfrm>
              <a:off x="804" y="1938"/>
              <a:ext cx="32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18" name="Line 15"/>
            <p:cNvSpPr>
              <a:spLocks noChangeShapeType="1"/>
            </p:cNvSpPr>
            <p:nvPr/>
          </p:nvSpPr>
          <p:spPr bwMode="auto">
            <a:xfrm>
              <a:off x="804" y="2064"/>
              <a:ext cx="32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19" name="Line 16"/>
            <p:cNvSpPr>
              <a:spLocks noChangeShapeType="1"/>
            </p:cNvSpPr>
            <p:nvPr/>
          </p:nvSpPr>
          <p:spPr bwMode="auto">
            <a:xfrm>
              <a:off x="804" y="2192"/>
              <a:ext cx="32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20" name="Line 17"/>
            <p:cNvSpPr>
              <a:spLocks noChangeShapeType="1"/>
            </p:cNvSpPr>
            <p:nvPr/>
          </p:nvSpPr>
          <p:spPr bwMode="auto">
            <a:xfrm>
              <a:off x="804" y="2319"/>
              <a:ext cx="32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21" name="Line 18"/>
            <p:cNvSpPr>
              <a:spLocks noChangeShapeType="1"/>
            </p:cNvSpPr>
            <p:nvPr/>
          </p:nvSpPr>
          <p:spPr bwMode="auto">
            <a:xfrm>
              <a:off x="804" y="2446"/>
              <a:ext cx="32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22" name="Line 19"/>
            <p:cNvSpPr>
              <a:spLocks noChangeShapeType="1"/>
            </p:cNvSpPr>
            <p:nvPr/>
          </p:nvSpPr>
          <p:spPr bwMode="auto">
            <a:xfrm>
              <a:off x="804" y="2573"/>
              <a:ext cx="32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23" name="Line 20"/>
            <p:cNvSpPr>
              <a:spLocks noChangeShapeType="1"/>
            </p:cNvSpPr>
            <p:nvPr/>
          </p:nvSpPr>
          <p:spPr bwMode="auto">
            <a:xfrm>
              <a:off x="804" y="2700"/>
              <a:ext cx="32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24" name="Line 21"/>
            <p:cNvSpPr>
              <a:spLocks noChangeShapeType="1"/>
            </p:cNvSpPr>
            <p:nvPr/>
          </p:nvSpPr>
          <p:spPr bwMode="auto">
            <a:xfrm>
              <a:off x="804" y="2827"/>
              <a:ext cx="32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25" name="Line 22"/>
            <p:cNvSpPr>
              <a:spLocks noChangeShapeType="1"/>
            </p:cNvSpPr>
            <p:nvPr/>
          </p:nvSpPr>
          <p:spPr bwMode="auto">
            <a:xfrm>
              <a:off x="804" y="2954"/>
              <a:ext cx="32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26" name="Line 23"/>
            <p:cNvSpPr>
              <a:spLocks noChangeShapeType="1"/>
            </p:cNvSpPr>
            <p:nvPr/>
          </p:nvSpPr>
          <p:spPr bwMode="auto">
            <a:xfrm>
              <a:off x="804" y="3082"/>
              <a:ext cx="32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27" name="Line 24"/>
            <p:cNvSpPr>
              <a:spLocks noChangeShapeType="1"/>
            </p:cNvSpPr>
            <p:nvPr/>
          </p:nvSpPr>
          <p:spPr bwMode="auto">
            <a:xfrm>
              <a:off x="804" y="3209"/>
              <a:ext cx="32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28" name="Text Box 25"/>
            <p:cNvSpPr txBox="1">
              <a:spLocks noChangeArrowheads="1"/>
            </p:cNvSpPr>
            <p:nvPr/>
          </p:nvSpPr>
          <p:spPr bwMode="auto">
            <a:xfrm>
              <a:off x="1161" y="1221"/>
              <a:ext cx="279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1111</a:t>
              </a:r>
              <a:endParaRPr lang="en-US" sz="1200" baseline="-25000"/>
            </a:p>
          </p:txBody>
        </p:sp>
        <p:sp>
          <p:nvSpPr>
            <p:cNvPr id="18529" name="Text Box 26"/>
            <p:cNvSpPr txBox="1">
              <a:spLocks noChangeArrowheads="1"/>
            </p:cNvSpPr>
            <p:nvPr/>
          </p:nvSpPr>
          <p:spPr bwMode="auto">
            <a:xfrm>
              <a:off x="1161" y="1350"/>
              <a:ext cx="279" cy="1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1110</a:t>
              </a:r>
              <a:endParaRPr lang="en-US" sz="1200" baseline="-25000"/>
            </a:p>
          </p:txBody>
        </p:sp>
        <p:sp>
          <p:nvSpPr>
            <p:cNvPr id="18530" name="Text Box 27"/>
            <p:cNvSpPr txBox="1">
              <a:spLocks noChangeArrowheads="1"/>
            </p:cNvSpPr>
            <p:nvPr/>
          </p:nvSpPr>
          <p:spPr bwMode="auto">
            <a:xfrm>
              <a:off x="1161" y="3168"/>
              <a:ext cx="279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0000</a:t>
              </a:r>
              <a:endParaRPr lang="en-US" sz="1200" baseline="-25000"/>
            </a:p>
          </p:txBody>
        </p:sp>
        <p:sp>
          <p:nvSpPr>
            <p:cNvPr id="18531" name="Text Box 28"/>
            <p:cNvSpPr txBox="1">
              <a:spLocks noChangeArrowheads="1"/>
            </p:cNvSpPr>
            <p:nvPr/>
          </p:nvSpPr>
          <p:spPr bwMode="auto">
            <a:xfrm>
              <a:off x="1161" y="2908"/>
              <a:ext cx="279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0010</a:t>
              </a:r>
              <a:endParaRPr lang="en-US" sz="1200" baseline="-25000"/>
            </a:p>
          </p:txBody>
        </p:sp>
        <p:sp>
          <p:nvSpPr>
            <p:cNvPr id="18532" name="Text Box 29"/>
            <p:cNvSpPr txBox="1">
              <a:spLocks noChangeArrowheads="1"/>
            </p:cNvSpPr>
            <p:nvPr/>
          </p:nvSpPr>
          <p:spPr bwMode="auto">
            <a:xfrm>
              <a:off x="1161" y="2648"/>
              <a:ext cx="279" cy="1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0100</a:t>
              </a:r>
              <a:endParaRPr lang="en-US" sz="1200" baseline="-25000"/>
            </a:p>
          </p:txBody>
        </p:sp>
        <p:sp>
          <p:nvSpPr>
            <p:cNvPr id="18533" name="Text Box 30"/>
            <p:cNvSpPr txBox="1">
              <a:spLocks noChangeArrowheads="1"/>
            </p:cNvSpPr>
            <p:nvPr/>
          </p:nvSpPr>
          <p:spPr bwMode="auto">
            <a:xfrm>
              <a:off x="1161" y="2389"/>
              <a:ext cx="279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0110</a:t>
              </a:r>
              <a:endParaRPr lang="en-US" sz="1200" baseline="-25000"/>
            </a:p>
          </p:txBody>
        </p:sp>
        <p:sp>
          <p:nvSpPr>
            <p:cNvPr id="18534" name="Text Box 31"/>
            <p:cNvSpPr txBox="1">
              <a:spLocks noChangeArrowheads="1"/>
            </p:cNvSpPr>
            <p:nvPr/>
          </p:nvSpPr>
          <p:spPr bwMode="auto">
            <a:xfrm>
              <a:off x="1161" y="2129"/>
              <a:ext cx="279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1000</a:t>
              </a:r>
              <a:endParaRPr lang="en-US" sz="1200" baseline="-25000"/>
            </a:p>
          </p:txBody>
        </p:sp>
        <p:sp>
          <p:nvSpPr>
            <p:cNvPr id="18535" name="Text Box 32"/>
            <p:cNvSpPr txBox="1">
              <a:spLocks noChangeArrowheads="1"/>
            </p:cNvSpPr>
            <p:nvPr/>
          </p:nvSpPr>
          <p:spPr bwMode="auto">
            <a:xfrm>
              <a:off x="1161" y="1869"/>
              <a:ext cx="279" cy="1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1010</a:t>
              </a:r>
              <a:endParaRPr lang="en-US" sz="1200" baseline="-25000"/>
            </a:p>
          </p:txBody>
        </p:sp>
        <p:sp>
          <p:nvSpPr>
            <p:cNvPr id="18536" name="Text Box 33"/>
            <p:cNvSpPr txBox="1">
              <a:spLocks noChangeArrowheads="1"/>
            </p:cNvSpPr>
            <p:nvPr/>
          </p:nvSpPr>
          <p:spPr bwMode="auto">
            <a:xfrm>
              <a:off x="1161" y="1610"/>
              <a:ext cx="279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1100</a:t>
              </a:r>
              <a:endParaRPr lang="en-US" sz="1200" baseline="-25000"/>
            </a:p>
          </p:txBody>
        </p:sp>
        <p:sp>
          <p:nvSpPr>
            <p:cNvPr id="18537" name="Text Box 34"/>
            <p:cNvSpPr txBox="1">
              <a:spLocks noChangeArrowheads="1"/>
            </p:cNvSpPr>
            <p:nvPr/>
          </p:nvSpPr>
          <p:spPr bwMode="auto">
            <a:xfrm>
              <a:off x="1161" y="3038"/>
              <a:ext cx="279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0001</a:t>
              </a:r>
              <a:endParaRPr lang="en-US" sz="1200" baseline="-25000"/>
            </a:p>
          </p:txBody>
        </p:sp>
        <p:sp>
          <p:nvSpPr>
            <p:cNvPr id="18538" name="Text Box 35"/>
            <p:cNvSpPr txBox="1">
              <a:spLocks noChangeArrowheads="1"/>
            </p:cNvSpPr>
            <p:nvPr/>
          </p:nvSpPr>
          <p:spPr bwMode="auto">
            <a:xfrm>
              <a:off x="1161" y="2778"/>
              <a:ext cx="279" cy="1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0011</a:t>
              </a:r>
              <a:endParaRPr lang="en-US" sz="1200" baseline="-25000"/>
            </a:p>
          </p:txBody>
        </p:sp>
        <p:sp>
          <p:nvSpPr>
            <p:cNvPr id="18539" name="Text Box 36"/>
            <p:cNvSpPr txBox="1">
              <a:spLocks noChangeArrowheads="1"/>
            </p:cNvSpPr>
            <p:nvPr/>
          </p:nvSpPr>
          <p:spPr bwMode="auto">
            <a:xfrm>
              <a:off x="1161" y="2519"/>
              <a:ext cx="279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0101</a:t>
              </a:r>
              <a:endParaRPr lang="en-US" sz="1200" baseline="-25000"/>
            </a:p>
          </p:txBody>
        </p:sp>
        <p:sp>
          <p:nvSpPr>
            <p:cNvPr id="18540" name="Text Box 37"/>
            <p:cNvSpPr txBox="1">
              <a:spLocks noChangeArrowheads="1"/>
            </p:cNvSpPr>
            <p:nvPr/>
          </p:nvSpPr>
          <p:spPr bwMode="auto">
            <a:xfrm>
              <a:off x="1161" y="2259"/>
              <a:ext cx="279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0111</a:t>
              </a:r>
              <a:endParaRPr lang="en-US" sz="1200" baseline="-25000"/>
            </a:p>
          </p:txBody>
        </p:sp>
        <p:sp>
          <p:nvSpPr>
            <p:cNvPr id="18541" name="Text Box 38"/>
            <p:cNvSpPr txBox="1">
              <a:spLocks noChangeArrowheads="1"/>
            </p:cNvSpPr>
            <p:nvPr/>
          </p:nvSpPr>
          <p:spPr bwMode="auto">
            <a:xfrm>
              <a:off x="1161" y="2000"/>
              <a:ext cx="279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1001</a:t>
              </a:r>
              <a:endParaRPr lang="en-US" sz="1200" baseline="-25000"/>
            </a:p>
          </p:txBody>
        </p:sp>
        <p:sp>
          <p:nvSpPr>
            <p:cNvPr id="18542" name="Text Box 39"/>
            <p:cNvSpPr txBox="1">
              <a:spLocks noChangeArrowheads="1"/>
            </p:cNvSpPr>
            <p:nvPr/>
          </p:nvSpPr>
          <p:spPr bwMode="auto">
            <a:xfrm>
              <a:off x="1161" y="1740"/>
              <a:ext cx="279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1011</a:t>
              </a:r>
              <a:endParaRPr lang="en-US" sz="1200" baseline="-25000"/>
            </a:p>
          </p:txBody>
        </p:sp>
        <p:sp>
          <p:nvSpPr>
            <p:cNvPr id="18543" name="Text Box 40"/>
            <p:cNvSpPr txBox="1">
              <a:spLocks noChangeArrowheads="1"/>
            </p:cNvSpPr>
            <p:nvPr/>
          </p:nvSpPr>
          <p:spPr bwMode="auto">
            <a:xfrm>
              <a:off x="1161" y="1480"/>
              <a:ext cx="279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>
                <a:spcBef>
                  <a:spcPct val="0"/>
                </a:spcBef>
              </a:pPr>
              <a:r>
                <a:rPr lang="en-US" sz="1200"/>
                <a:t>1101</a:t>
              </a:r>
              <a:endParaRPr lang="en-US" sz="1200" baseline="-25000"/>
            </a:p>
          </p:txBody>
        </p:sp>
        <p:sp>
          <p:nvSpPr>
            <p:cNvPr id="18544" name="Text Box 41"/>
            <p:cNvSpPr txBox="1">
              <a:spLocks noChangeArrowheads="1"/>
            </p:cNvSpPr>
            <p:nvPr/>
          </p:nvSpPr>
          <p:spPr bwMode="auto">
            <a:xfrm>
              <a:off x="458" y="3006"/>
              <a:ext cx="279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r">
                <a:spcBef>
                  <a:spcPct val="0"/>
                </a:spcBef>
              </a:pPr>
              <a:r>
                <a:rPr lang="en-US" sz="1200"/>
                <a:t>0.5V</a:t>
              </a:r>
              <a:endParaRPr lang="en-US" sz="1200" baseline="-25000"/>
            </a:p>
          </p:txBody>
        </p:sp>
        <p:sp>
          <p:nvSpPr>
            <p:cNvPr id="18545" name="Text Box 42"/>
            <p:cNvSpPr txBox="1">
              <a:spLocks noChangeArrowheads="1"/>
            </p:cNvSpPr>
            <p:nvPr/>
          </p:nvSpPr>
          <p:spPr bwMode="auto">
            <a:xfrm>
              <a:off x="458" y="2884"/>
              <a:ext cx="279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r">
                <a:spcBef>
                  <a:spcPct val="0"/>
                </a:spcBef>
              </a:pPr>
              <a:r>
                <a:rPr lang="en-US" sz="1200"/>
                <a:t>1.0V</a:t>
              </a:r>
              <a:endParaRPr lang="en-US" sz="1200" baseline="-25000"/>
            </a:p>
          </p:txBody>
        </p:sp>
        <p:sp>
          <p:nvSpPr>
            <p:cNvPr id="18546" name="Text Box 43"/>
            <p:cNvSpPr txBox="1">
              <a:spLocks noChangeArrowheads="1"/>
            </p:cNvSpPr>
            <p:nvPr/>
          </p:nvSpPr>
          <p:spPr bwMode="auto">
            <a:xfrm>
              <a:off x="458" y="2762"/>
              <a:ext cx="279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r">
                <a:spcBef>
                  <a:spcPct val="0"/>
                </a:spcBef>
              </a:pPr>
              <a:r>
                <a:rPr lang="en-US" sz="1200"/>
                <a:t>1.5V</a:t>
              </a:r>
              <a:endParaRPr lang="en-US" sz="1200" baseline="-25000"/>
            </a:p>
          </p:txBody>
        </p:sp>
        <p:sp>
          <p:nvSpPr>
            <p:cNvPr id="18547" name="Text Box 44"/>
            <p:cNvSpPr txBox="1">
              <a:spLocks noChangeArrowheads="1"/>
            </p:cNvSpPr>
            <p:nvPr/>
          </p:nvSpPr>
          <p:spPr bwMode="auto">
            <a:xfrm>
              <a:off x="458" y="2640"/>
              <a:ext cx="279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r">
                <a:spcBef>
                  <a:spcPct val="0"/>
                </a:spcBef>
              </a:pPr>
              <a:r>
                <a:rPr lang="en-US" sz="1200"/>
                <a:t>2.0V</a:t>
              </a:r>
              <a:endParaRPr lang="en-US" sz="1200" baseline="-25000"/>
            </a:p>
          </p:txBody>
        </p:sp>
        <p:sp>
          <p:nvSpPr>
            <p:cNvPr id="18548" name="Text Box 45"/>
            <p:cNvSpPr txBox="1">
              <a:spLocks noChangeArrowheads="1"/>
            </p:cNvSpPr>
            <p:nvPr/>
          </p:nvSpPr>
          <p:spPr bwMode="auto">
            <a:xfrm>
              <a:off x="458" y="2519"/>
              <a:ext cx="279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r">
                <a:spcBef>
                  <a:spcPct val="0"/>
                </a:spcBef>
              </a:pPr>
              <a:r>
                <a:rPr lang="en-US" sz="1200"/>
                <a:t>2.5V</a:t>
              </a:r>
              <a:endParaRPr lang="en-US" sz="1200" baseline="-25000"/>
            </a:p>
          </p:txBody>
        </p:sp>
        <p:sp>
          <p:nvSpPr>
            <p:cNvPr id="18549" name="Text Box 46"/>
            <p:cNvSpPr txBox="1">
              <a:spLocks noChangeArrowheads="1"/>
            </p:cNvSpPr>
            <p:nvPr/>
          </p:nvSpPr>
          <p:spPr bwMode="auto">
            <a:xfrm>
              <a:off x="458" y="2397"/>
              <a:ext cx="279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r">
                <a:spcBef>
                  <a:spcPct val="0"/>
                </a:spcBef>
              </a:pPr>
              <a:r>
                <a:rPr lang="en-US" sz="1200"/>
                <a:t>3.0V</a:t>
              </a:r>
              <a:endParaRPr lang="en-US" sz="1200" baseline="-25000"/>
            </a:p>
          </p:txBody>
        </p:sp>
        <p:sp>
          <p:nvSpPr>
            <p:cNvPr id="18550" name="Text Box 47"/>
            <p:cNvSpPr txBox="1">
              <a:spLocks noChangeArrowheads="1"/>
            </p:cNvSpPr>
            <p:nvPr/>
          </p:nvSpPr>
          <p:spPr bwMode="auto">
            <a:xfrm>
              <a:off x="458" y="2235"/>
              <a:ext cx="279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r">
                <a:spcBef>
                  <a:spcPct val="0"/>
                </a:spcBef>
              </a:pPr>
              <a:r>
                <a:rPr lang="en-US" sz="1200"/>
                <a:t>3.5V</a:t>
              </a:r>
              <a:endParaRPr lang="en-US" sz="1200" baseline="-25000"/>
            </a:p>
          </p:txBody>
        </p:sp>
        <p:sp>
          <p:nvSpPr>
            <p:cNvPr id="18551" name="Text Box 48"/>
            <p:cNvSpPr txBox="1">
              <a:spLocks noChangeArrowheads="1"/>
            </p:cNvSpPr>
            <p:nvPr/>
          </p:nvSpPr>
          <p:spPr bwMode="auto">
            <a:xfrm>
              <a:off x="458" y="2113"/>
              <a:ext cx="279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r">
                <a:spcBef>
                  <a:spcPct val="0"/>
                </a:spcBef>
              </a:pPr>
              <a:r>
                <a:rPr lang="en-US" sz="1200"/>
                <a:t>4.0V</a:t>
              </a:r>
              <a:endParaRPr lang="en-US" sz="1200" baseline="-25000"/>
            </a:p>
          </p:txBody>
        </p:sp>
        <p:sp>
          <p:nvSpPr>
            <p:cNvPr id="18552" name="Text Box 49"/>
            <p:cNvSpPr txBox="1">
              <a:spLocks noChangeArrowheads="1"/>
            </p:cNvSpPr>
            <p:nvPr/>
          </p:nvSpPr>
          <p:spPr bwMode="auto">
            <a:xfrm>
              <a:off x="458" y="1991"/>
              <a:ext cx="279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r">
                <a:spcBef>
                  <a:spcPct val="0"/>
                </a:spcBef>
              </a:pPr>
              <a:r>
                <a:rPr lang="en-US" sz="1200"/>
                <a:t>4.5V</a:t>
              </a:r>
              <a:endParaRPr lang="en-US" sz="1200" baseline="-25000"/>
            </a:p>
          </p:txBody>
        </p:sp>
        <p:sp>
          <p:nvSpPr>
            <p:cNvPr id="18553" name="Text Box 50"/>
            <p:cNvSpPr txBox="1">
              <a:spLocks noChangeArrowheads="1"/>
            </p:cNvSpPr>
            <p:nvPr/>
          </p:nvSpPr>
          <p:spPr bwMode="auto">
            <a:xfrm>
              <a:off x="458" y="1869"/>
              <a:ext cx="279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r">
                <a:spcBef>
                  <a:spcPct val="0"/>
                </a:spcBef>
              </a:pPr>
              <a:r>
                <a:rPr lang="en-US" sz="1200"/>
                <a:t>5.0V</a:t>
              </a:r>
              <a:endParaRPr lang="en-US" sz="1200" baseline="-25000"/>
            </a:p>
          </p:txBody>
        </p:sp>
        <p:sp>
          <p:nvSpPr>
            <p:cNvPr id="18554" name="Text Box 51"/>
            <p:cNvSpPr txBox="1">
              <a:spLocks noChangeArrowheads="1"/>
            </p:cNvSpPr>
            <p:nvPr/>
          </p:nvSpPr>
          <p:spPr bwMode="auto">
            <a:xfrm>
              <a:off x="458" y="1707"/>
              <a:ext cx="279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r">
                <a:spcBef>
                  <a:spcPct val="0"/>
                </a:spcBef>
              </a:pPr>
              <a:r>
                <a:rPr lang="en-US" sz="1200"/>
                <a:t>5.5V</a:t>
              </a:r>
              <a:endParaRPr lang="en-US" sz="1200" baseline="-25000"/>
            </a:p>
          </p:txBody>
        </p:sp>
        <p:sp>
          <p:nvSpPr>
            <p:cNvPr id="18555" name="Text Box 52"/>
            <p:cNvSpPr txBox="1">
              <a:spLocks noChangeArrowheads="1"/>
            </p:cNvSpPr>
            <p:nvPr/>
          </p:nvSpPr>
          <p:spPr bwMode="auto">
            <a:xfrm>
              <a:off x="458" y="1585"/>
              <a:ext cx="279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r">
                <a:spcBef>
                  <a:spcPct val="0"/>
                </a:spcBef>
              </a:pPr>
              <a:r>
                <a:rPr lang="en-US" sz="1200"/>
                <a:t>6.0V</a:t>
              </a:r>
              <a:endParaRPr lang="en-US" sz="1200" baseline="-25000"/>
            </a:p>
          </p:txBody>
        </p:sp>
        <p:sp>
          <p:nvSpPr>
            <p:cNvPr id="18556" name="Text Box 53"/>
            <p:cNvSpPr txBox="1">
              <a:spLocks noChangeArrowheads="1"/>
            </p:cNvSpPr>
            <p:nvPr/>
          </p:nvSpPr>
          <p:spPr bwMode="auto">
            <a:xfrm>
              <a:off x="458" y="1463"/>
              <a:ext cx="279" cy="1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r">
                <a:spcBef>
                  <a:spcPct val="0"/>
                </a:spcBef>
              </a:pPr>
              <a:r>
                <a:rPr lang="en-US" sz="1200"/>
                <a:t>6.5V</a:t>
              </a:r>
              <a:endParaRPr lang="en-US" sz="1200" baseline="-25000"/>
            </a:p>
          </p:txBody>
        </p:sp>
        <p:sp>
          <p:nvSpPr>
            <p:cNvPr id="18557" name="Text Box 54"/>
            <p:cNvSpPr txBox="1">
              <a:spLocks noChangeArrowheads="1"/>
            </p:cNvSpPr>
            <p:nvPr/>
          </p:nvSpPr>
          <p:spPr bwMode="auto">
            <a:xfrm>
              <a:off x="458" y="1342"/>
              <a:ext cx="279" cy="1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r">
                <a:spcBef>
                  <a:spcPct val="0"/>
                </a:spcBef>
              </a:pPr>
              <a:r>
                <a:rPr lang="en-US" sz="1200"/>
                <a:t>7.0V</a:t>
              </a:r>
              <a:endParaRPr lang="en-US" sz="1200" baseline="-25000"/>
            </a:p>
          </p:txBody>
        </p:sp>
      </p:grpSp>
      <p:grpSp>
        <p:nvGrpSpPr>
          <p:cNvPr id="18437" name="Group 131"/>
          <p:cNvGrpSpPr>
            <a:grpSpLocks/>
          </p:cNvGrpSpPr>
          <p:nvPr/>
        </p:nvGrpSpPr>
        <p:grpSpPr bwMode="auto">
          <a:xfrm>
            <a:off x="2876550" y="1936750"/>
            <a:ext cx="2589213" cy="3762375"/>
            <a:chOff x="1812" y="1220"/>
            <a:chExt cx="1631" cy="2370"/>
          </a:xfrm>
        </p:grpSpPr>
        <p:sp>
          <p:nvSpPr>
            <p:cNvPr id="18477" name="Text Box 56"/>
            <p:cNvSpPr txBox="1">
              <a:spLocks noChangeArrowheads="1"/>
            </p:cNvSpPr>
            <p:nvPr/>
          </p:nvSpPr>
          <p:spPr bwMode="auto">
            <a:xfrm>
              <a:off x="2122" y="3400"/>
              <a:ext cx="1239" cy="1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200" b="1"/>
                <a:t>analog to digital</a:t>
              </a:r>
            </a:p>
          </p:txBody>
        </p:sp>
        <p:sp>
          <p:nvSpPr>
            <p:cNvPr id="18478" name="Text Box 59"/>
            <p:cNvSpPr txBox="1">
              <a:spLocks noChangeArrowheads="1"/>
            </p:cNvSpPr>
            <p:nvPr/>
          </p:nvSpPr>
          <p:spPr bwMode="auto">
            <a:xfrm>
              <a:off x="1857" y="1220"/>
              <a:ext cx="202" cy="1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r">
                <a:spcBef>
                  <a:spcPct val="0"/>
                </a:spcBef>
              </a:pPr>
              <a:r>
                <a:rPr lang="en-US" sz="1200"/>
                <a:t>4</a:t>
              </a:r>
            </a:p>
          </p:txBody>
        </p:sp>
        <p:sp>
          <p:nvSpPr>
            <p:cNvPr id="18479" name="Text Box 60"/>
            <p:cNvSpPr txBox="1">
              <a:spLocks noChangeArrowheads="1"/>
            </p:cNvSpPr>
            <p:nvPr/>
          </p:nvSpPr>
          <p:spPr bwMode="auto">
            <a:xfrm>
              <a:off x="1857" y="1505"/>
              <a:ext cx="202" cy="1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r">
                <a:spcBef>
                  <a:spcPct val="0"/>
                </a:spcBef>
              </a:pPr>
              <a:r>
                <a:rPr lang="en-US" sz="1200"/>
                <a:t>3</a:t>
              </a:r>
            </a:p>
          </p:txBody>
        </p:sp>
        <p:sp>
          <p:nvSpPr>
            <p:cNvPr id="18480" name="Text Box 61"/>
            <p:cNvSpPr txBox="1">
              <a:spLocks noChangeArrowheads="1"/>
            </p:cNvSpPr>
            <p:nvPr/>
          </p:nvSpPr>
          <p:spPr bwMode="auto">
            <a:xfrm>
              <a:off x="1857" y="1790"/>
              <a:ext cx="202" cy="1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r">
                <a:spcBef>
                  <a:spcPct val="0"/>
                </a:spcBef>
              </a:pPr>
              <a:r>
                <a:rPr lang="en-US" sz="1200"/>
                <a:t>2</a:t>
              </a:r>
            </a:p>
          </p:txBody>
        </p:sp>
        <p:sp>
          <p:nvSpPr>
            <p:cNvPr id="18481" name="Text Box 62"/>
            <p:cNvSpPr txBox="1">
              <a:spLocks noChangeArrowheads="1"/>
            </p:cNvSpPr>
            <p:nvPr/>
          </p:nvSpPr>
          <p:spPr bwMode="auto">
            <a:xfrm>
              <a:off x="1857" y="2075"/>
              <a:ext cx="202" cy="1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r">
                <a:spcBef>
                  <a:spcPct val="0"/>
                </a:spcBef>
              </a:pPr>
              <a:r>
                <a:rPr lang="en-US" sz="1200"/>
                <a:t>1</a:t>
              </a:r>
            </a:p>
          </p:txBody>
        </p:sp>
        <p:sp>
          <p:nvSpPr>
            <p:cNvPr id="18482" name="Line 63"/>
            <p:cNvSpPr>
              <a:spLocks noChangeShapeType="1"/>
            </p:cNvSpPr>
            <p:nvPr/>
          </p:nvSpPr>
          <p:spPr bwMode="auto">
            <a:xfrm>
              <a:off x="2081" y="1220"/>
              <a:ext cx="0" cy="11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83" name="Line 64"/>
            <p:cNvSpPr>
              <a:spLocks noChangeShapeType="1"/>
            </p:cNvSpPr>
            <p:nvPr/>
          </p:nvSpPr>
          <p:spPr bwMode="auto">
            <a:xfrm rot="5400000">
              <a:off x="2687" y="1754"/>
              <a:ext cx="0" cy="12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84" name="Freeform 65"/>
            <p:cNvSpPr>
              <a:spLocks/>
            </p:cNvSpPr>
            <p:nvPr/>
          </p:nvSpPr>
          <p:spPr bwMode="auto">
            <a:xfrm>
              <a:off x="2081" y="1238"/>
              <a:ext cx="1211" cy="932"/>
            </a:xfrm>
            <a:custGeom>
              <a:avLst/>
              <a:gdLst>
                <a:gd name="T0" fmla="*/ 0 w 1728"/>
                <a:gd name="T1" fmla="*/ 1412 h 1412"/>
                <a:gd name="T2" fmla="*/ 708 w 1728"/>
                <a:gd name="T3" fmla="*/ 144 h 1412"/>
                <a:gd name="T4" fmla="*/ 1080 w 1728"/>
                <a:gd name="T5" fmla="*/ 548 h 1412"/>
                <a:gd name="T6" fmla="*/ 1728 w 1728"/>
                <a:gd name="T7" fmla="*/ 836 h 141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28"/>
                <a:gd name="T13" fmla="*/ 0 h 1412"/>
                <a:gd name="T14" fmla="*/ 1728 w 1728"/>
                <a:gd name="T15" fmla="*/ 1412 h 141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28" h="1412">
                  <a:moveTo>
                    <a:pt x="0" y="1412"/>
                  </a:moveTo>
                  <a:cubicBezTo>
                    <a:pt x="118" y="1201"/>
                    <a:pt x="528" y="288"/>
                    <a:pt x="708" y="144"/>
                  </a:cubicBezTo>
                  <a:cubicBezTo>
                    <a:pt x="888" y="0"/>
                    <a:pt x="910" y="433"/>
                    <a:pt x="1080" y="548"/>
                  </a:cubicBezTo>
                  <a:cubicBezTo>
                    <a:pt x="1250" y="663"/>
                    <a:pt x="1620" y="788"/>
                    <a:pt x="1728" y="836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85" name="Line 66"/>
            <p:cNvSpPr>
              <a:spLocks noChangeShapeType="1"/>
            </p:cNvSpPr>
            <p:nvPr/>
          </p:nvSpPr>
          <p:spPr bwMode="auto">
            <a:xfrm>
              <a:off x="2081" y="2170"/>
              <a:ext cx="121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 type="none" w="sm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86" name="Line 67"/>
            <p:cNvSpPr>
              <a:spLocks noChangeShapeType="1"/>
            </p:cNvSpPr>
            <p:nvPr/>
          </p:nvSpPr>
          <p:spPr bwMode="auto">
            <a:xfrm>
              <a:off x="2081" y="1885"/>
              <a:ext cx="121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 type="none" w="sm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87" name="Line 68"/>
            <p:cNvSpPr>
              <a:spLocks noChangeShapeType="1"/>
            </p:cNvSpPr>
            <p:nvPr/>
          </p:nvSpPr>
          <p:spPr bwMode="auto">
            <a:xfrm>
              <a:off x="2081" y="1600"/>
              <a:ext cx="121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 type="none" w="sm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88" name="Line 69"/>
            <p:cNvSpPr>
              <a:spLocks noChangeShapeType="1"/>
            </p:cNvSpPr>
            <p:nvPr/>
          </p:nvSpPr>
          <p:spPr bwMode="auto">
            <a:xfrm>
              <a:off x="2081" y="1315"/>
              <a:ext cx="121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 type="none" w="sm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89" name="Line 70"/>
            <p:cNvSpPr>
              <a:spLocks noChangeShapeType="1"/>
            </p:cNvSpPr>
            <p:nvPr/>
          </p:nvSpPr>
          <p:spPr bwMode="auto">
            <a:xfrm>
              <a:off x="2283" y="2265"/>
              <a:ext cx="0" cy="19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90" name="Line 71"/>
            <p:cNvSpPr>
              <a:spLocks noChangeShapeType="1"/>
            </p:cNvSpPr>
            <p:nvPr/>
          </p:nvSpPr>
          <p:spPr bwMode="auto">
            <a:xfrm>
              <a:off x="2535" y="2265"/>
              <a:ext cx="0" cy="19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91" name="Line 72"/>
            <p:cNvSpPr>
              <a:spLocks noChangeShapeType="1"/>
            </p:cNvSpPr>
            <p:nvPr/>
          </p:nvSpPr>
          <p:spPr bwMode="auto">
            <a:xfrm>
              <a:off x="2787" y="2265"/>
              <a:ext cx="0" cy="19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92" name="Line 73"/>
            <p:cNvSpPr>
              <a:spLocks noChangeShapeType="1"/>
            </p:cNvSpPr>
            <p:nvPr/>
          </p:nvSpPr>
          <p:spPr bwMode="auto">
            <a:xfrm>
              <a:off x="3039" y="2265"/>
              <a:ext cx="0" cy="19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93" name="Text Box 74"/>
            <p:cNvSpPr txBox="1">
              <a:spLocks noChangeArrowheads="1"/>
            </p:cNvSpPr>
            <p:nvPr/>
          </p:nvSpPr>
          <p:spPr bwMode="auto">
            <a:xfrm>
              <a:off x="2059" y="2455"/>
              <a:ext cx="353" cy="1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200"/>
                <a:t>t1</a:t>
              </a:r>
            </a:p>
          </p:txBody>
        </p:sp>
        <p:sp>
          <p:nvSpPr>
            <p:cNvPr id="18494" name="Text Box 75"/>
            <p:cNvSpPr txBox="1">
              <a:spLocks noChangeArrowheads="1"/>
            </p:cNvSpPr>
            <p:nvPr/>
          </p:nvSpPr>
          <p:spPr bwMode="auto">
            <a:xfrm>
              <a:off x="2283" y="2455"/>
              <a:ext cx="353" cy="1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200"/>
                <a:t>t2</a:t>
              </a:r>
            </a:p>
          </p:txBody>
        </p:sp>
        <p:sp>
          <p:nvSpPr>
            <p:cNvPr id="18495" name="Text Box 76"/>
            <p:cNvSpPr txBox="1">
              <a:spLocks noChangeArrowheads="1"/>
            </p:cNvSpPr>
            <p:nvPr/>
          </p:nvSpPr>
          <p:spPr bwMode="auto">
            <a:xfrm>
              <a:off x="2585" y="2455"/>
              <a:ext cx="354" cy="1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200"/>
                <a:t>t3</a:t>
              </a:r>
            </a:p>
          </p:txBody>
        </p:sp>
        <p:sp>
          <p:nvSpPr>
            <p:cNvPr id="18496" name="Text Box 77"/>
            <p:cNvSpPr txBox="1">
              <a:spLocks noChangeArrowheads="1"/>
            </p:cNvSpPr>
            <p:nvPr/>
          </p:nvSpPr>
          <p:spPr bwMode="auto">
            <a:xfrm>
              <a:off x="2888" y="2473"/>
              <a:ext cx="353" cy="1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200"/>
                <a:t>t4</a:t>
              </a:r>
            </a:p>
          </p:txBody>
        </p:sp>
        <p:sp>
          <p:nvSpPr>
            <p:cNvPr id="18497" name="Text Box 78"/>
            <p:cNvSpPr txBox="1">
              <a:spLocks noChangeArrowheads="1"/>
            </p:cNvSpPr>
            <p:nvPr/>
          </p:nvSpPr>
          <p:spPr bwMode="auto">
            <a:xfrm>
              <a:off x="1980" y="2626"/>
              <a:ext cx="353" cy="1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r">
                <a:spcBef>
                  <a:spcPct val="0"/>
                </a:spcBef>
              </a:pPr>
              <a:r>
                <a:rPr lang="en-US" sz="1200"/>
                <a:t>0100</a:t>
              </a:r>
            </a:p>
          </p:txBody>
        </p:sp>
        <p:sp>
          <p:nvSpPr>
            <p:cNvPr id="18498" name="Text Box 79"/>
            <p:cNvSpPr txBox="1">
              <a:spLocks noChangeArrowheads="1"/>
            </p:cNvSpPr>
            <p:nvPr/>
          </p:nvSpPr>
          <p:spPr bwMode="auto">
            <a:xfrm>
              <a:off x="2283" y="2626"/>
              <a:ext cx="353" cy="1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r">
                <a:spcBef>
                  <a:spcPct val="0"/>
                </a:spcBef>
              </a:pPr>
              <a:r>
                <a:rPr lang="en-US" sz="1200"/>
                <a:t>1000</a:t>
              </a:r>
            </a:p>
          </p:txBody>
        </p:sp>
        <p:sp>
          <p:nvSpPr>
            <p:cNvPr id="18499" name="Text Box 80"/>
            <p:cNvSpPr txBox="1">
              <a:spLocks noChangeArrowheads="1"/>
            </p:cNvSpPr>
            <p:nvPr/>
          </p:nvSpPr>
          <p:spPr bwMode="auto">
            <a:xfrm>
              <a:off x="2585" y="2626"/>
              <a:ext cx="354" cy="1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r">
                <a:spcBef>
                  <a:spcPct val="0"/>
                </a:spcBef>
              </a:pPr>
              <a:r>
                <a:rPr lang="en-US" sz="1200"/>
                <a:t>0110</a:t>
              </a:r>
            </a:p>
          </p:txBody>
        </p:sp>
        <p:sp>
          <p:nvSpPr>
            <p:cNvPr id="18500" name="Text Box 81"/>
            <p:cNvSpPr txBox="1">
              <a:spLocks noChangeArrowheads="1"/>
            </p:cNvSpPr>
            <p:nvPr/>
          </p:nvSpPr>
          <p:spPr bwMode="auto">
            <a:xfrm>
              <a:off x="2888" y="2626"/>
              <a:ext cx="353" cy="1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r">
                <a:spcBef>
                  <a:spcPct val="0"/>
                </a:spcBef>
              </a:pPr>
              <a:r>
                <a:rPr lang="en-US" sz="1200"/>
                <a:t>0101</a:t>
              </a:r>
            </a:p>
          </p:txBody>
        </p:sp>
        <p:sp>
          <p:nvSpPr>
            <p:cNvPr id="18501" name="Text Box 82"/>
            <p:cNvSpPr txBox="1">
              <a:spLocks noChangeArrowheads="1"/>
            </p:cNvSpPr>
            <p:nvPr/>
          </p:nvSpPr>
          <p:spPr bwMode="auto">
            <a:xfrm>
              <a:off x="3090" y="2378"/>
              <a:ext cx="353" cy="1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200"/>
                <a:t>time</a:t>
              </a:r>
            </a:p>
          </p:txBody>
        </p:sp>
        <p:sp>
          <p:nvSpPr>
            <p:cNvPr id="18502" name="Text Box 83"/>
            <p:cNvSpPr txBox="1">
              <a:spLocks noChangeArrowheads="1"/>
            </p:cNvSpPr>
            <p:nvPr/>
          </p:nvSpPr>
          <p:spPr bwMode="auto">
            <a:xfrm rot="-5400000">
              <a:off x="1390" y="1797"/>
              <a:ext cx="1007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200"/>
                <a:t>analog input (V)</a:t>
              </a:r>
            </a:p>
          </p:txBody>
        </p:sp>
        <p:sp>
          <p:nvSpPr>
            <p:cNvPr id="18503" name="Text Box 84"/>
            <p:cNvSpPr txBox="1">
              <a:spLocks noChangeArrowheads="1"/>
            </p:cNvSpPr>
            <p:nvPr/>
          </p:nvSpPr>
          <p:spPr bwMode="auto">
            <a:xfrm>
              <a:off x="2038" y="2756"/>
              <a:ext cx="1312" cy="1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200"/>
                <a:t>Digital output</a:t>
              </a:r>
            </a:p>
          </p:txBody>
        </p:sp>
        <p:sp>
          <p:nvSpPr>
            <p:cNvPr id="18504" name="Freeform 85"/>
            <p:cNvSpPr>
              <a:spLocks/>
            </p:cNvSpPr>
            <p:nvPr/>
          </p:nvSpPr>
          <p:spPr bwMode="auto">
            <a:xfrm>
              <a:off x="2283" y="1856"/>
              <a:ext cx="151" cy="760"/>
            </a:xfrm>
            <a:custGeom>
              <a:avLst/>
              <a:gdLst>
                <a:gd name="T0" fmla="*/ 0 w 216"/>
                <a:gd name="T1" fmla="*/ 0 h 1152"/>
                <a:gd name="T2" fmla="*/ 216 w 216"/>
                <a:gd name="T3" fmla="*/ 504 h 1152"/>
                <a:gd name="T4" fmla="*/ 0 w 216"/>
                <a:gd name="T5" fmla="*/ 1152 h 1152"/>
                <a:gd name="T6" fmla="*/ 0 60000 65536"/>
                <a:gd name="T7" fmla="*/ 0 60000 65536"/>
                <a:gd name="T8" fmla="*/ 0 60000 65536"/>
                <a:gd name="T9" fmla="*/ 0 w 216"/>
                <a:gd name="T10" fmla="*/ 0 h 1152"/>
                <a:gd name="T11" fmla="*/ 216 w 216"/>
                <a:gd name="T12" fmla="*/ 1152 h 11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" h="1152">
                  <a:moveTo>
                    <a:pt x="0" y="0"/>
                  </a:moveTo>
                  <a:cubicBezTo>
                    <a:pt x="108" y="156"/>
                    <a:pt x="216" y="312"/>
                    <a:pt x="216" y="504"/>
                  </a:cubicBezTo>
                  <a:cubicBezTo>
                    <a:pt x="216" y="696"/>
                    <a:pt x="108" y="924"/>
                    <a:pt x="0" y="1152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prstDash val="sysDot"/>
              <a:round/>
              <a:headEnd/>
              <a:tailEnd type="arrow" w="sm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05" name="Freeform 86"/>
            <p:cNvSpPr>
              <a:spLocks/>
            </p:cNvSpPr>
            <p:nvPr/>
          </p:nvSpPr>
          <p:spPr bwMode="auto">
            <a:xfrm>
              <a:off x="2434" y="1476"/>
              <a:ext cx="252" cy="1140"/>
            </a:xfrm>
            <a:custGeom>
              <a:avLst/>
              <a:gdLst>
                <a:gd name="T0" fmla="*/ 0 w 216"/>
                <a:gd name="T1" fmla="*/ 0 h 1152"/>
                <a:gd name="T2" fmla="*/ 216 w 216"/>
                <a:gd name="T3" fmla="*/ 504 h 1152"/>
                <a:gd name="T4" fmla="*/ 0 w 216"/>
                <a:gd name="T5" fmla="*/ 1152 h 1152"/>
                <a:gd name="T6" fmla="*/ 0 60000 65536"/>
                <a:gd name="T7" fmla="*/ 0 60000 65536"/>
                <a:gd name="T8" fmla="*/ 0 60000 65536"/>
                <a:gd name="T9" fmla="*/ 0 w 216"/>
                <a:gd name="T10" fmla="*/ 0 h 1152"/>
                <a:gd name="T11" fmla="*/ 216 w 216"/>
                <a:gd name="T12" fmla="*/ 1152 h 11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" h="1152">
                  <a:moveTo>
                    <a:pt x="0" y="0"/>
                  </a:moveTo>
                  <a:cubicBezTo>
                    <a:pt x="108" y="156"/>
                    <a:pt x="216" y="312"/>
                    <a:pt x="216" y="504"/>
                  </a:cubicBezTo>
                  <a:cubicBezTo>
                    <a:pt x="216" y="696"/>
                    <a:pt x="108" y="924"/>
                    <a:pt x="0" y="1152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prstDash val="sysDot"/>
              <a:round/>
              <a:headEnd/>
              <a:tailEnd type="arrow" w="sm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06" name="Freeform 87"/>
            <p:cNvSpPr>
              <a:spLocks/>
            </p:cNvSpPr>
            <p:nvPr/>
          </p:nvSpPr>
          <p:spPr bwMode="auto">
            <a:xfrm>
              <a:off x="2787" y="1571"/>
              <a:ext cx="252" cy="1045"/>
            </a:xfrm>
            <a:custGeom>
              <a:avLst/>
              <a:gdLst>
                <a:gd name="T0" fmla="*/ 0 w 216"/>
                <a:gd name="T1" fmla="*/ 0 h 1152"/>
                <a:gd name="T2" fmla="*/ 216 w 216"/>
                <a:gd name="T3" fmla="*/ 504 h 1152"/>
                <a:gd name="T4" fmla="*/ 0 w 216"/>
                <a:gd name="T5" fmla="*/ 1152 h 1152"/>
                <a:gd name="T6" fmla="*/ 0 60000 65536"/>
                <a:gd name="T7" fmla="*/ 0 60000 65536"/>
                <a:gd name="T8" fmla="*/ 0 60000 65536"/>
                <a:gd name="T9" fmla="*/ 0 w 216"/>
                <a:gd name="T10" fmla="*/ 0 h 1152"/>
                <a:gd name="T11" fmla="*/ 216 w 216"/>
                <a:gd name="T12" fmla="*/ 1152 h 11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" h="1152">
                  <a:moveTo>
                    <a:pt x="0" y="0"/>
                  </a:moveTo>
                  <a:cubicBezTo>
                    <a:pt x="108" y="156"/>
                    <a:pt x="216" y="312"/>
                    <a:pt x="216" y="504"/>
                  </a:cubicBezTo>
                  <a:cubicBezTo>
                    <a:pt x="216" y="696"/>
                    <a:pt x="108" y="924"/>
                    <a:pt x="0" y="1152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prstDash val="sysDot"/>
              <a:round/>
              <a:headEnd/>
              <a:tailEnd type="arrow" w="sm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07" name="Freeform 88"/>
            <p:cNvSpPr>
              <a:spLocks/>
            </p:cNvSpPr>
            <p:nvPr/>
          </p:nvSpPr>
          <p:spPr bwMode="auto">
            <a:xfrm>
              <a:off x="3140" y="1761"/>
              <a:ext cx="202" cy="855"/>
            </a:xfrm>
            <a:custGeom>
              <a:avLst/>
              <a:gdLst>
                <a:gd name="T0" fmla="*/ 0 w 216"/>
                <a:gd name="T1" fmla="*/ 0 h 1152"/>
                <a:gd name="T2" fmla="*/ 216 w 216"/>
                <a:gd name="T3" fmla="*/ 504 h 1152"/>
                <a:gd name="T4" fmla="*/ 0 w 216"/>
                <a:gd name="T5" fmla="*/ 1152 h 1152"/>
                <a:gd name="T6" fmla="*/ 0 60000 65536"/>
                <a:gd name="T7" fmla="*/ 0 60000 65536"/>
                <a:gd name="T8" fmla="*/ 0 60000 65536"/>
                <a:gd name="T9" fmla="*/ 0 w 216"/>
                <a:gd name="T10" fmla="*/ 0 h 1152"/>
                <a:gd name="T11" fmla="*/ 216 w 216"/>
                <a:gd name="T12" fmla="*/ 1152 h 11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" h="1152">
                  <a:moveTo>
                    <a:pt x="0" y="0"/>
                  </a:moveTo>
                  <a:cubicBezTo>
                    <a:pt x="108" y="156"/>
                    <a:pt x="216" y="312"/>
                    <a:pt x="216" y="504"/>
                  </a:cubicBezTo>
                  <a:cubicBezTo>
                    <a:pt x="216" y="696"/>
                    <a:pt x="108" y="924"/>
                    <a:pt x="0" y="1152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prstDash val="sysDot"/>
              <a:round/>
              <a:headEnd/>
              <a:tailEnd type="arrow" w="sm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438" name="Group 132"/>
          <p:cNvGrpSpPr>
            <a:grpSpLocks/>
          </p:cNvGrpSpPr>
          <p:nvPr/>
        </p:nvGrpSpPr>
        <p:grpSpPr bwMode="auto">
          <a:xfrm>
            <a:off x="5911850" y="1936750"/>
            <a:ext cx="2687638" cy="3762375"/>
            <a:chOff x="3724" y="1220"/>
            <a:chExt cx="1693" cy="2370"/>
          </a:xfrm>
        </p:grpSpPr>
        <p:sp>
          <p:nvSpPr>
            <p:cNvPr id="18439" name="Text Box 90"/>
            <p:cNvSpPr txBox="1">
              <a:spLocks noChangeArrowheads="1"/>
            </p:cNvSpPr>
            <p:nvPr/>
          </p:nvSpPr>
          <p:spPr bwMode="auto">
            <a:xfrm>
              <a:off x="3865" y="3400"/>
              <a:ext cx="1437" cy="1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200" b="1"/>
                <a:t>digital to analog</a:t>
              </a:r>
            </a:p>
          </p:txBody>
        </p:sp>
        <p:sp>
          <p:nvSpPr>
            <p:cNvPr id="18440" name="Text Box 93"/>
            <p:cNvSpPr txBox="1">
              <a:spLocks noChangeArrowheads="1"/>
            </p:cNvSpPr>
            <p:nvPr/>
          </p:nvSpPr>
          <p:spPr bwMode="auto">
            <a:xfrm>
              <a:off x="3803" y="1220"/>
              <a:ext cx="202" cy="1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r">
                <a:spcBef>
                  <a:spcPct val="0"/>
                </a:spcBef>
              </a:pPr>
              <a:r>
                <a:rPr lang="en-US" sz="1200"/>
                <a:t>4</a:t>
              </a:r>
            </a:p>
          </p:txBody>
        </p:sp>
        <p:sp>
          <p:nvSpPr>
            <p:cNvPr id="18441" name="Text Box 94"/>
            <p:cNvSpPr txBox="1">
              <a:spLocks noChangeArrowheads="1"/>
            </p:cNvSpPr>
            <p:nvPr/>
          </p:nvSpPr>
          <p:spPr bwMode="auto">
            <a:xfrm>
              <a:off x="3803" y="1505"/>
              <a:ext cx="202" cy="1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r">
                <a:spcBef>
                  <a:spcPct val="0"/>
                </a:spcBef>
              </a:pPr>
              <a:r>
                <a:rPr lang="en-US" sz="1200"/>
                <a:t>3</a:t>
              </a:r>
            </a:p>
          </p:txBody>
        </p:sp>
        <p:sp>
          <p:nvSpPr>
            <p:cNvPr id="18442" name="Text Box 95"/>
            <p:cNvSpPr txBox="1">
              <a:spLocks noChangeArrowheads="1"/>
            </p:cNvSpPr>
            <p:nvPr/>
          </p:nvSpPr>
          <p:spPr bwMode="auto">
            <a:xfrm>
              <a:off x="3803" y="1790"/>
              <a:ext cx="202" cy="1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r">
                <a:spcBef>
                  <a:spcPct val="0"/>
                </a:spcBef>
              </a:pPr>
              <a:r>
                <a:rPr lang="en-US" sz="1200"/>
                <a:t>2</a:t>
              </a:r>
            </a:p>
          </p:txBody>
        </p:sp>
        <p:sp>
          <p:nvSpPr>
            <p:cNvPr id="18443" name="Text Box 96"/>
            <p:cNvSpPr txBox="1">
              <a:spLocks noChangeArrowheads="1"/>
            </p:cNvSpPr>
            <p:nvPr/>
          </p:nvSpPr>
          <p:spPr bwMode="auto">
            <a:xfrm>
              <a:off x="3803" y="2075"/>
              <a:ext cx="202" cy="1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r">
                <a:spcBef>
                  <a:spcPct val="0"/>
                </a:spcBef>
              </a:pPr>
              <a:r>
                <a:rPr lang="en-US" sz="1200"/>
                <a:t>1</a:t>
              </a:r>
            </a:p>
          </p:txBody>
        </p:sp>
        <p:sp>
          <p:nvSpPr>
            <p:cNvPr id="18444" name="Line 97"/>
            <p:cNvSpPr>
              <a:spLocks noChangeShapeType="1"/>
            </p:cNvSpPr>
            <p:nvPr/>
          </p:nvSpPr>
          <p:spPr bwMode="auto">
            <a:xfrm>
              <a:off x="4028" y="1220"/>
              <a:ext cx="0" cy="114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45" name="Line 98"/>
            <p:cNvSpPr>
              <a:spLocks noChangeShapeType="1"/>
            </p:cNvSpPr>
            <p:nvPr/>
          </p:nvSpPr>
          <p:spPr bwMode="auto">
            <a:xfrm rot="5400000">
              <a:off x="4633" y="1755"/>
              <a:ext cx="0" cy="121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46" name="Line 99"/>
            <p:cNvSpPr>
              <a:spLocks noChangeShapeType="1"/>
            </p:cNvSpPr>
            <p:nvPr/>
          </p:nvSpPr>
          <p:spPr bwMode="auto">
            <a:xfrm>
              <a:off x="4028" y="2170"/>
              <a:ext cx="121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 type="none" w="sm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47" name="Line 100"/>
            <p:cNvSpPr>
              <a:spLocks noChangeShapeType="1"/>
            </p:cNvSpPr>
            <p:nvPr/>
          </p:nvSpPr>
          <p:spPr bwMode="auto">
            <a:xfrm>
              <a:off x="4028" y="1885"/>
              <a:ext cx="121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 type="none" w="sm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48" name="Line 101"/>
            <p:cNvSpPr>
              <a:spLocks noChangeShapeType="1"/>
            </p:cNvSpPr>
            <p:nvPr/>
          </p:nvSpPr>
          <p:spPr bwMode="auto">
            <a:xfrm>
              <a:off x="4028" y="1600"/>
              <a:ext cx="121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 type="none" w="sm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49" name="Line 102"/>
            <p:cNvSpPr>
              <a:spLocks noChangeShapeType="1"/>
            </p:cNvSpPr>
            <p:nvPr/>
          </p:nvSpPr>
          <p:spPr bwMode="auto">
            <a:xfrm>
              <a:off x="4028" y="1315"/>
              <a:ext cx="121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 type="none" w="sm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50" name="Line 103"/>
            <p:cNvSpPr>
              <a:spLocks noChangeShapeType="1"/>
            </p:cNvSpPr>
            <p:nvPr/>
          </p:nvSpPr>
          <p:spPr bwMode="auto">
            <a:xfrm>
              <a:off x="4229" y="2265"/>
              <a:ext cx="0" cy="19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51" name="Line 104"/>
            <p:cNvSpPr>
              <a:spLocks noChangeShapeType="1"/>
            </p:cNvSpPr>
            <p:nvPr/>
          </p:nvSpPr>
          <p:spPr bwMode="auto">
            <a:xfrm>
              <a:off x="4481" y="2265"/>
              <a:ext cx="0" cy="19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52" name="Line 105"/>
            <p:cNvSpPr>
              <a:spLocks noChangeShapeType="1"/>
            </p:cNvSpPr>
            <p:nvPr/>
          </p:nvSpPr>
          <p:spPr bwMode="auto">
            <a:xfrm>
              <a:off x="4733" y="2265"/>
              <a:ext cx="0" cy="19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53" name="Line 106"/>
            <p:cNvSpPr>
              <a:spLocks noChangeShapeType="1"/>
            </p:cNvSpPr>
            <p:nvPr/>
          </p:nvSpPr>
          <p:spPr bwMode="auto">
            <a:xfrm>
              <a:off x="4986" y="2265"/>
              <a:ext cx="0" cy="19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54" name="Line 107"/>
            <p:cNvSpPr>
              <a:spLocks noChangeShapeType="1"/>
            </p:cNvSpPr>
            <p:nvPr/>
          </p:nvSpPr>
          <p:spPr bwMode="auto">
            <a:xfrm flipV="1">
              <a:off x="4229" y="1885"/>
              <a:ext cx="0" cy="4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55" name="Line 108"/>
            <p:cNvSpPr>
              <a:spLocks noChangeShapeType="1"/>
            </p:cNvSpPr>
            <p:nvPr/>
          </p:nvSpPr>
          <p:spPr bwMode="auto">
            <a:xfrm>
              <a:off x="4229" y="1885"/>
              <a:ext cx="25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56" name="Line 109"/>
            <p:cNvSpPr>
              <a:spLocks noChangeShapeType="1"/>
            </p:cNvSpPr>
            <p:nvPr/>
          </p:nvSpPr>
          <p:spPr bwMode="auto">
            <a:xfrm flipV="1">
              <a:off x="4481" y="1315"/>
              <a:ext cx="0" cy="5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57" name="Line 110"/>
            <p:cNvSpPr>
              <a:spLocks noChangeShapeType="1"/>
            </p:cNvSpPr>
            <p:nvPr/>
          </p:nvSpPr>
          <p:spPr bwMode="auto">
            <a:xfrm>
              <a:off x="4481" y="1315"/>
              <a:ext cx="25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58" name="Line 111"/>
            <p:cNvSpPr>
              <a:spLocks noChangeShapeType="1"/>
            </p:cNvSpPr>
            <p:nvPr/>
          </p:nvSpPr>
          <p:spPr bwMode="auto">
            <a:xfrm>
              <a:off x="4733" y="1315"/>
              <a:ext cx="0" cy="28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59" name="Line 112"/>
            <p:cNvSpPr>
              <a:spLocks noChangeShapeType="1"/>
            </p:cNvSpPr>
            <p:nvPr/>
          </p:nvSpPr>
          <p:spPr bwMode="auto">
            <a:xfrm>
              <a:off x="4733" y="1600"/>
              <a:ext cx="25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60" name="Line 113"/>
            <p:cNvSpPr>
              <a:spLocks noChangeShapeType="1"/>
            </p:cNvSpPr>
            <p:nvPr/>
          </p:nvSpPr>
          <p:spPr bwMode="auto">
            <a:xfrm>
              <a:off x="4986" y="1600"/>
              <a:ext cx="0" cy="14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61" name="Line 114"/>
            <p:cNvSpPr>
              <a:spLocks noChangeShapeType="1"/>
            </p:cNvSpPr>
            <p:nvPr/>
          </p:nvSpPr>
          <p:spPr bwMode="auto">
            <a:xfrm>
              <a:off x="4986" y="1742"/>
              <a:ext cx="20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62" name="Text Box 115"/>
            <p:cNvSpPr txBox="1">
              <a:spLocks noChangeArrowheads="1"/>
            </p:cNvSpPr>
            <p:nvPr/>
          </p:nvSpPr>
          <p:spPr bwMode="auto">
            <a:xfrm>
              <a:off x="3927" y="2627"/>
              <a:ext cx="353" cy="1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r">
                <a:spcBef>
                  <a:spcPct val="0"/>
                </a:spcBef>
              </a:pPr>
              <a:r>
                <a:rPr lang="en-US" sz="1200"/>
                <a:t>0100</a:t>
              </a:r>
            </a:p>
          </p:txBody>
        </p:sp>
        <p:sp>
          <p:nvSpPr>
            <p:cNvPr id="18463" name="Text Box 116"/>
            <p:cNvSpPr txBox="1">
              <a:spLocks noChangeArrowheads="1"/>
            </p:cNvSpPr>
            <p:nvPr/>
          </p:nvSpPr>
          <p:spPr bwMode="auto">
            <a:xfrm>
              <a:off x="4229" y="2627"/>
              <a:ext cx="353" cy="1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r">
                <a:spcBef>
                  <a:spcPct val="0"/>
                </a:spcBef>
              </a:pPr>
              <a:r>
                <a:rPr lang="en-US" sz="1200"/>
                <a:t>1000</a:t>
              </a:r>
            </a:p>
          </p:txBody>
        </p:sp>
        <p:sp>
          <p:nvSpPr>
            <p:cNvPr id="18464" name="Text Box 117"/>
            <p:cNvSpPr txBox="1">
              <a:spLocks noChangeArrowheads="1"/>
            </p:cNvSpPr>
            <p:nvPr/>
          </p:nvSpPr>
          <p:spPr bwMode="auto">
            <a:xfrm>
              <a:off x="4532" y="2627"/>
              <a:ext cx="353" cy="1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r">
                <a:spcBef>
                  <a:spcPct val="0"/>
                </a:spcBef>
              </a:pPr>
              <a:r>
                <a:rPr lang="en-US" sz="1200"/>
                <a:t>0110</a:t>
              </a:r>
            </a:p>
          </p:txBody>
        </p:sp>
        <p:sp>
          <p:nvSpPr>
            <p:cNvPr id="18465" name="Text Box 118"/>
            <p:cNvSpPr txBox="1">
              <a:spLocks noChangeArrowheads="1"/>
            </p:cNvSpPr>
            <p:nvPr/>
          </p:nvSpPr>
          <p:spPr bwMode="auto">
            <a:xfrm>
              <a:off x="4834" y="2627"/>
              <a:ext cx="353" cy="1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r">
                <a:spcBef>
                  <a:spcPct val="0"/>
                </a:spcBef>
              </a:pPr>
              <a:r>
                <a:rPr lang="en-US" sz="1200"/>
                <a:t>0101</a:t>
              </a:r>
            </a:p>
          </p:txBody>
        </p:sp>
        <p:sp>
          <p:nvSpPr>
            <p:cNvPr id="18466" name="Text Box 119"/>
            <p:cNvSpPr txBox="1">
              <a:spLocks noChangeArrowheads="1"/>
            </p:cNvSpPr>
            <p:nvPr/>
          </p:nvSpPr>
          <p:spPr bwMode="auto">
            <a:xfrm>
              <a:off x="4005" y="2436"/>
              <a:ext cx="353" cy="1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200"/>
                <a:t>t1</a:t>
              </a:r>
            </a:p>
          </p:txBody>
        </p:sp>
        <p:sp>
          <p:nvSpPr>
            <p:cNvPr id="18467" name="Text Box 120"/>
            <p:cNvSpPr txBox="1">
              <a:spLocks noChangeArrowheads="1"/>
            </p:cNvSpPr>
            <p:nvPr/>
          </p:nvSpPr>
          <p:spPr bwMode="auto">
            <a:xfrm>
              <a:off x="4280" y="2436"/>
              <a:ext cx="353" cy="1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200"/>
                <a:t>t2</a:t>
              </a:r>
            </a:p>
          </p:txBody>
        </p:sp>
        <p:sp>
          <p:nvSpPr>
            <p:cNvPr id="18468" name="Text Box 121"/>
            <p:cNvSpPr txBox="1">
              <a:spLocks noChangeArrowheads="1"/>
            </p:cNvSpPr>
            <p:nvPr/>
          </p:nvSpPr>
          <p:spPr bwMode="auto">
            <a:xfrm>
              <a:off x="4582" y="2436"/>
              <a:ext cx="353" cy="1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200"/>
                <a:t>t3</a:t>
              </a:r>
            </a:p>
          </p:txBody>
        </p:sp>
        <p:sp>
          <p:nvSpPr>
            <p:cNvPr id="18469" name="Text Box 122"/>
            <p:cNvSpPr txBox="1">
              <a:spLocks noChangeArrowheads="1"/>
            </p:cNvSpPr>
            <p:nvPr/>
          </p:nvSpPr>
          <p:spPr bwMode="auto">
            <a:xfrm>
              <a:off x="4885" y="2454"/>
              <a:ext cx="353" cy="1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200"/>
                <a:t>t4</a:t>
              </a:r>
            </a:p>
          </p:txBody>
        </p:sp>
        <p:sp>
          <p:nvSpPr>
            <p:cNvPr id="18470" name="Text Box 123"/>
            <p:cNvSpPr txBox="1">
              <a:spLocks noChangeArrowheads="1"/>
            </p:cNvSpPr>
            <p:nvPr/>
          </p:nvSpPr>
          <p:spPr bwMode="auto">
            <a:xfrm>
              <a:off x="5064" y="2386"/>
              <a:ext cx="353" cy="1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200"/>
                <a:t>time</a:t>
              </a:r>
            </a:p>
          </p:txBody>
        </p:sp>
        <p:sp>
          <p:nvSpPr>
            <p:cNvPr id="18471" name="Text Box 124"/>
            <p:cNvSpPr txBox="1">
              <a:spLocks noChangeArrowheads="1"/>
            </p:cNvSpPr>
            <p:nvPr/>
          </p:nvSpPr>
          <p:spPr bwMode="auto">
            <a:xfrm rot="-5400000">
              <a:off x="3297" y="1802"/>
              <a:ext cx="1024" cy="1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200"/>
                <a:t>analog output (V)</a:t>
              </a:r>
            </a:p>
          </p:txBody>
        </p:sp>
        <p:sp>
          <p:nvSpPr>
            <p:cNvPr id="18472" name="Text Box 125"/>
            <p:cNvSpPr txBox="1">
              <a:spLocks noChangeArrowheads="1"/>
            </p:cNvSpPr>
            <p:nvPr/>
          </p:nvSpPr>
          <p:spPr bwMode="auto">
            <a:xfrm>
              <a:off x="3934" y="2738"/>
              <a:ext cx="1311" cy="1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sm" len="med"/>
            </a:ln>
          </p:spPr>
          <p:txBody>
            <a:bodyPr lIns="0" tIns="0" rIns="0" bIns="0"/>
            <a:lstStyle/>
            <a:p>
              <a:pPr algn="ctr">
                <a:spcBef>
                  <a:spcPct val="0"/>
                </a:spcBef>
              </a:pPr>
              <a:r>
                <a:rPr lang="en-US" sz="1200"/>
                <a:t>Digital input</a:t>
              </a:r>
            </a:p>
          </p:txBody>
        </p:sp>
        <p:sp>
          <p:nvSpPr>
            <p:cNvPr id="18473" name="Freeform 126"/>
            <p:cNvSpPr>
              <a:spLocks/>
            </p:cNvSpPr>
            <p:nvPr/>
          </p:nvSpPr>
          <p:spPr bwMode="auto">
            <a:xfrm>
              <a:off x="4229" y="1885"/>
              <a:ext cx="152" cy="712"/>
            </a:xfrm>
            <a:custGeom>
              <a:avLst/>
              <a:gdLst>
                <a:gd name="T0" fmla="*/ 0 w 216"/>
                <a:gd name="T1" fmla="*/ 1080 h 1080"/>
                <a:gd name="T2" fmla="*/ 216 w 216"/>
                <a:gd name="T3" fmla="*/ 360 h 1080"/>
                <a:gd name="T4" fmla="*/ 0 w 216"/>
                <a:gd name="T5" fmla="*/ 0 h 1080"/>
                <a:gd name="T6" fmla="*/ 0 60000 65536"/>
                <a:gd name="T7" fmla="*/ 0 60000 65536"/>
                <a:gd name="T8" fmla="*/ 0 60000 65536"/>
                <a:gd name="T9" fmla="*/ 0 w 216"/>
                <a:gd name="T10" fmla="*/ 0 h 1080"/>
                <a:gd name="T11" fmla="*/ 216 w 216"/>
                <a:gd name="T12" fmla="*/ 1080 h 10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" h="1080">
                  <a:moveTo>
                    <a:pt x="0" y="1080"/>
                  </a:moveTo>
                  <a:cubicBezTo>
                    <a:pt x="108" y="810"/>
                    <a:pt x="216" y="540"/>
                    <a:pt x="216" y="360"/>
                  </a:cubicBezTo>
                  <a:cubicBezTo>
                    <a:pt x="216" y="180"/>
                    <a:pt x="108" y="90"/>
                    <a:pt x="0" y="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prstDash val="sysDot"/>
              <a:round/>
              <a:headEnd/>
              <a:tailEnd type="arrow" w="sm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74" name="Freeform 127"/>
            <p:cNvSpPr>
              <a:spLocks/>
            </p:cNvSpPr>
            <p:nvPr/>
          </p:nvSpPr>
          <p:spPr bwMode="auto">
            <a:xfrm>
              <a:off x="4481" y="1315"/>
              <a:ext cx="152" cy="1282"/>
            </a:xfrm>
            <a:custGeom>
              <a:avLst/>
              <a:gdLst>
                <a:gd name="T0" fmla="*/ 0 w 216"/>
                <a:gd name="T1" fmla="*/ 1080 h 1080"/>
                <a:gd name="T2" fmla="*/ 216 w 216"/>
                <a:gd name="T3" fmla="*/ 360 h 1080"/>
                <a:gd name="T4" fmla="*/ 0 w 216"/>
                <a:gd name="T5" fmla="*/ 0 h 1080"/>
                <a:gd name="T6" fmla="*/ 0 60000 65536"/>
                <a:gd name="T7" fmla="*/ 0 60000 65536"/>
                <a:gd name="T8" fmla="*/ 0 60000 65536"/>
                <a:gd name="T9" fmla="*/ 0 w 216"/>
                <a:gd name="T10" fmla="*/ 0 h 1080"/>
                <a:gd name="T11" fmla="*/ 216 w 216"/>
                <a:gd name="T12" fmla="*/ 1080 h 10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" h="1080">
                  <a:moveTo>
                    <a:pt x="0" y="1080"/>
                  </a:moveTo>
                  <a:cubicBezTo>
                    <a:pt x="108" y="810"/>
                    <a:pt x="216" y="540"/>
                    <a:pt x="216" y="360"/>
                  </a:cubicBezTo>
                  <a:cubicBezTo>
                    <a:pt x="216" y="180"/>
                    <a:pt x="108" y="90"/>
                    <a:pt x="0" y="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prstDash val="sysDot"/>
              <a:round/>
              <a:headEnd/>
              <a:tailEnd type="arrow" w="sm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75" name="Freeform 128"/>
            <p:cNvSpPr>
              <a:spLocks/>
            </p:cNvSpPr>
            <p:nvPr/>
          </p:nvSpPr>
          <p:spPr bwMode="auto">
            <a:xfrm>
              <a:off x="4683" y="1600"/>
              <a:ext cx="252" cy="997"/>
            </a:xfrm>
            <a:custGeom>
              <a:avLst/>
              <a:gdLst>
                <a:gd name="T0" fmla="*/ 0 w 216"/>
                <a:gd name="T1" fmla="*/ 1080 h 1080"/>
                <a:gd name="T2" fmla="*/ 216 w 216"/>
                <a:gd name="T3" fmla="*/ 360 h 1080"/>
                <a:gd name="T4" fmla="*/ 0 w 216"/>
                <a:gd name="T5" fmla="*/ 0 h 1080"/>
                <a:gd name="T6" fmla="*/ 0 60000 65536"/>
                <a:gd name="T7" fmla="*/ 0 60000 65536"/>
                <a:gd name="T8" fmla="*/ 0 60000 65536"/>
                <a:gd name="T9" fmla="*/ 0 w 216"/>
                <a:gd name="T10" fmla="*/ 0 h 1080"/>
                <a:gd name="T11" fmla="*/ 216 w 216"/>
                <a:gd name="T12" fmla="*/ 1080 h 10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" h="1080">
                  <a:moveTo>
                    <a:pt x="0" y="1080"/>
                  </a:moveTo>
                  <a:cubicBezTo>
                    <a:pt x="108" y="810"/>
                    <a:pt x="216" y="540"/>
                    <a:pt x="216" y="360"/>
                  </a:cubicBezTo>
                  <a:cubicBezTo>
                    <a:pt x="216" y="180"/>
                    <a:pt x="108" y="90"/>
                    <a:pt x="0" y="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prstDash val="sysDot"/>
              <a:round/>
              <a:headEnd/>
              <a:tailEnd type="arrow" w="sm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476" name="Freeform 129"/>
            <p:cNvSpPr>
              <a:spLocks/>
            </p:cNvSpPr>
            <p:nvPr/>
          </p:nvSpPr>
          <p:spPr bwMode="auto">
            <a:xfrm>
              <a:off x="5036" y="1742"/>
              <a:ext cx="252" cy="855"/>
            </a:xfrm>
            <a:custGeom>
              <a:avLst/>
              <a:gdLst>
                <a:gd name="T0" fmla="*/ 0 w 216"/>
                <a:gd name="T1" fmla="*/ 1080 h 1080"/>
                <a:gd name="T2" fmla="*/ 216 w 216"/>
                <a:gd name="T3" fmla="*/ 360 h 1080"/>
                <a:gd name="T4" fmla="*/ 0 w 216"/>
                <a:gd name="T5" fmla="*/ 0 h 1080"/>
                <a:gd name="T6" fmla="*/ 0 60000 65536"/>
                <a:gd name="T7" fmla="*/ 0 60000 65536"/>
                <a:gd name="T8" fmla="*/ 0 60000 65536"/>
                <a:gd name="T9" fmla="*/ 0 w 216"/>
                <a:gd name="T10" fmla="*/ 0 h 1080"/>
                <a:gd name="T11" fmla="*/ 216 w 216"/>
                <a:gd name="T12" fmla="*/ 1080 h 10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" h="1080">
                  <a:moveTo>
                    <a:pt x="0" y="1080"/>
                  </a:moveTo>
                  <a:cubicBezTo>
                    <a:pt x="108" y="810"/>
                    <a:pt x="216" y="540"/>
                    <a:pt x="216" y="360"/>
                  </a:cubicBezTo>
                  <a:cubicBezTo>
                    <a:pt x="216" y="180"/>
                    <a:pt x="108" y="90"/>
                    <a:pt x="0" y="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prstDash val="sysDot"/>
              <a:round/>
              <a:headEnd/>
              <a:tailEnd type="arrow" w="sm" len="med"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Contemporary">
  <a:themeElements>
    <a:clrScheme name="Contemporary 2">
      <a:dk1>
        <a:srgbClr val="000000"/>
      </a:dk1>
      <a:lt1>
        <a:srgbClr val="FFFFFF"/>
      </a:lt1>
      <a:dk2>
        <a:srgbClr val="000000"/>
      </a:dk2>
      <a:lt2>
        <a:srgbClr val="868686"/>
      </a:lt2>
      <a:accent1>
        <a:srgbClr val="3366FF"/>
      </a:accent1>
      <a:accent2>
        <a:srgbClr val="009900"/>
      </a:accent2>
      <a:accent3>
        <a:srgbClr val="FFFFFF"/>
      </a:accent3>
      <a:accent4>
        <a:srgbClr val="000000"/>
      </a:accent4>
      <a:accent5>
        <a:srgbClr val="ADB8FF"/>
      </a:accent5>
      <a:accent6>
        <a:srgbClr val="008A00"/>
      </a:accent6>
      <a:hlink>
        <a:srgbClr val="FF0033"/>
      </a:hlink>
      <a:folHlink>
        <a:srgbClr val="CCCCCC"/>
      </a:folHlink>
    </a:clrScheme>
    <a:fontScheme name="Contemporary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Contemporary 1">
        <a:dk1>
          <a:srgbClr val="000000"/>
        </a:dk1>
        <a:lt1>
          <a:srgbClr val="FFFFFF"/>
        </a:lt1>
        <a:dk2>
          <a:srgbClr val="0066CC"/>
        </a:dk2>
        <a:lt2>
          <a:srgbClr val="CBCBCB"/>
        </a:lt2>
        <a:accent1>
          <a:srgbClr val="009999"/>
        </a:accent1>
        <a:accent2>
          <a:srgbClr val="FF9933"/>
        </a:accent2>
        <a:accent3>
          <a:srgbClr val="AAB8E2"/>
        </a:accent3>
        <a:accent4>
          <a:srgbClr val="DADADA"/>
        </a:accent4>
        <a:accent5>
          <a:srgbClr val="AACACA"/>
        </a:accent5>
        <a:accent6>
          <a:srgbClr val="E78A2D"/>
        </a:accent6>
        <a:hlink>
          <a:srgbClr val="330099"/>
        </a:hlink>
        <a:folHlink>
          <a:srgbClr val="CBCBC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ntemporary 2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ntemporary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Designs\Contemporary.pot</Template>
  <TotalTime>1914</TotalTime>
  <Words>1152</Words>
  <Application>Microsoft Office PowerPoint</Application>
  <PresentationFormat>On-screen Show (4:3)</PresentationFormat>
  <Paragraphs>400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Courier New</vt:lpstr>
      <vt:lpstr>Times New Roman</vt:lpstr>
      <vt:lpstr>Contemporary</vt:lpstr>
      <vt:lpstr>Clip</vt:lpstr>
      <vt:lpstr>Document</vt:lpstr>
      <vt:lpstr>Chapter 4 Standard Single Purpose Processors: Peripherals</vt:lpstr>
      <vt:lpstr>Introduction</vt:lpstr>
      <vt:lpstr>Timers, counters, watchdog timers</vt:lpstr>
      <vt:lpstr>Counters</vt:lpstr>
      <vt:lpstr>Other timer structures</vt:lpstr>
      <vt:lpstr>Example: Reaction Timer</vt:lpstr>
      <vt:lpstr>Watchdog timer</vt:lpstr>
      <vt:lpstr>Serial Transmission Using UARTs</vt:lpstr>
      <vt:lpstr>Pulse width modulator</vt:lpstr>
      <vt:lpstr>Controlling a DC motor with a PWM</vt:lpstr>
      <vt:lpstr>LCD controller</vt:lpstr>
      <vt:lpstr>Keypad controller</vt:lpstr>
      <vt:lpstr>Stepper motor controller</vt:lpstr>
      <vt:lpstr>Analog-to-digital converters</vt:lpstr>
    </vt:vector>
  </TitlesOfParts>
  <Company>University of California, Riverside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“short list” of embedded systems</dc:title>
  <dc:creator>vahid</dc:creator>
  <cp:lastModifiedBy>Dr. SR</cp:lastModifiedBy>
  <cp:revision>113</cp:revision>
  <dcterms:created xsi:type="dcterms:W3CDTF">2000-09-27T14:38:47Z</dcterms:created>
  <dcterms:modified xsi:type="dcterms:W3CDTF">2016-10-04T06:28:12Z</dcterms:modified>
</cp:coreProperties>
</file>